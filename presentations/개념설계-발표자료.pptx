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75" r:id="rId8"/>
    <p:sldId id="273" r:id="rId9"/>
    <p:sldId id="276" r:id="rId10"/>
    <p:sldId id="277" r:id="rId11"/>
    <p:sldId id="261" r:id="rId12"/>
    <p:sldId id="278" r:id="rId13"/>
    <p:sldId id="262" r:id="rId14"/>
    <p:sldId id="284" r:id="rId15"/>
    <p:sldId id="285" r:id="rId16"/>
    <p:sldId id="287" r:id="rId17"/>
    <p:sldId id="263" r:id="rId18"/>
    <p:sldId id="289" r:id="rId19"/>
    <p:sldId id="290" r:id="rId20"/>
    <p:sldId id="291" r:id="rId21"/>
    <p:sldId id="293" r:id="rId22"/>
    <p:sldId id="294" r:id="rId23"/>
    <p:sldId id="295" r:id="rId24"/>
    <p:sldId id="274" r:id="rId25"/>
    <p:sldId id="296" r:id="rId26"/>
    <p:sldId id="265" r:id="rId27"/>
    <p:sldId id="266" r:id="rId28"/>
    <p:sldId id="267" r:id="rId29"/>
    <p:sldId id="268" r:id="rId30"/>
    <p:sldId id="269" r:id="rId31"/>
    <p:sldId id="270" r:id="rId32"/>
    <p:sldId id="271" r:id="rId33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4BBA2D1F-E88D-431A-877F-97C11ED6EE09}" styleName="Light Style 3 - Body/Background 3">
    <a:wholeTbl>
      <a:tcTxStyle>
        <a:fontRef idx="minor">
          <a:scrgbClr r="0" g="0" b="0"/>
        </a:fontRef>
        <a:schemeClr val="tx1"/>
      </a:tcTxStyle>
      <a:tcStyle>
        <a:tcBdr>
          <a:left>
            <a:ln w="32700" cmpd="sng">
              <a:solidFill>
                <a:schemeClr val="dk1"/>
              </a:solidFill>
              <a:prstDash val="dash"/>
            </a:ln>
          </a:left>
          <a:right>
            <a:ln w="32700" cmpd="sng">
              <a:solidFill>
                <a:schemeClr val="dk1"/>
              </a:solidFill>
              <a:prstDash val="dash"/>
            </a:ln>
          </a:right>
          <a:top>
            <a:ln w="32700" cmpd="sng">
              <a:solidFill>
                <a:schemeClr val="dk1"/>
              </a:solidFill>
              <a:prstDash val="dash"/>
            </a:ln>
          </a:top>
          <a:bottom>
            <a:ln w="32700" cmpd="sng">
              <a:solidFill>
                <a:schemeClr val="dk1"/>
              </a:solidFill>
              <a:prstDash val="dash"/>
            </a:ln>
          </a:bottom>
          <a:insideH>
            <a:ln w="22700" cmpd="sng">
              <a:solidFill>
                <a:schemeClr val="dk1"/>
              </a:solidFill>
              <a:prstDash val="sysDot"/>
            </a:ln>
          </a:insideH>
          <a:insideV>
            <a:ln w="22700" cmpd="sng">
              <a:solidFill>
                <a:schemeClr val="dk1"/>
              </a:solidFill>
              <a:prstDash val="sysDot"/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dk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sng">
              <a:solidFill>
                <a:schemeClr val="dk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dk1"/>
              </a:solidFill>
            </a:ln>
          </a:bottom>
        </a:tcBdr>
        <a:fill>
          <a:noFill/>
        </a:fill>
      </a:tcStyle>
    </a:firstRow>
  </a:tblStyle>
  <a:tblStyle styleId="{722FFE23-0BB2-45EB-AA5A-FA1B39E901F1}" styleName="Normal Style 2 - Body/Background 2">
    <a:tblBg>
      <a:effectRef idx="1">
        <a:schemeClr val="dk1"/>
      </a:effectRef>
    </a:tblBg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dk1">
              <a:tint val="10000"/>
              <a:satMod val="53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30000"/>
              <a:satMod val="33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20000"/>
              <a:satMod val="73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>
              <a:alpha val="90000"/>
              <a:satMod val="150000"/>
            </a:schemeClr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>
              <a:alpha val="90000"/>
              <a:satMod val="150000"/>
            </a:schemeClr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>
              <a:alpha val="50000"/>
              <a:satMod val="630000"/>
            </a:schemeClr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>
              <a:shade val="50000"/>
              <a:satMod val="23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38F972D-3A02-497A-9D08-DF27CF173CB4}" styleName="Generic Style 1- Body/Background Dark Color 1">
    <a:tblBg>
      <a:fillRef idx="2">
        <a:schemeClr val="dk1"/>
      </a:fillRef>
      <a:effectRef idx="2">
        <a:schemeClr val="dk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lt1"/>
            </a:lnRef>
          </a:left>
          <a:right>
            <a:lnRef idx="1">
              <a:schemeClr val="lt1"/>
            </a:lnRef>
          </a:right>
          <a:top>
            <a:lnRef idx="1">
              <a:schemeClr val="lt1"/>
            </a:lnRef>
          </a:top>
          <a:bottom>
            <a:lnRef idx="1">
              <a:schemeClr val="lt1"/>
            </a:lnRef>
          </a:bottom>
          <a:insideH>
            <a:lnRef idx="1">
              <a:schemeClr val="lt1"/>
            </a:lnRef>
          </a:insideH>
          <a:insideV>
            <a:lnRef idx="1">
              <a:schemeClr val="lt1"/>
            </a:lnRef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dk1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Ref idx="1">
              <a:schemeClr val="lt1"/>
            </a:lnRef>
          </a:top>
          <a:bottom>
            <a:lnRef idx="1">
              <a:schemeClr val="lt1"/>
            </a:lnRef>
          </a:bottom>
        </a:tcBdr>
        <a:fill>
          <a:solidFill>
            <a:schemeClr val="dk1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/>
      <a:tcStyle>
        <a:tcBdr>
          <a:left>
            <a:lnRef idx="2">
              <a:schemeClr val="lt1"/>
            </a:lnRef>
          </a:left>
          <a:right>
            <a:lnRef idx="1">
              <a:schemeClr val="lt1"/>
            </a:lnRef>
          </a:right>
          <a:top>
            <a:lnRef idx="1">
              <a:schemeClr val="lt1"/>
            </a:lnRef>
          </a:top>
          <a:bottom>
            <a:lnRef idx="1">
              <a:schemeClr val="lt1"/>
            </a:lnRef>
          </a:bottom>
          <a:insideH>
            <a:lnRef idx="1">
              <a:schemeClr val="l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lt1"/>
            </a:lnRef>
          </a:left>
          <a:right>
            <a:lnRef idx="2">
              <a:schemeClr val="lt1"/>
            </a:lnRef>
          </a:right>
          <a:top>
            <a:lnRef idx="1">
              <a:schemeClr val="lt1"/>
            </a:lnRef>
          </a:top>
          <a:bottom>
            <a:lnRef idx="1">
              <a:schemeClr val="lt1"/>
            </a:lnRef>
          </a:bottom>
          <a:insideH>
            <a:lnRef idx="1">
              <a:schemeClr val="l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lt1"/>
            </a:lnRef>
          </a:left>
          <a:right>
            <a:lnRef idx="1">
              <a:schemeClr val="lt1"/>
            </a:lnRef>
          </a:right>
          <a:top>
            <a:lnRef idx="2">
              <a:schemeClr val="l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dk1"/>
            </a:lnRef>
          </a:left>
          <a:right>
            <a:lnRef idx="1">
              <a:schemeClr val="dk1"/>
            </a:lnRef>
          </a:right>
          <a:top>
            <a:lnRef idx="1">
              <a:schemeClr val="dk1"/>
            </a:lnRef>
          </a:top>
          <a:bottom>
            <a:lnRef idx="3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gradFill rotWithShape="1">
            <a:gsLst>
              <a:gs pos="0">
                <a:schemeClr val="dk1">
                  <a:shade val="61000"/>
                  <a:satMod val="130000"/>
                </a:schemeClr>
              </a:gs>
              <a:gs pos="50000">
                <a:schemeClr val="dk1">
                  <a:shade val="93000"/>
                  <a:satMod val="130000"/>
                </a:schemeClr>
              </a:gs>
              <a:gs pos="100000">
                <a:schemeClr val="dk1">
                  <a:shade val="99000"/>
                  <a:satMod val="135000"/>
                </a:schemeClr>
              </a:gs>
            </a:gsLst>
            <a:lin ang="16200000" scaled="0"/>
          </a:gradFill>
        </a:fill>
      </a:tcStyle>
    </a:firstRow>
  </a:tblStyle>
  <a:tblStyle styleId="{E5CB3F8B-0EC7-48AE-BC60-692C14E0C4D4}" styleName="Normal Style 3 - Body/Background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>
        <a:fontRef idx="minor">
          <a:scrgbClr r="0" g="0" b="0"/>
        </a:fontRef>
        <a:schemeClr val="dk1"/>
      </a:tcTxStyle>
      <a:tcStyle>
        <a:tcBdr/>
        <a:fill>
          <a:solidFill>
            <a:schemeClr val="dk1">
              <a:lum val="8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alpha val="25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scrgbClr r="0" g="0" b="0"/>
        </a:fontRef>
        <a:schemeClr val="dk1"/>
      </a:tcTxStyle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accent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500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7122BE6-D220-400A-8156-72DE76DAD46A}" styleName="Generic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lt1"/>
            </a:lnRef>
          </a:left>
          <a:right>
            <a:lnRef idx="1">
              <a:schemeClr val="lt1"/>
            </a:lnRef>
          </a:right>
          <a:top>
            <a:lnRef idx="1">
              <a:schemeClr val="lt1"/>
            </a:lnRef>
          </a:top>
          <a:bottom>
            <a:lnRef idx="1">
              <a:schemeClr val="lt1"/>
            </a:lnRef>
          </a:bottom>
          <a:insideH>
            <a:lnRef idx="1">
              <a:schemeClr val="lt1"/>
            </a:lnRef>
          </a:insideH>
          <a:insideV>
            <a:lnRef idx="1">
              <a:schemeClr val="lt1"/>
            </a:lnRef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2">
              <a:alpha val="7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Ref idx="1">
              <a:schemeClr val="lt1"/>
            </a:lnRef>
          </a:top>
          <a:bottom>
            <a:lnRef idx="1">
              <a:schemeClr val="lt1"/>
            </a:lnRef>
          </a:bottom>
        </a:tcBdr>
        <a:fill>
          <a:solidFill>
            <a:schemeClr val="accent2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/>
      <a:tcStyle>
        <a:tcBdr>
          <a:left>
            <a:lnRef idx="2">
              <a:schemeClr val="lt1"/>
            </a:lnRef>
          </a:left>
          <a:right>
            <a:lnRef idx="1">
              <a:schemeClr val="lt1"/>
            </a:lnRef>
          </a:right>
          <a:top>
            <a:lnRef idx="1">
              <a:schemeClr val="lt1"/>
            </a:lnRef>
          </a:top>
          <a:bottom>
            <a:lnRef idx="1">
              <a:schemeClr val="lt1"/>
            </a:lnRef>
          </a:bottom>
          <a:insideH>
            <a:lnRef idx="1">
              <a:schemeClr val="l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lt1"/>
            </a:lnRef>
          </a:left>
          <a:right>
            <a:lnRef idx="2">
              <a:schemeClr val="lt1"/>
            </a:lnRef>
          </a:right>
          <a:top>
            <a:lnRef idx="1">
              <a:schemeClr val="lt1"/>
            </a:lnRef>
          </a:top>
          <a:bottom>
            <a:lnRef idx="1">
              <a:schemeClr val="lt1"/>
            </a:lnRef>
          </a:bottom>
          <a:insideH>
            <a:lnRef idx="1">
              <a:schemeClr val="l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lt1"/>
            </a:lnRef>
          </a:left>
          <a:right>
            <a:lnRef idx="1">
              <a:schemeClr val="lt1"/>
            </a:lnRef>
          </a:right>
          <a:top>
            <a:lnRef idx="2">
              <a:schemeClr val="l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3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gradFill rotWithShape="1">
            <a:gsLst>
              <a:gs pos="0">
                <a:schemeClr val="accent2">
                  <a:shade val="61000"/>
                  <a:satMod val="130000"/>
                </a:schemeClr>
              </a:gs>
              <a:gs pos="50000">
                <a:schemeClr val="accent2">
                  <a:shade val="93000"/>
                  <a:satMod val="130000"/>
                </a:schemeClr>
              </a:gs>
              <a:gs pos="100000">
                <a:schemeClr val="accent2">
                  <a:shade val="99000"/>
                  <a:satMod val="135000"/>
                </a:schemeClr>
              </a:gs>
            </a:gsLst>
            <a:lin ang="16200000" scaled="0"/>
          </a:gra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16"/>
    <p:restoredTop sz="94660"/>
  </p:normalViewPr>
  <p:slideViewPr>
    <p:cSldViewPr>
      <p:cViewPr varScale="1">
        <p:scale>
          <a:sx n="100" d="100"/>
          <a:sy n="100" d="100"/>
        </p:scale>
        <p:origin x="-1536" y="-84"/>
      </p:cViewPr>
      <p:guideLst>
        <p:guide orient="horz" pos="2880"/>
        <p:guide pos="215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slide" Target="slides/slide19.xml"  /><Relationship Id="rId22" Type="http://schemas.openxmlformats.org/officeDocument/2006/relationships/slide" Target="slides/slide20.xml"  /><Relationship Id="rId23" Type="http://schemas.openxmlformats.org/officeDocument/2006/relationships/slide" Target="slides/slide21.xml"  /><Relationship Id="rId24" Type="http://schemas.openxmlformats.org/officeDocument/2006/relationships/slide" Target="slides/slide22.xml"  /><Relationship Id="rId25" Type="http://schemas.openxmlformats.org/officeDocument/2006/relationships/slide" Target="slides/slide23.xml"  /><Relationship Id="rId26" Type="http://schemas.openxmlformats.org/officeDocument/2006/relationships/slide" Target="slides/slide24.xml"  /><Relationship Id="rId27" Type="http://schemas.openxmlformats.org/officeDocument/2006/relationships/slide" Target="slides/slide25.xml"  /><Relationship Id="rId28" Type="http://schemas.openxmlformats.org/officeDocument/2006/relationships/slide" Target="slides/slide26.xml"  /><Relationship Id="rId29" Type="http://schemas.openxmlformats.org/officeDocument/2006/relationships/slide" Target="slides/slide27.xml"  /><Relationship Id="rId3" Type="http://schemas.openxmlformats.org/officeDocument/2006/relationships/slide" Target="slides/slide1.xml"  /><Relationship Id="rId30" Type="http://schemas.openxmlformats.org/officeDocument/2006/relationships/slide" Target="slides/slide28.xml"  /><Relationship Id="rId31" Type="http://schemas.openxmlformats.org/officeDocument/2006/relationships/slide" Target="slides/slide29.xml"  /><Relationship Id="rId32" Type="http://schemas.openxmlformats.org/officeDocument/2006/relationships/slide" Target="slides/slide30.xml"  /><Relationship Id="rId33" Type="http://schemas.openxmlformats.org/officeDocument/2006/relationships/slide" Target="slides/slide31.xml"  /><Relationship Id="rId34" Type="http://schemas.openxmlformats.org/officeDocument/2006/relationships/presProps" Target="presProps.xml"  /><Relationship Id="rId35" Type="http://schemas.openxmlformats.org/officeDocument/2006/relationships/viewProps" Target="viewProps.xml"  /><Relationship Id="rId36" Type="http://schemas.openxmlformats.org/officeDocument/2006/relationships/theme" Target="theme/theme1.xml"  /><Relationship Id="rId37" Type="http://schemas.openxmlformats.org/officeDocument/2006/relationships/tableStyles" Target="tableStyles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말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5283200" cy="3429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6905978" y="0"/>
            <a:ext cx="5283200" cy="3429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2026-09-29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5283200" cy="3429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6905978" y="6513910"/>
            <a:ext cx="5283200" cy="3429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438469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2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13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14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15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17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18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19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20.xml"  /><Relationship Id="rId2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slide" Target="../slides/slide21.xml"  /><Relationship Id="rId2" Type="http://schemas.openxmlformats.org/officeDocument/2006/relationships/notesMaster" Target="../notesMasters/notesMaster1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slide" Target="../slides/slide22.xml"  /><Relationship Id="rId2" Type="http://schemas.openxmlformats.org/officeDocument/2006/relationships/notesMaster" Target="../notesMasters/notesMaster1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slide" Target="../slides/slide23.xml"  /><Relationship Id="rId2" Type="http://schemas.openxmlformats.org/officeDocument/2006/relationships/notesMaster" Target="../notesMasters/notesMaster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4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7278296"/>
      </p:ext>
    </p:extLst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872531"/>
      </p:ext>
    </p:extLst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3096890"/>
      </p:ext>
    </p:extLst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7246591"/>
      </p:ext>
    </p:extLst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124287"/>
      </p:ext>
    </p:extLst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1058500"/>
      </p:ext>
    </p:extLst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4901462"/>
      </p:ext>
    </p:extLst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8128059"/>
      </p:ext>
    </p:extLst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6297162"/>
      </p:ext>
    </p:extLst>
  </p:cSld>
  <p:clrMapOvr>
    <a:masterClrMapping/>
  </p:clrMapOvr>
</p:notes>
</file>

<file path=ppt/notesSlides/notesSlide1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6401564"/>
      </p:ext>
    </p:extLst>
  </p:cSld>
  <p:clrMapOvr>
    <a:masterClrMapping/>
  </p:clrMapOvr>
</p:notes>
</file>

<file path=ppt/notesSlides/notesSlide1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232" name="Google Shape;232;p8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75041113"/>
      </p:ext>
    </p:extLst>
  </p:cSld>
  <p:clrMapOvr>
    <a:masterClrMapping/>
  </p:clrMapOvr>
</p:notes>
</file>

<file path=ppt/notesSlides/notesSlide1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232" name="Google Shape;232;p8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97589529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F172A"/>
                </a:solidFill>
                <a:latin typeface="함초롬돋움"/>
                <a:cs typeface="함초롬돋움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F172A"/>
                </a:solidFill>
                <a:latin typeface="함초롬돋움"/>
                <a:cs typeface="함초롬돋움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F172A"/>
                </a:solidFill>
                <a:latin typeface="함초롬돋움"/>
                <a:cs typeface="함초롬돋움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F172A"/>
                </a:solidFill>
                <a:latin typeface="함초롬돋움"/>
                <a:cs typeface="함초롬돋움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Blank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/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/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66971426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theme" Target="../theme/theme1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6900" y="641858"/>
            <a:ext cx="4607560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F172A"/>
                </a:solidFill>
                <a:latin typeface="함초롬돋움"/>
                <a:cs typeface="함초롬돋움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1500" y="2542150"/>
            <a:ext cx="11049000" cy="2480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ransition xmlns:mc="http://schemas.openxmlformats.org/markup-compatibility/2006" xmlns:hp="http://schemas.haansoft.com/office/presentation/8.0" mc:Ignorable="hp" hp:hslDur="50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png"  /><Relationship Id="rId3" Type="http://schemas.openxmlformats.org/officeDocument/2006/relationships/image" Target="../media/image4.png"  /><Relationship Id="rId4" Type="http://schemas.openxmlformats.org/officeDocument/2006/relationships/image" Target="../media/image5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6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6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6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6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6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2.xml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2.xml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2.xml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2.xml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2.xml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2.xml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.xml"  /><Relationship Id="rId2" Type="http://schemas.openxmlformats.org/officeDocument/2006/relationships/slideLayout" Target="../slideLayouts/slideLayout2.xml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8.xml"  /><Relationship Id="rId2" Type="http://schemas.openxmlformats.org/officeDocument/2006/relationships/slideLayout" Target="../slideLayouts/slideLayout2.xml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9.xml"  /><Relationship Id="rId2" Type="http://schemas.openxmlformats.org/officeDocument/2006/relationships/slideLayout" Target="../slideLayouts/slideLayout2.xml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0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7.png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1.xml"  /><Relationship Id="rId2" Type="http://schemas.openxmlformats.org/officeDocument/2006/relationships/slideLayout" Target="../slideLayouts/slideLayout6.xml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2.xml"  /><Relationship Id="rId2" Type="http://schemas.openxmlformats.org/officeDocument/2006/relationships/slideLayout" Target="../slideLayouts/slideLayout6.xml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8.png"  /><Relationship Id="rId3" Type="http://schemas.openxmlformats.org/officeDocument/2006/relationships/image" Target="../media/image8.png"  /><Relationship Id="rId4" Type="http://schemas.openxmlformats.org/officeDocument/2006/relationships/image" Target="../media/image9.png"  /><Relationship Id="rId5" Type="http://schemas.openxmlformats.org/officeDocument/2006/relationships/image" Target="../media/image10.png"  /><Relationship Id="rId6" Type="http://schemas.openxmlformats.org/officeDocument/2006/relationships/image" Target="../media/image11.png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2.png"  /><Relationship Id="rId3" Type="http://schemas.openxmlformats.org/officeDocument/2006/relationships/image" Target="../media/image13.png"  /></Relationships>
</file>

<file path=ppt/slides/_rels/slide2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4.png"  /><Relationship Id="rId3" Type="http://schemas.openxmlformats.org/officeDocument/2006/relationships/image" Target="../media/image15.png"  /></Relationships>
</file>

<file path=ppt/slides/_rels/slide2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6.png"  /><Relationship Id="rId3" Type="http://schemas.openxmlformats.org/officeDocument/2006/relationships/image" Target="../media/image17.png"  /></Relationships>
</file>

<file path=ppt/slides/_rels/slide3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228599" y="0"/>
            <a:ext cx="12192000" cy="6858000"/>
          </a:xfrm>
          <a:custGeom>
            <a:avLst/>
            <a:gd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0f172a"/>
          </a:solidFill>
        </p:spPr>
        <p:txBody>
          <a:bodyPr wrap="square" lIns="0" tIns="0" rIns="0" bIns="0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object 3" descr=""/>
          <p:cNvSpPr/>
          <p:nvPr/>
        </p:nvSpPr>
        <p:spPr>
          <a:xfrm>
            <a:off x="762000" y="477768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761999" y="38099"/>
                </a:moveTo>
                <a:lnTo>
                  <a:pt x="0" y="38099"/>
                </a:lnTo>
                <a:lnTo>
                  <a:pt x="0" y="0"/>
                </a:lnTo>
                <a:lnTo>
                  <a:pt x="761999" y="0"/>
                </a:lnTo>
                <a:lnTo>
                  <a:pt x="761999" y="38099"/>
                </a:lnTo>
                <a:close/>
              </a:path>
            </a:pathLst>
          </a:custGeom>
          <a:solidFill>
            <a:srgbClr val="EA580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762000" y="2042218"/>
            <a:ext cx="2560320" cy="266700"/>
          </a:xfrm>
          <a:custGeom>
            <a:avLst/>
            <a:gdLst/>
            <a:ahLst/>
            <a:cxnLst/>
            <a:rect l="l" t="t" r="r" b="b"/>
            <a:pathLst>
              <a:path w="2560320" h="266700">
                <a:moveTo>
                  <a:pt x="2521893" y="266699"/>
                </a:moveTo>
                <a:lnTo>
                  <a:pt x="38098" y="266699"/>
                </a:lnTo>
                <a:lnTo>
                  <a:pt x="23268" y="263706"/>
                </a:lnTo>
                <a:lnTo>
                  <a:pt x="11158" y="255541"/>
                </a:lnTo>
                <a:lnTo>
                  <a:pt x="2993" y="243431"/>
                </a:lnTo>
                <a:lnTo>
                  <a:pt x="0" y="228601"/>
                </a:lnTo>
                <a:lnTo>
                  <a:pt x="0" y="38098"/>
                </a:lnTo>
                <a:lnTo>
                  <a:pt x="2993" y="23268"/>
                </a:lnTo>
                <a:lnTo>
                  <a:pt x="11158" y="11158"/>
                </a:lnTo>
                <a:lnTo>
                  <a:pt x="23268" y="2993"/>
                </a:lnTo>
                <a:lnTo>
                  <a:pt x="38098" y="0"/>
                </a:lnTo>
                <a:lnTo>
                  <a:pt x="2521893" y="0"/>
                </a:lnTo>
                <a:lnTo>
                  <a:pt x="2557092" y="23518"/>
                </a:lnTo>
                <a:lnTo>
                  <a:pt x="2559992" y="38098"/>
                </a:lnTo>
                <a:lnTo>
                  <a:pt x="2559992" y="228601"/>
                </a:lnTo>
                <a:lnTo>
                  <a:pt x="2556998" y="243431"/>
                </a:lnTo>
                <a:lnTo>
                  <a:pt x="2548833" y="255541"/>
                </a:lnTo>
                <a:lnTo>
                  <a:pt x="2536723" y="263706"/>
                </a:lnTo>
                <a:lnTo>
                  <a:pt x="2521893" y="266699"/>
                </a:lnTo>
                <a:close/>
              </a:path>
            </a:pathLst>
          </a:custGeom>
          <a:solidFill>
            <a:srgbClr val="EA580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 idx="0"/>
          </p:nvPr>
        </p:nvSpPr>
        <p:spPr>
          <a:xfrm>
            <a:off x="749300" y="2358703"/>
            <a:ext cx="8547100" cy="1317947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 marR="5080" lvl="0">
              <a:lnSpc>
                <a:spcPct val="120000"/>
              </a:lnSpc>
              <a:spcBef>
                <a:spcPts val="100"/>
              </a:spcBef>
              <a:defRPr/>
            </a:pPr>
            <a:r>
              <a:rPr sz="3600" spc="-215">
                <a:solidFill>
                  <a:srgbClr val="ffffff"/>
                </a:solidFill>
              </a:rPr>
              <a:t>공강</a:t>
            </a:r>
            <a:r>
              <a:rPr sz="3600" spc="-254">
                <a:solidFill>
                  <a:srgbClr val="ffffff"/>
                </a:solidFill>
              </a:rPr>
              <a:t> </a:t>
            </a:r>
            <a:r>
              <a:rPr sz="3600" spc="-215">
                <a:solidFill>
                  <a:srgbClr val="ffffff"/>
                </a:solidFill>
              </a:rPr>
              <a:t>시간</a:t>
            </a:r>
            <a:r>
              <a:rPr sz="3600" spc="-250">
                <a:solidFill>
                  <a:srgbClr val="ffffff"/>
                </a:solidFill>
              </a:rPr>
              <a:t> </a:t>
            </a:r>
            <a:r>
              <a:rPr sz="3600" spc="-215">
                <a:solidFill>
                  <a:srgbClr val="ffffff"/>
                </a:solidFill>
              </a:rPr>
              <a:t>교집합</a:t>
            </a:r>
            <a:r>
              <a:rPr sz="3600" spc="-254">
                <a:solidFill>
                  <a:srgbClr val="ffffff"/>
                </a:solidFill>
              </a:rPr>
              <a:t> </a:t>
            </a:r>
            <a:r>
              <a:rPr sz="3600" spc="-215">
                <a:solidFill>
                  <a:srgbClr val="ffffff"/>
                </a:solidFill>
              </a:rPr>
              <a:t>찾기</a:t>
            </a:r>
            <a:r>
              <a:rPr sz="3600" spc="-250">
                <a:solidFill>
                  <a:srgbClr val="ffffff"/>
                </a:solidFill>
              </a:rPr>
              <a:t> </a:t>
            </a:r>
            <a:r>
              <a:rPr sz="3600" spc="-25">
                <a:solidFill>
                  <a:srgbClr val="ffffff"/>
                </a:solidFill>
              </a:rPr>
              <a:t>서비스 </a:t>
            </a:r>
            <a:br>
              <a:rPr lang="ko-KR" altLang="en-US" sz="3600" spc="-25">
                <a:solidFill>
                  <a:srgbClr val="ffffff"/>
                </a:solidFill>
              </a:rPr>
            </a:br>
            <a:r>
              <a:rPr sz="3600" spc="75">
                <a:solidFill>
                  <a:srgbClr val="ea580c"/>
                </a:solidFill>
              </a:rPr>
              <a:t>'Teum</a:t>
            </a:r>
            <a:r>
              <a:rPr sz="3600" spc="-254">
                <a:solidFill>
                  <a:srgbClr val="ea580c"/>
                </a:solidFill>
              </a:rPr>
              <a:t> </a:t>
            </a:r>
            <a:r>
              <a:rPr sz="3600" spc="114">
                <a:solidFill>
                  <a:srgbClr val="ea580c"/>
                </a:solidFill>
              </a:rPr>
              <a:t>(틈)'</a:t>
            </a:r>
            <a:r>
              <a:rPr sz="3600" spc="-250">
                <a:solidFill>
                  <a:srgbClr val="ea580c"/>
                </a:solidFill>
              </a:rPr>
              <a:t> </a:t>
            </a:r>
            <a:r>
              <a:rPr sz="3600" spc="-215">
                <a:solidFill>
                  <a:srgbClr val="ffffff"/>
                </a:solidFill>
              </a:rPr>
              <a:t>개념설계</a:t>
            </a:r>
            <a:r>
              <a:rPr sz="3600" spc="-250">
                <a:solidFill>
                  <a:srgbClr val="ffffff"/>
                </a:solidFill>
              </a:rPr>
              <a:t> </a:t>
            </a:r>
            <a:r>
              <a:rPr sz="3600" spc="-215">
                <a:solidFill>
                  <a:srgbClr val="ffffff"/>
                </a:solidFill>
              </a:rPr>
              <a:t>및</a:t>
            </a:r>
            <a:r>
              <a:rPr sz="3600" spc="-250">
                <a:solidFill>
                  <a:srgbClr val="ffffff"/>
                </a:solidFill>
              </a:rPr>
              <a:t> </a:t>
            </a:r>
            <a:r>
              <a:rPr sz="3600" spc="-215">
                <a:solidFill>
                  <a:srgbClr val="ffffff"/>
                </a:solidFill>
              </a:rPr>
              <a:t>구현</a:t>
            </a:r>
            <a:r>
              <a:rPr sz="3600" spc="-250">
                <a:solidFill>
                  <a:srgbClr val="ffffff"/>
                </a:solidFill>
              </a:rPr>
              <a:t> </a:t>
            </a:r>
            <a:r>
              <a:rPr sz="3600" spc="-25">
                <a:solidFill>
                  <a:srgbClr val="ffffff"/>
                </a:solidFill>
              </a:rPr>
              <a:t>계획</a:t>
            </a:r>
            <a:endParaRPr sz="3600" spc="-25">
              <a:solidFill>
                <a:srgbClr val="ffffff"/>
              </a:solidFill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49300" y="3804860"/>
            <a:ext cx="728281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80">
                <a:solidFill>
                  <a:srgbClr val="CBD4E1"/>
                </a:solidFill>
                <a:latin typeface="함초롬돋움"/>
                <a:cs typeface="함초롬돋움"/>
              </a:rPr>
              <a:t>대학생</a:t>
            </a:r>
            <a:r>
              <a:rPr dirty="0" sz="1500" spc="-100">
                <a:solidFill>
                  <a:srgbClr val="CBD4E1"/>
                </a:solidFill>
                <a:latin typeface="함초롬돋움"/>
                <a:cs typeface="함초롬돋움"/>
              </a:rPr>
              <a:t> </a:t>
            </a:r>
            <a:r>
              <a:rPr dirty="0" sz="1500" spc="-80">
                <a:solidFill>
                  <a:srgbClr val="CBD4E1"/>
                </a:solidFill>
                <a:latin typeface="함초롬돋움"/>
                <a:cs typeface="함초롬돋움"/>
              </a:rPr>
              <a:t>팀</a:t>
            </a:r>
            <a:r>
              <a:rPr dirty="0" sz="1500" spc="-95">
                <a:solidFill>
                  <a:srgbClr val="CBD4E1"/>
                </a:solidFill>
                <a:latin typeface="함초롬돋움"/>
                <a:cs typeface="함초롬돋움"/>
              </a:rPr>
              <a:t> </a:t>
            </a:r>
            <a:r>
              <a:rPr dirty="0" sz="1500" spc="-80">
                <a:solidFill>
                  <a:srgbClr val="CBD4E1"/>
                </a:solidFill>
                <a:latin typeface="함초롬돋움"/>
                <a:cs typeface="함초롬돋움"/>
              </a:rPr>
              <a:t>프로젝트</a:t>
            </a:r>
            <a:r>
              <a:rPr dirty="0" sz="1500" spc="-95">
                <a:solidFill>
                  <a:srgbClr val="CBD4E1"/>
                </a:solidFill>
                <a:latin typeface="함초롬돋움"/>
                <a:cs typeface="함초롬돋움"/>
              </a:rPr>
              <a:t> </a:t>
            </a:r>
            <a:r>
              <a:rPr dirty="0" sz="1500" spc="-80">
                <a:solidFill>
                  <a:srgbClr val="CBD4E1"/>
                </a:solidFill>
                <a:latin typeface="함초롬돋움"/>
                <a:cs typeface="함초롬돋움"/>
              </a:rPr>
              <a:t>및</a:t>
            </a:r>
            <a:r>
              <a:rPr dirty="0" sz="1500" spc="-95">
                <a:solidFill>
                  <a:srgbClr val="CBD4E1"/>
                </a:solidFill>
                <a:latin typeface="함초롬돋움"/>
                <a:cs typeface="함초롬돋움"/>
              </a:rPr>
              <a:t> </a:t>
            </a:r>
            <a:r>
              <a:rPr dirty="0" sz="1500" spc="-80">
                <a:solidFill>
                  <a:srgbClr val="CBD4E1"/>
                </a:solidFill>
                <a:latin typeface="함초롬돋움"/>
                <a:cs typeface="함초롬돋움"/>
              </a:rPr>
              <a:t>스터디</a:t>
            </a:r>
            <a:r>
              <a:rPr dirty="0" sz="1500" spc="-100">
                <a:solidFill>
                  <a:srgbClr val="CBD4E1"/>
                </a:solidFill>
                <a:latin typeface="함초롬돋움"/>
                <a:cs typeface="함초롬돋움"/>
              </a:rPr>
              <a:t> </a:t>
            </a:r>
            <a:r>
              <a:rPr dirty="0" sz="1500" spc="-80">
                <a:solidFill>
                  <a:srgbClr val="CBD4E1"/>
                </a:solidFill>
                <a:latin typeface="함초롬돋움"/>
                <a:cs typeface="함초롬돋움"/>
              </a:rPr>
              <a:t>모임의</a:t>
            </a:r>
            <a:r>
              <a:rPr dirty="0" sz="1500" spc="-95">
                <a:solidFill>
                  <a:srgbClr val="CBD4E1"/>
                </a:solidFill>
                <a:latin typeface="함초롬돋움"/>
                <a:cs typeface="함초롬돋움"/>
              </a:rPr>
              <a:t> </a:t>
            </a:r>
            <a:r>
              <a:rPr dirty="0" sz="1500" spc="-80">
                <a:solidFill>
                  <a:srgbClr val="CBD4E1"/>
                </a:solidFill>
                <a:latin typeface="함초롬돋움"/>
                <a:cs typeface="함초롬돋움"/>
              </a:rPr>
              <a:t>효율적인</a:t>
            </a:r>
            <a:r>
              <a:rPr dirty="0" sz="1500" spc="-95">
                <a:solidFill>
                  <a:srgbClr val="CBD4E1"/>
                </a:solidFill>
                <a:latin typeface="함초롬돋움"/>
                <a:cs typeface="함초롬돋움"/>
              </a:rPr>
              <a:t> </a:t>
            </a:r>
            <a:r>
              <a:rPr dirty="0" sz="1500" spc="-80">
                <a:solidFill>
                  <a:srgbClr val="CBD4E1"/>
                </a:solidFill>
                <a:latin typeface="함초롬돋움"/>
                <a:cs typeface="함초롬돋움"/>
              </a:rPr>
              <a:t>일정</a:t>
            </a:r>
            <a:r>
              <a:rPr dirty="0" sz="1500" spc="-95">
                <a:solidFill>
                  <a:srgbClr val="CBD4E1"/>
                </a:solidFill>
                <a:latin typeface="함초롬돋움"/>
                <a:cs typeface="함초롬돋움"/>
              </a:rPr>
              <a:t> </a:t>
            </a:r>
            <a:r>
              <a:rPr dirty="0" sz="1500" spc="-80">
                <a:solidFill>
                  <a:srgbClr val="CBD4E1"/>
                </a:solidFill>
                <a:latin typeface="함초롬돋움"/>
                <a:cs typeface="함초롬돋움"/>
              </a:rPr>
              <a:t>조율을</a:t>
            </a:r>
            <a:r>
              <a:rPr dirty="0" sz="1500" spc="-100">
                <a:solidFill>
                  <a:srgbClr val="CBD4E1"/>
                </a:solidFill>
                <a:latin typeface="함초롬돋움"/>
                <a:cs typeface="함초롬돋움"/>
              </a:rPr>
              <a:t> </a:t>
            </a:r>
            <a:r>
              <a:rPr dirty="0" sz="1500" spc="-80">
                <a:solidFill>
                  <a:srgbClr val="CBD4E1"/>
                </a:solidFill>
                <a:latin typeface="함초롬돋움"/>
                <a:cs typeface="함초롬돋움"/>
              </a:rPr>
              <a:t>위한</a:t>
            </a:r>
            <a:r>
              <a:rPr dirty="0" sz="1500" spc="-95">
                <a:solidFill>
                  <a:srgbClr val="CBD4E1"/>
                </a:solidFill>
                <a:latin typeface="함초롬돋움"/>
                <a:cs typeface="함초롬돋움"/>
              </a:rPr>
              <a:t> </a:t>
            </a:r>
            <a:r>
              <a:rPr dirty="0" sz="1500" spc="-80">
                <a:solidFill>
                  <a:srgbClr val="CBD4E1"/>
                </a:solidFill>
                <a:latin typeface="함초롬돋움"/>
                <a:cs typeface="함초롬돋움"/>
              </a:rPr>
              <a:t>시간표</a:t>
            </a:r>
            <a:r>
              <a:rPr dirty="0" sz="1500" spc="-95">
                <a:solidFill>
                  <a:srgbClr val="CBD4E1"/>
                </a:solidFill>
                <a:latin typeface="함초롬돋움"/>
                <a:cs typeface="함초롬돋움"/>
              </a:rPr>
              <a:t> </a:t>
            </a:r>
            <a:r>
              <a:rPr dirty="0" sz="1500" spc="-80">
                <a:solidFill>
                  <a:srgbClr val="CBD4E1"/>
                </a:solidFill>
                <a:latin typeface="함초롬돋움"/>
                <a:cs typeface="함초롬돋움"/>
              </a:rPr>
              <a:t>데이터</a:t>
            </a:r>
            <a:r>
              <a:rPr dirty="0" sz="1500" spc="-95">
                <a:solidFill>
                  <a:srgbClr val="CBD4E1"/>
                </a:solidFill>
                <a:latin typeface="함초롬돋움"/>
                <a:cs typeface="함초롬돋움"/>
              </a:rPr>
              <a:t> </a:t>
            </a:r>
            <a:r>
              <a:rPr dirty="0" sz="1500" spc="-80">
                <a:solidFill>
                  <a:srgbClr val="CBD4E1"/>
                </a:solidFill>
                <a:latin typeface="함초롬돋움"/>
                <a:cs typeface="함초롬돋움"/>
              </a:rPr>
              <a:t>기반</a:t>
            </a:r>
            <a:r>
              <a:rPr dirty="0" sz="1500" spc="-100">
                <a:solidFill>
                  <a:srgbClr val="CBD4E1"/>
                </a:solidFill>
                <a:latin typeface="함초롬돋움"/>
                <a:cs typeface="함초롬돋움"/>
              </a:rPr>
              <a:t> </a:t>
            </a:r>
            <a:r>
              <a:rPr dirty="0" sz="1500" spc="-80">
                <a:solidFill>
                  <a:srgbClr val="CBD4E1"/>
                </a:solidFill>
                <a:latin typeface="함초롬돋움"/>
                <a:cs typeface="함초롬돋움"/>
              </a:rPr>
              <a:t>웹</a:t>
            </a:r>
            <a:r>
              <a:rPr dirty="0" sz="1500" spc="-95">
                <a:solidFill>
                  <a:srgbClr val="CBD4E1"/>
                </a:solidFill>
                <a:latin typeface="함초롬돋움"/>
                <a:cs typeface="함초롬돋움"/>
              </a:rPr>
              <a:t> </a:t>
            </a:r>
            <a:r>
              <a:rPr dirty="0" sz="1500" spc="-25">
                <a:solidFill>
                  <a:srgbClr val="CBD4E1"/>
                </a:solidFill>
                <a:latin typeface="함초롬돋움"/>
                <a:cs typeface="함초롬돋움"/>
              </a:rPr>
              <a:t>서비스</a:t>
            </a:r>
            <a:endParaRPr sz="1500">
              <a:latin typeface="함초롬돋움"/>
              <a:cs typeface="함초롬돋움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82650" y="2081334"/>
            <a:ext cx="200406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b="1">
                <a:solidFill>
                  <a:srgbClr val="FFFFFF"/>
                </a:solidFill>
                <a:latin typeface="함초롬돋움"/>
                <a:cs typeface="함초롬돋움"/>
              </a:rPr>
              <a:t>CONCEPTUAL</a:t>
            </a:r>
            <a:r>
              <a:rPr dirty="0" sz="1050" spc="20" b="1">
                <a:solidFill>
                  <a:srgbClr val="FFFFFF"/>
                </a:solidFill>
                <a:latin typeface="함초롬돋움"/>
                <a:cs typeface="함초롬돋움"/>
              </a:rPr>
              <a:t> </a:t>
            </a:r>
            <a:r>
              <a:rPr dirty="0" sz="1050" b="1">
                <a:solidFill>
                  <a:srgbClr val="FFFFFF"/>
                </a:solidFill>
                <a:latin typeface="함초롬돋움"/>
                <a:cs typeface="함초롬돋움"/>
              </a:rPr>
              <a:t>DESIGN</a:t>
            </a:r>
            <a:r>
              <a:rPr dirty="0" sz="1050" spc="20" b="1">
                <a:solidFill>
                  <a:srgbClr val="FFFFFF"/>
                </a:solidFill>
                <a:latin typeface="함초롬돋움"/>
                <a:cs typeface="함초롬돋움"/>
              </a:rPr>
              <a:t> </a:t>
            </a:r>
            <a:r>
              <a:rPr dirty="0" sz="1050" spc="-10" b="1">
                <a:solidFill>
                  <a:srgbClr val="FFFFFF"/>
                </a:solidFill>
                <a:latin typeface="함초롬돋움"/>
                <a:cs typeface="함초롬돋움"/>
              </a:rPr>
              <a:t>REPORT</a:t>
            </a:r>
            <a:endParaRPr sz="1050">
              <a:latin typeface="함초롬돋움"/>
              <a:cs typeface="함초롬돋움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23592" y="2056761"/>
            <a:ext cx="1986608" cy="191139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 lvl="0">
              <a:lnSpc>
                <a:spcPct val="100000"/>
              </a:lnSpc>
              <a:spcBef>
                <a:spcPts val="100"/>
              </a:spcBef>
              <a:defRPr/>
            </a:pPr>
            <a:r>
              <a:rPr sz="1200" spc="-75">
                <a:solidFill>
                  <a:srgbClr val="94a3b8"/>
                </a:solidFill>
                <a:latin typeface="함초롬돋움"/>
                <a:cs typeface="함초롬돋움"/>
              </a:rPr>
              <a:t>개념설계</a:t>
            </a:r>
            <a:r>
              <a:rPr sz="1200" spc="-80">
                <a:solidFill>
                  <a:srgbClr val="94a3b8"/>
                </a:solidFill>
                <a:latin typeface="함초롬돋움"/>
                <a:cs typeface="함초롬돋움"/>
              </a:rPr>
              <a:t> </a:t>
            </a:r>
            <a:r>
              <a:rPr sz="1200" spc="-75">
                <a:solidFill>
                  <a:srgbClr val="94a3b8"/>
                </a:solidFill>
                <a:latin typeface="함초롬돋움"/>
                <a:cs typeface="함초롬돋움"/>
              </a:rPr>
              <a:t>보고서 </a:t>
            </a:r>
            <a:r>
              <a:rPr sz="1200" spc="-25">
                <a:solidFill>
                  <a:srgbClr val="94a3b8"/>
                </a:solidFill>
                <a:latin typeface="함초롬돋움"/>
                <a:cs typeface="함초롬돋움"/>
              </a:rPr>
              <a:t>발표</a:t>
            </a:r>
            <a:endParaRPr sz="1200">
              <a:latin typeface="함초롬돋움"/>
              <a:cs typeface="함초롬돋움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835025" y="5005654"/>
            <a:ext cx="1156970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75">
                <a:solidFill>
                  <a:srgbClr val="CBD4E1"/>
                </a:solidFill>
                <a:latin typeface="함초롬돋움"/>
                <a:cs typeface="함초롬돋움"/>
              </a:rPr>
              <a:t>한규진</a:t>
            </a:r>
            <a:r>
              <a:rPr dirty="0" sz="1200" spc="-80">
                <a:solidFill>
                  <a:srgbClr val="CBD4E1"/>
                </a:solidFill>
                <a:latin typeface="함초롬돋움"/>
                <a:cs typeface="함초롬돋움"/>
              </a:rPr>
              <a:t> </a:t>
            </a:r>
            <a:r>
              <a:rPr dirty="0" sz="1200" spc="-10">
                <a:solidFill>
                  <a:srgbClr val="CBD4E1"/>
                </a:solidFill>
                <a:latin typeface="함초롬돋움"/>
                <a:cs typeface="함초롬돋움"/>
              </a:rPr>
              <a:t>60212582</a:t>
            </a:r>
            <a:endParaRPr sz="1200">
              <a:latin typeface="함초롬돋움"/>
              <a:cs typeface="함초롬돋움"/>
            </a:endParaRPr>
          </a:p>
          <a:p>
            <a:pPr marL="12700">
              <a:lnSpc>
                <a:spcPct val="100000"/>
              </a:lnSpc>
            </a:pPr>
            <a:r>
              <a:rPr dirty="0" sz="1200" spc="-75">
                <a:solidFill>
                  <a:srgbClr val="CBD4E1"/>
                </a:solidFill>
                <a:latin typeface="함초롬돋움"/>
                <a:cs typeface="함초롬돋움"/>
              </a:rPr>
              <a:t>송하성</a:t>
            </a:r>
            <a:r>
              <a:rPr dirty="0" sz="1200" spc="-80">
                <a:solidFill>
                  <a:srgbClr val="CBD4E1"/>
                </a:solidFill>
                <a:latin typeface="함초롬돋움"/>
                <a:cs typeface="함초롬돋움"/>
              </a:rPr>
              <a:t> </a:t>
            </a:r>
            <a:r>
              <a:rPr dirty="0" sz="1200" spc="-10">
                <a:solidFill>
                  <a:srgbClr val="CBD4E1"/>
                </a:solidFill>
                <a:latin typeface="함초롬돋움"/>
                <a:cs typeface="함초롬돋움"/>
              </a:rPr>
              <a:t>60245214</a:t>
            </a:r>
            <a:endParaRPr sz="1200">
              <a:latin typeface="함초롬돋움"/>
              <a:cs typeface="함초롬돋움"/>
            </a:endParaRPr>
          </a:p>
          <a:p>
            <a:pPr marL="12700">
              <a:lnSpc>
                <a:spcPct val="100000"/>
              </a:lnSpc>
            </a:pPr>
            <a:r>
              <a:rPr dirty="0" sz="1200" spc="-75">
                <a:solidFill>
                  <a:srgbClr val="CBD4E1"/>
                </a:solidFill>
                <a:latin typeface="함초롬돋움"/>
                <a:cs typeface="함초롬돋움"/>
              </a:rPr>
              <a:t>이다인</a:t>
            </a:r>
            <a:r>
              <a:rPr dirty="0" sz="1200" spc="-80">
                <a:solidFill>
                  <a:srgbClr val="CBD4E1"/>
                </a:solidFill>
                <a:latin typeface="함초롬돋움"/>
                <a:cs typeface="함초롬돋움"/>
              </a:rPr>
              <a:t> </a:t>
            </a:r>
            <a:r>
              <a:rPr dirty="0" sz="1200" spc="-10">
                <a:solidFill>
                  <a:srgbClr val="CBD4E1"/>
                </a:solidFill>
                <a:latin typeface="함초롬돋움"/>
                <a:cs typeface="함초롬돋움"/>
              </a:rPr>
              <a:t>60235220</a:t>
            </a:r>
            <a:endParaRPr sz="1200">
              <a:latin typeface="함초롬돋움"/>
              <a:cs typeface="함초롬돋움"/>
            </a:endParaRPr>
          </a:p>
          <a:p>
            <a:pPr marL="12700">
              <a:lnSpc>
                <a:spcPct val="100000"/>
              </a:lnSpc>
            </a:pPr>
            <a:r>
              <a:rPr dirty="0" sz="1200" spc="-75">
                <a:solidFill>
                  <a:srgbClr val="CBD4E1"/>
                </a:solidFill>
                <a:latin typeface="함초롬돋움"/>
                <a:cs typeface="함초롬돋움"/>
              </a:rPr>
              <a:t>전기헌</a:t>
            </a:r>
            <a:r>
              <a:rPr dirty="0" sz="1200" spc="-80">
                <a:solidFill>
                  <a:srgbClr val="CBD4E1"/>
                </a:solidFill>
                <a:latin typeface="함초롬돋움"/>
                <a:cs typeface="함초롬돋움"/>
              </a:rPr>
              <a:t> </a:t>
            </a:r>
            <a:r>
              <a:rPr dirty="0" sz="1200" spc="-10">
                <a:solidFill>
                  <a:srgbClr val="CBD4E1"/>
                </a:solidFill>
                <a:latin typeface="함초롬돋움"/>
                <a:cs typeface="함초롬돋움"/>
              </a:rPr>
              <a:t>60222138</a:t>
            </a:r>
            <a:endParaRPr sz="1200">
              <a:latin typeface="함초롬돋움"/>
              <a:cs typeface="함초롬돋움"/>
            </a:endParaRPr>
          </a:p>
          <a:p>
            <a:pPr marL="12700">
              <a:lnSpc>
                <a:spcPct val="100000"/>
              </a:lnSpc>
            </a:pPr>
            <a:r>
              <a:rPr dirty="0" sz="1200" spc="-75">
                <a:solidFill>
                  <a:srgbClr val="CBD4E1"/>
                </a:solidFill>
                <a:latin typeface="함초롬돋움"/>
                <a:cs typeface="함초롬돋움"/>
              </a:rPr>
              <a:t>현고은</a:t>
            </a:r>
            <a:r>
              <a:rPr dirty="0" sz="1200" spc="-80">
                <a:solidFill>
                  <a:srgbClr val="CBD4E1"/>
                </a:solidFill>
                <a:latin typeface="함초롬돋움"/>
                <a:cs typeface="함초롬돋움"/>
              </a:rPr>
              <a:t> </a:t>
            </a:r>
            <a:r>
              <a:rPr dirty="0" sz="1200" spc="-10">
                <a:solidFill>
                  <a:srgbClr val="CBD4E1"/>
                </a:solidFill>
                <a:latin typeface="함초롬돋움"/>
                <a:cs typeface="함초롬돋움"/>
              </a:rPr>
              <a:t>60251851</a:t>
            </a:r>
            <a:endParaRPr sz="1200">
              <a:latin typeface="함초롬돋움"/>
              <a:cs typeface="함초롬돋움"/>
            </a:endParaRPr>
          </a:p>
        </p:txBody>
      </p:sp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09600" y="1590675"/>
            <a:ext cx="10972800" cy="800100"/>
          </a:xfrm>
          <a:custGeom>
            <a:avLst/>
            <a:gdLst/>
            <a:ahLst/>
            <a:cxnLst/>
            <a:rect l="l" t="t" r="r" b="b"/>
            <a:pathLst>
              <a:path w="10972800" h="800100">
                <a:moveTo>
                  <a:pt x="10858505" y="800099"/>
                </a:moveTo>
                <a:lnTo>
                  <a:pt x="114294" y="800099"/>
                </a:lnTo>
                <a:lnTo>
                  <a:pt x="69805" y="791118"/>
                </a:lnTo>
                <a:lnTo>
                  <a:pt x="33476" y="766623"/>
                </a:lnTo>
                <a:lnTo>
                  <a:pt x="8981" y="730294"/>
                </a:lnTo>
                <a:lnTo>
                  <a:pt x="0" y="685805"/>
                </a:lnTo>
                <a:lnTo>
                  <a:pt x="0" y="114294"/>
                </a:lnTo>
                <a:lnTo>
                  <a:pt x="8981" y="69805"/>
                </a:lnTo>
                <a:lnTo>
                  <a:pt x="33476" y="33475"/>
                </a:lnTo>
                <a:lnTo>
                  <a:pt x="69805" y="8981"/>
                </a:lnTo>
                <a:lnTo>
                  <a:pt x="114294" y="0"/>
                </a:lnTo>
                <a:lnTo>
                  <a:pt x="10858505" y="0"/>
                </a:lnTo>
                <a:lnTo>
                  <a:pt x="10902244" y="8700"/>
                </a:lnTo>
                <a:lnTo>
                  <a:pt x="10939324" y="33475"/>
                </a:lnTo>
                <a:lnTo>
                  <a:pt x="10964099" y="70555"/>
                </a:lnTo>
                <a:lnTo>
                  <a:pt x="10972799" y="114294"/>
                </a:lnTo>
                <a:lnTo>
                  <a:pt x="10972799" y="685805"/>
                </a:lnTo>
                <a:lnTo>
                  <a:pt x="10963818" y="730294"/>
                </a:lnTo>
                <a:lnTo>
                  <a:pt x="10939324" y="766623"/>
                </a:lnTo>
                <a:lnTo>
                  <a:pt x="10902994" y="791118"/>
                </a:lnTo>
                <a:lnTo>
                  <a:pt x="10858505" y="800099"/>
                </a:lnTo>
                <a:close/>
              </a:path>
            </a:pathLst>
          </a:custGeom>
          <a:solidFill>
            <a:srgbClr val="F7FA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609600" y="2543175"/>
            <a:ext cx="10972800" cy="800100"/>
          </a:xfrm>
          <a:custGeom>
            <a:avLst/>
            <a:gdLst/>
            <a:ahLst/>
            <a:cxnLst/>
            <a:rect l="l" t="t" r="r" b="b"/>
            <a:pathLst>
              <a:path w="10972800" h="800100">
                <a:moveTo>
                  <a:pt x="10858505" y="800099"/>
                </a:moveTo>
                <a:lnTo>
                  <a:pt x="114294" y="800099"/>
                </a:lnTo>
                <a:lnTo>
                  <a:pt x="69805" y="791118"/>
                </a:lnTo>
                <a:lnTo>
                  <a:pt x="33476" y="766623"/>
                </a:lnTo>
                <a:lnTo>
                  <a:pt x="8981" y="730294"/>
                </a:lnTo>
                <a:lnTo>
                  <a:pt x="0" y="685805"/>
                </a:lnTo>
                <a:lnTo>
                  <a:pt x="0" y="114294"/>
                </a:lnTo>
                <a:lnTo>
                  <a:pt x="8981" y="69805"/>
                </a:lnTo>
                <a:lnTo>
                  <a:pt x="33476" y="33475"/>
                </a:lnTo>
                <a:lnTo>
                  <a:pt x="69805" y="8981"/>
                </a:lnTo>
                <a:lnTo>
                  <a:pt x="114294" y="0"/>
                </a:lnTo>
                <a:lnTo>
                  <a:pt x="10858505" y="0"/>
                </a:lnTo>
                <a:lnTo>
                  <a:pt x="10902244" y="8700"/>
                </a:lnTo>
                <a:lnTo>
                  <a:pt x="10939324" y="33475"/>
                </a:lnTo>
                <a:lnTo>
                  <a:pt x="10964099" y="70555"/>
                </a:lnTo>
                <a:lnTo>
                  <a:pt x="10972799" y="114294"/>
                </a:lnTo>
                <a:lnTo>
                  <a:pt x="10972799" y="685805"/>
                </a:lnTo>
                <a:lnTo>
                  <a:pt x="10963818" y="730294"/>
                </a:lnTo>
                <a:lnTo>
                  <a:pt x="10939324" y="766623"/>
                </a:lnTo>
                <a:lnTo>
                  <a:pt x="10902994" y="791118"/>
                </a:lnTo>
                <a:lnTo>
                  <a:pt x="10858505" y="800099"/>
                </a:lnTo>
                <a:close/>
              </a:path>
            </a:pathLst>
          </a:custGeom>
          <a:solidFill>
            <a:srgbClr val="F7FA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609600" y="3495675"/>
            <a:ext cx="10972800" cy="800100"/>
          </a:xfrm>
          <a:custGeom>
            <a:avLst/>
            <a:gdLst/>
            <a:ahLst/>
            <a:cxnLst/>
            <a:rect l="l" t="t" r="r" b="b"/>
            <a:pathLst>
              <a:path w="10972800" h="800100">
                <a:moveTo>
                  <a:pt x="10858505" y="800099"/>
                </a:moveTo>
                <a:lnTo>
                  <a:pt x="114294" y="800099"/>
                </a:lnTo>
                <a:lnTo>
                  <a:pt x="69805" y="791118"/>
                </a:lnTo>
                <a:lnTo>
                  <a:pt x="33476" y="766623"/>
                </a:lnTo>
                <a:lnTo>
                  <a:pt x="8981" y="730294"/>
                </a:lnTo>
                <a:lnTo>
                  <a:pt x="0" y="685805"/>
                </a:lnTo>
                <a:lnTo>
                  <a:pt x="0" y="114294"/>
                </a:lnTo>
                <a:lnTo>
                  <a:pt x="8981" y="69805"/>
                </a:lnTo>
                <a:lnTo>
                  <a:pt x="33476" y="33476"/>
                </a:lnTo>
                <a:lnTo>
                  <a:pt x="69805" y="8981"/>
                </a:lnTo>
                <a:lnTo>
                  <a:pt x="114294" y="0"/>
                </a:lnTo>
                <a:lnTo>
                  <a:pt x="10858505" y="0"/>
                </a:lnTo>
                <a:lnTo>
                  <a:pt x="10902244" y="8700"/>
                </a:lnTo>
                <a:lnTo>
                  <a:pt x="10939324" y="33476"/>
                </a:lnTo>
                <a:lnTo>
                  <a:pt x="10964099" y="70555"/>
                </a:lnTo>
                <a:lnTo>
                  <a:pt x="10972799" y="114294"/>
                </a:lnTo>
                <a:lnTo>
                  <a:pt x="10972799" y="685805"/>
                </a:lnTo>
                <a:lnTo>
                  <a:pt x="10963818" y="730294"/>
                </a:lnTo>
                <a:lnTo>
                  <a:pt x="10939324" y="766623"/>
                </a:lnTo>
                <a:lnTo>
                  <a:pt x="10902994" y="791118"/>
                </a:lnTo>
                <a:lnTo>
                  <a:pt x="10858505" y="800099"/>
                </a:lnTo>
                <a:close/>
              </a:path>
            </a:pathLst>
          </a:custGeom>
          <a:solidFill>
            <a:srgbClr val="F7FA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609600" y="4448175"/>
            <a:ext cx="10972800" cy="800100"/>
          </a:xfrm>
          <a:custGeom>
            <a:avLst/>
            <a:gdLst/>
            <a:ahLst/>
            <a:cxnLst/>
            <a:rect l="l" t="t" r="r" b="b"/>
            <a:pathLst>
              <a:path w="10972800" h="800100">
                <a:moveTo>
                  <a:pt x="10858505" y="800099"/>
                </a:moveTo>
                <a:lnTo>
                  <a:pt x="114294" y="800099"/>
                </a:lnTo>
                <a:lnTo>
                  <a:pt x="69805" y="791118"/>
                </a:lnTo>
                <a:lnTo>
                  <a:pt x="33476" y="766623"/>
                </a:lnTo>
                <a:lnTo>
                  <a:pt x="8981" y="730294"/>
                </a:lnTo>
                <a:lnTo>
                  <a:pt x="0" y="685805"/>
                </a:lnTo>
                <a:lnTo>
                  <a:pt x="0" y="114294"/>
                </a:lnTo>
                <a:lnTo>
                  <a:pt x="8981" y="69805"/>
                </a:lnTo>
                <a:lnTo>
                  <a:pt x="33476" y="33476"/>
                </a:lnTo>
                <a:lnTo>
                  <a:pt x="69805" y="8981"/>
                </a:lnTo>
                <a:lnTo>
                  <a:pt x="114294" y="0"/>
                </a:lnTo>
                <a:lnTo>
                  <a:pt x="10858505" y="0"/>
                </a:lnTo>
                <a:lnTo>
                  <a:pt x="10902244" y="8700"/>
                </a:lnTo>
                <a:lnTo>
                  <a:pt x="10939324" y="33476"/>
                </a:lnTo>
                <a:lnTo>
                  <a:pt x="10964099" y="70555"/>
                </a:lnTo>
                <a:lnTo>
                  <a:pt x="10972799" y="114294"/>
                </a:lnTo>
                <a:lnTo>
                  <a:pt x="10972799" y="685805"/>
                </a:lnTo>
                <a:lnTo>
                  <a:pt x="10963818" y="730294"/>
                </a:lnTo>
                <a:lnTo>
                  <a:pt x="10939324" y="766623"/>
                </a:lnTo>
                <a:lnTo>
                  <a:pt x="10902994" y="791118"/>
                </a:lnTo>
                <a:lnTo>
                  <a:pt x="10858505" y="800099"/>
                </a:lnTo>
                <a:close/>
              </a:path>
            </a:pathLst>
          </a:custGeom>
          <a:solidFill>
            <a:srgbClr val="F7FA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609600" y="5400675"/>
            <a:ext cx="10972800" cy="800100"/>
          </a:xfrm>
          <a:custGeom>
            <a:avLst/>
            <a:gdLst/>
            <a:ahLst/>
            <a:cxnLst/>
            <a:rect l="l" t="t" r="r" b="b"/>
            <a:pathLst>
              <a:path w="10972800" h="800100">
                <a:moveTo>
                  <a:pt x="10858505" y="800099"/>
                </a:moveTo>
                <a:lnTo>
                  <a:pt x="114294" y="800099"/>
                </a:lnTo>
                <a:lnTo>
                  <a:pt x="69805" y="791118"/>
                </a:lnTo>
                <a:lnTo>
                  <a:pt x="33476" y="766623"/>
                </a:lnTo>
                <a:lnTo>
                  <a:pt x="8981" y="730294"/>
                </a:lnTo>
                <a:lnTo>
                  <a:pt x="0" y="685805"/>
                </a:lnTo>
                <a:lnTo>
                  <a:pt x="0" y="114294"/>
                </a:lnTo>
                <a:lnTo>
                  <a:pt x="8981" y="69805"/>
                </a:lnTo>
                <a:lnTo>
                  <a:pt x="33476" y="33476"/>
                </a:lnTo>
                <a:lnTo>
                  <a:pt x="69805" y="8981"/>
                </a:lnTo>
                <a:lnTo>
                  <a:pt x="114294" y="0"/>
                </a:lnTo>
                <a:lnTo>
                  <a:pt x="10858505" y="0"/>
                </a:lnTo>
                <a:lnTo>
                  <a:pt x="10902244" y="8700"/>
                </a:lnTo>
                <a:lnTo>
                  <a:pt x="10939324" y="33476"/>
                </a:lnTo>
                <a:lnTo>
                  <a:pt x="10964099" y="70555"/>
                </a:lnTo>
                <a:lnTo>
                  <a:pt x="10972799" y="114294"/>
                </a:lnTo>
                <a:lnTo>
                  <a:pt x="10972799" y="685805"/>
                </a:lnTo>
                <a:lnTo>
                  <a:pt x="10963818" y="730294"/>
                </a:lnTo>
                <a:lnTo>
                  <a:pt x="10939324" y="766623"/>
                </a:lnTo>
                <a:lnTo>
                  <a:pt x="10902994" y="791118"/>
                </a:lnTo>
                <a:lnTo>
                  <a:pt x="10858505" y="800099"/>
                </a:lnTo>
                <a:close/>
              </a:path>
            </a:pathLst>
          </a:custGeom>
          <a:solidFill>
            <a:srgbClr val="F7FA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609600" y="1590675"/>
            <a:ext cx="48260" cy="800100"/>
          </a:xfrm>
          <a:custGeom>
            <a:avLst/>
            <a:gdLst/>
            <a:ahLst/>
            <a:cxnLst/>
            <a:rect l="l" t="t" r="r" b="b"/>
            <a:pathLst>
              <a:path w="48259" h="800100">
                <a:moveTo>
                  <a:pt x="47699" y="800099"/>
                </a:moveTo>
                <a:lnTo>
                  <a:pt x="0" y="800099"/>
                </a:lnTo>
                <a:lnTo>
                  <a:pt x="0" y="0"/>
                </a:lnTo>
                <a:lnTo>
                  <a:pt x="47699" y="0"/>
                </a:lnTo>
                <a:lnTo>
                  <a:pt x="47699" y="800099"/>
                </a:lnTo>
                <a:close/>
              </a:path>
            </a:pathLst>
          </a:custGeom>
          <a:solidFill>
            <a:srgbClr val="EA580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609600" y="2543175"/>
            <a:ext cx="48260" cy="800100"/>
          </a:xfrm>
          <a:custGeom>
            <a:avLst/>
            <a:gdLst/>
            <a:ahLst/>
            <a:cxnLst/>
            <a:rect l="l" t="t" r="r" b="b"/>
            <a:pathLst>
              <a:path w="48259" h="800100">
                <a:moveTo>
                  <a:pt x="47699" y="800099"/>
                </a:moveTo>
                <a:lnTo>
                  <a:pt x="0" y="800099"/>
                </a:lnTo>
                <a:lnTo>
                  <a:pt x="0" y="0"/>
                </a:lnTo>
                <a:lnTo>
                  <a:pt x="47699" y="0"/>
                </a:lnTo>
                <a:lnTo>
                  <a:pt x="47699" y="800099"/>
                </a:lnTo>
                <a:close/>
              </a:path>
            </a:pathLst>
          </a:custGeom>
          <a:solidFill>
            <a:srgbClr val="2563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609600" y="3495675"/>
            <a:ext cx="48260" cy="800100"/>
          </a:xfrm>
          <a:custGeom>
            <a:avLst/>
            <a:gdLst/>
            <a:ahLst/>
            <a:cxnLst/>
            <a:rect l="l" t="t" r="r" b="b"/>
            <a:pathLst>
              <a:path w="48259" h="800100">
                <a:moveTo>
                  <a:pt x="47699" y="800099"/>
                </a:moveTo>
                <a:lnTo>
                  <a:pt x="0" y="800099"/>
                </a:lnTo>
                <a:lnTo>
                  <a:pt x="0" y="0"/>
                </a:lnTo>
                <a:lnTo>
                  <a:pt x="47699" y="0"/>
                </a:lnTo>
                <a:lnTo>
                  <a:pt x="47699" y="800099"/>
                </a:lnTo>
                <a:close/>
              </a:path>
            </a:pathLst>
          </a:custGeom>
          <a:solidFill>
            <a:srgbClr val="16A34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609600" y="4448175"/>
            <a:ext cx="48260" cy="800100"/>
          </a:xfrm>
          <a:custGeom>
            <a:avLst/>
            <a:gdLst/>
            <a:ahLst/>
            <a:cxnLst/>
            <a:rect l="l" t="t" r="r" b="b"/>
            <a:pathLst>
              <a:path w="48259" h="800100">
                <a:moveTo>
                  <a:pt x="47699" y="800099"/>
                </a:moveTo>
                <a:lnTo>
                  <a:pt x="0" y="800099"/>
                </a:lnTo>
                <a:lnTo>
                  <a:pt x="0" y="0"/>
                </a:lnTo>
                <a:lnTo>
                  <a:pt x="47699" y="0"/>
                </a:lnTo>
                <a:lnTo>
                  <a:pt x="47699" y="800099"/>
                </a:lnTo>
                <a:close/>
              </a:path>
            </a:pathLst>
          </a:custGeom>
          <a:solidFill>
            <a:srgbClr val="9333E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609600" y="5400675"/>
            <a:ext cx="48260" cy="800100"/>
          </a:xfrm>
          <a:custGeom>
            <a:avLst/>
            <a:gdLst/>
            <a:ahLst/>
            <a:cxnLst/>
            <a:rect l="l" t="t" r="r" b="b"/>
            <a:pathLst>
              <a:path w="48259" h="800100">
                <a:moveTo>
                  <a:pt x="47699" y="800099"/>
                </a:moveTo>
                <a:lnTo>
                  <a:pt x="0" y="800099"/>
                </a:lnTo>
                <a:lnTo>
                  <a:pt x="0" y="0"/>
                </a:lnTo>
                <a:lnTo>
                  <a:pt x="47699" y="0"/>
                </a:lnTo>
                <a:lnTo>
                  <a:pt x="47699" y="800099"/>
                </a:lnTo>
                <a:close/>
              </a:path>
            </a:pathLst>
          </a:custGeom>
          <a:solidFill>
            <a:srgbClr val="47556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596900" y="439165"/>
            <a:ext cx="139001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 b="1">
                <a:solidFill>
                  <a:srgbClr val="EA580C"/>
                </a:solidFill>
                <a:latin typeface="함초롬돋움"/>
                <a:cs typeface="함초롬돋움"/>
              </a:rPr>
              <a:t>TABLE</a:t>
            </a:r>
            <a:r>
              <a:rPr dirty="0" sz="1050" spc="-40" b="1">
                <a:solidFill>
                  <a:srgbClr val="EA580C"/>
                </a:solidFill>
                <a:latin typeface="함초롬돋움"/>
                <a:cs typeface="함초롬돋움"/>
              </a:rPr>
              <a:t> </a:t>
            </a:r>
            <a:r>
              <a:rPr dirty="0" sz="1050" b="1">
                <a:solidFill>
                  <a:srgbClr val="EA580C"/>
                </a:solidFill>
                <a:latin typeface="함초롬돋움"/>
                <a:cs typeface="함초롬돋움"/>
              </a:rPr>
              <a:t>OF</a:t>
            </a:r>
            <a:r>
              <a:rPr dirty="0" sz="1050" spc="-35" b="1">
                <a:solidFill>
                  <a:srgbClr val="EA580C"/>
                </a:solidFill>
                <a:latin typeface="함초롬돋움"/>
                <a:cs typeface="함초롬돋움"/>
              </a:rPr>
              <a:t> </a:t>
            </a:r>
            <a:r>
              <a:rPr dirty="0" sz="1050" spc="-10" b="1">
                <a:solidFill>
                  <a:srgbClr val="EA580C"/>
                </a:solidFill>
                <a:latin typeface="함초롬돋움"/>
                <a:cs typeface="함초롬돋움"/>
              </a:rPr>
              <a:t>CONTENTS</a:t>
            </a:r>
            <a:endParaRPr sz="1050">
              <a:latin typeface="함초롬돋움"/>
              <a:cs typeface="함초롬돋움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5"/>
              <a:t>목차</a:t>
            </a:r>
            <a:r>
              <a:rPr dirty="0" spc="-170"/>
              <a:t> </a:t>
            </a:r>
            <a:r>
              <a:rPr dirty="0" spc="75"/>
              <a:t>(Contents)</a:t>
            </a:r>
          </a:p>
        </p:txBody>
      </p:sp>
      <p:sp>
        <p:nvSpPr>
          <p:cNvPr id="14" name="object 14" descr=""/>
          <p:cNvSpPr txBox="1"/>
          <p:nvPr/>
        </p:nvSpPr>
        <p:spPr>
          <a:xfrm>
            <a:off x="911225" y="1860867"/>
            <a:ext cx="25019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30" b="1">
                <a:solidFill>
                  <a:srgbClr val="EA580C"/>
                </a:solidFill>
                <a:latin typeface="함초롬돋움"/>
                <a:cs typeface="함초롬돋움"/>
              </a:rPr>
              <a:t>01</a:t>
            </a:r>
            <a:endParaRPr sz="1500">
              <a:latin typeface="함초롬돋움"/>
              <a:cs typeface="함초롬돋움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911225" y="2813367"/>
            <a:ext cx="25019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30" b="1">
                <a:solidFill>
                  <a:srgbClr val="2563EB"/>
                </a:solidFill>
                <a:latin typeface="함초롬돋움"/>
                <a:cs typeface="함초롬돋움"/>
              </a:rPr>
              <a:t>02</a:t>
            </a:r>
            <a:endParaRPr sz="1500">
              <a:latin typeface="함초롬돋움"/>
              <a:cs typeface="함초롬돋움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911225" y="3765867"/>
            <a:ext cx="25019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30" b="1">
                <a:solidFill>
                  <a:srgbClr val="16A34A"/>
                </a:solidFill>
                <a:latin typeface="함초롬돋움"/>
                <a:cs typeface="함초롬돋움"/>
              </a:rPr>
              <a:t>03</a:t>
            </a:r>
            <a:endParaRPr sz="1500">
              <a:latin typeface="함초롬돋움"/>
              <a:cs typeface="함초롬돋움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11225" y="4718367"/>
            <a:ext cx="3432175" cy="234633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 lvl="0">
              <a:lnSpc>
                <a:spcPct val="100000"/>
              </a:lnSpc>
              <a:spcBef>
                <a:spcPts val="100"/>
              </a:spcBef>
              <a:tabLst>
                <a:tab pos="583565" algn="l"/>
              </a:tabLst>
              <a:defRPr/>
            </a:pPr>
            <a:r>
              <a:rPr sz="1500" b="1" spc="30">
                <a:solidFill>
                  <a:srgbClr val="9333ea"/>
                </a:solidFill>
                <a:latin typeface="함초롬돋움"/>
                <a:cs typeface="함초롬돋움"/>
              </a:rPr>
              <a:t>04</a:t>
            </a:r>
            <a:r>
              <a:rPr sz="1500" b="1">
                <a:solidFill>
                  <a:srgbClr val="9333ea"/>
                </a:solidFill>
                <a:latin typeface="함초롬돋움"/>
                <a:cs typeface="함초롬돋움"/>
              </a:rPr>
              <a:t>	</a:t>
            </a:r>
            <a:r>
              <a:rPr sz="1350" b="1" spc="-85">
                <a:solidFill>
                  <a:srgbClr val="0f172a"/>
                </a:solidFill>
                <a:latin typeface="함초롬돋움"/>
                <a:cs typeface="함초롬돋움"/>
              </a:rPr>
              <a:t>핵심</a:t>
            </a:r>
            <a:r>
              <a:rPr sz="1350" b="1" spc="-80">
                <a:solidFill>
                  <a:srgbClr val="0f172a"/>
                </a:solidFill>
                <a:latin typeface="함초롬돋움"/>
                <a:cs typeface="함초롬돋움"/>
              </a:rPr>
              <a:t> </a:t>
            </a:r>
            <a:r>
              <a:rPr sz="1350" b="1" spc="-85">
                <a:solidFill>
                  <a:srgbClr val="0f172a"/>
                </a:solidFill>
                <a:latin typeface="함초롬돋움"/>
                <a:cs typeface="함초롬돋움"/>
              </a:rPr>
              <a:t>알고리즘</a:t>
            </a:r>
            <a:r>
              <a:rPr sz="1350" b="1" spc="-75">
                <a:solidFill>
                  <a:srgbClr val="0f172a"/>
                </a:solidFill>
                <a:latin typeface="함초롬돋움"/>
                <a:cs typeface="함초롬돋움"/>
              </a:rPr>
              <a:t> </a:t>
            </a:r>
            <a:r>
              <a:rPr sz="1350" b="1" spc="-85">
                <a:solidFill>
                  <a:srgbClr val="0f172a"/>
                </a:solidFill>
                <a:latin typeface="함초롬돋움"/>
                <a:cs typeface="함초롬돋움"/>
              </a:rPr>
              <a:t>및</a:t>
            </a:r>
            <a:r>
              <a:rPr sz="1350" b="1" spc="-80">
                <a:solidFill>
                  <a:srgbClr val="0f172a"/>
                </a:solidFill>
                <a:latin typeface="함초롬돋움"/>
                <a:cs typeface="함초롬돋움"/>
              </a:rPr>
              <a:t> </a:t>
            </a:r>
            <a:r>
              <a:rPr sz="1350" b="1">
                <a:solidFill>
                  <a:srgbClr val="0f172a"/>
                </a:solidFill>
                <a:latin typeface="함초롬돋움"/>
                <a:cs typeface="함초롬돋움"/>
              </a:rPr>
              <a:t>UX</a:t>
            </a:r>
            <a:r>
              <a:rPr sz="1350" b="1" spc="-75">
                <a:solidFill>
                  <a:srgbClr val="0f172a"/>
                </a:solidFill>
                <a:latin typeface="함초롬돋움"/>
                <a:cs typeface="함초롬돋움"/>
              </a:rPr>
              <a:t> </a:t>
            </a:r>
            <a:r>
              <a:rPr sz="1350" b="1" spc="-25">
                <a:solidFill>
                  <a:srgbClr val="0f172a"/>
                </a:solidFill>
                <a:latin typeface="함초롬돋움"/>
                <a:cs typeface="함초롬돋움"/>
              </a:rPr>
              <a:t>제어</a:t>
            </a:r>
            <a:endParaRPr sz="1350">
              <a:latin typeface="함초롬돋움"/>
              <a:cs typeface="함초롬돋움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11225" y="5670867"/>
            <a:ext cx="2898775" cy="234633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 lvl="0">
              <a:lnSpc>
                <a:spcPct val="100000"/>
              </a:lnSpc>
              <a:spcBef>
                <a:spcPts val="100"/>
              </a:spcBef>
              <a:tabLst>
                <a:tab pos="583565" algn="l"/>
              </a:tabLst>
              <a:defRPr/>
            </a:pPr>
            <a:r>
              <a:rPr sz="1500" b="1" spc="30">
                <a:solidFill>
                  <a:srgbClr val="475568"/>
                </a:solidFill>
                <a:latin typeface="함초롬돋움"/>
                <a:cs typeface="함초롬돋움"/>
              </a:rPr>
              <a:t>05</a:t>
            </a:r>
            <a:r>
              <a:rPr sz="1500" b="1">
                <a:solidFill>
                  <a:srgbClr val="475568"/>
                </a:solidFill>
                <a:latin typeface="함초롬돋움"/>
                <a:cs typeface="함초롬돋움"/>
              </a:rPr>
              <a:t>	</a:t>
            </a:r>
            <a:r>
              <a:rPr sz="1350" b="1" spc="-85">
                <a:solidFill>
                  <a:srgbClr val="0f172a"/>
                </a:solidFill>
                <a:latin typeface="함초롬돋움"/>
                <a:cs typeface="함초롬돋움"/>
              </a:rPr>
              <a:t>개발</a:t>
            </a:r>
            <a:r>
              <a:rPr sz="1350" b="1" spc="-100">
                <a:solidFill>
                  <a:srgbClr val="0f172a"/>
                </a:solidFill>
                <a:latin typeface="함초롬돋움"/>
                <a:cs typeface="함초롬돋움"/>
              </a:rPr>
              <a:t> </a:t>
            </a:r>
            <a:r>
              <a:rPr sz="1350" b="1" spc="-85">
                <a:solidFill>
                  <a:srgbClr val="0f172a"/>
                </a:solidFill>
                <a:latin typeface="함초롬돋움"/>
                <a:cs typeface="함초롬돋움"/>
              </a:rPr>
              <a:t>로드맵 및</a:t>
            </a:r>
            <a:r>
              <a:rPr sz="1350" b="1" spc="-90">
                <a:solidFill>
                  <a:srgbClr val="0f172a"/>
                </a:solidFill>
                <a:latin typeface="함초롬돋움"/>
                <a:cs typeface="함초롬돋움"/>
              </a:rPr>
              <a:t> </a:t>
            </a:r>
            <a:r>
              <a:rPr sz="1350" b="1" spc="-85">
                <a:solidFill>
                  <a:srgbClr val="0f172a"/>
                </a:solidFill>
                <a:latin typeface="함초롬돋움"/>
                <a:cs typeface="함초롬돋움"/>
              </a:rPr>
              <a:t>검증 </a:t>
            </a:r>
            <a:r>
              <a:rPr sz="1350" b="1" spc="-25">
                <a:solidFill>
                  <a:srgbClr val="0f172a"/>
                </a:solidFill>
                <a:latin typeface="함초롬돋움"/>
                <a:cs typeface="함초롬돋움"/>
              </a:rPr>
              <a:t>계획</a:t>
            </a:r>
            <a:endParaRPr sz="1350">
              <a:latin typeface="함초롬돋움"/>
              <a:cs typeface="함초롬돋움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82725" y="1888616"/>
            <a:ext cx="2555875" cy="216409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 lvl="0">
              <a:lnSpc>
                <a:spcPct val="100000"/>
              </a:lnSpc>
              <a:spcBef>
                <a:spcPts val="100"/>
              </a:spcBef>
              <a:defRPr/>
            </a:pPr>
            <a:r>
              <a:rPr sz="1350" b="1" spc="-85">
                <a:solidFill>
                  <a:srgbClr val="0f172a"/>
                </a:solidFill>
                <a:latin typeface="함초롬돋움"/>
                <a:cs typeface="함초롬돋움"/>
              </a:rPr>
              <a:t>서론</a:t>
            </a:r>
            <a:r>
              <a:rPr sz="1350" b="1" spc="-90">
                <a:solidFill>
                  <a:srgbClr val="0f172a"/>
                </a:solidFill>
                <a:latin typeface="함초롬돋움"/>
                <a:cs typeface="함초롬돋움"/>
              </a:rPr>
              <a:t> </a:t>
            </a:r>
            <a:r>
              <a:rPr sz="1350" b="1" spc="-85">
                <a:solidFill>
                  <a:srgbClr val="0f172a"/>
                </a:solidFill>
                <a:latin typeface="함초롬돋움"/>
                <a:cs typeface="함초롬돋움"/>
              </a:rPr>
              <a:t>및 프로젝트 </a:t>
            </a:r>
            <a:r>
              <a:rPr sz="1350" b="1" spc="-25">
                <a:solidFill>
                  <a:srgbClr val="0f172a"/>
                </a:solidFill>
                <a:latin typeface="함초롬돋움"/>
                <a:cs typeface="함초롬돋움"/>
              </a:rPr>
              <a:t>개요</a:t>
            </a:r>
            <a:endParaRPr sz="1350">
              <a:latin typeface="함초롬돋움"/>
              <a:cs typeface="함초롬돋움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482725" y="2818026"/>
            <a:ext cx="2479675" cy="220448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 lvl="0">
              <a:lnSpc>
                <a:spcPct val="100000"/>
              </a:lnSpc>
              <a:spcBef>
                <a:spcPts val="100"/>
              </a:spcBef>
              <a:defRPr/>
            </a:pPr>
            <a:r>
              <a:rPr sz="1350" b="1" spc="-85">
                <a:solidFill>
                  <a:srgbClr val="0f172a"/>
                </a:solidFill>
                <a:latin typeface="함초롬돋움"/>
                <a:cs typeface="함초롬돋움"/>
              </a:rPr>
              <a:t>아이디어</a:t>
            </a:r>
            <a:r>
              <a:rPr sz="1350" b="1" spc="-90">
                <a:solidFill>
                  <a:srgbClr val="0f172a"/>
                </a:solidFill>
                <a:latin typeface="함초롬돋움"/>
                <a:cs typeface="함초롬돋움"/>
              </a:rPr>
              <a:t> </a:t>
            </a:r>
            <a:r>
              <a:rPr sz="1350" b="1" spc="-85">
                <a:solidFill>
                  <a:srgbClr val="0f172a"/>
                </a:solidFill>
                <a:latin typeface="함초롬돋움"/>
                <a:cs typeface="함초롬돋움"/>
              </a:rPr>
              <a:t>창출 및 </a:t>
            </a:r>
            <a:r>
              <a:rPr sz="1350" b="1" spc="-25">
                <a:solidFill>
                  <a:srgbClr val="0f172a"/>
                </a:solidFill>
                <a:latin typeface="함초롬돋움"/>
                <a:cs typeface="함초롬돋움"/>
              </a:rPr>
              <a:t>평가</a:t>
            </a:r>
            <a:endParaRPr sz="1350">
              <a:latin typeface="함초롬돋움"/>
              <a:cs typeface="함초롬돋움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482725" y="3770526"/>
            <a:ext cx="3546475" cy="220448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 lvl="0">
              <a:lnSpc>
                <a:spcPct val="100000"/>
              </a:lnSpc>
              <a:spcBef>
                <a:spcPts val="100"/>
              </a:spcBef>
              <a:defRPr/>
            </a:pPr>
            <a:r>
              <a:rPr sz="1350" b="1" spc="-85">
                <a:solidFill>
                  <a:srgbClr val="0f172a"/>
                </a:solidFill>
                <a:latin typeface="함초롬돋움"/>
                <a:cs typeface="함초롬돋움"/>
              </a:rPr>
              <a:t>시스템 아키텍처 및</a:t>
            </a:r>
            <a:r>
              <a:rPr sz="1350" b="1" spc="-80">
                <a:solidFill>
                  <a:srgbClr val="0f172a"/>
                </a:solidFill>
                <a:latin typeface="함초롬돋움"/>
                <a:cs typeface="함초롬돋움"/>
              </a:rPr>
              <a:t> </a:t>
            </a:r>
            <a:r>
              <a:rPr sz="1350" b="1" spc="-85">
                <a:solidFill>
                  <a:srgbClr val="0f172a"/>
                </a:solidFill>
                <a:latin typeface="함초롬돋움"/>
                <a:cs typeface="함초롬돋움"/>
              </a:rPr>
              <a:t>데이터 </a:t>
            </a:r>
            <a:r>
              <a:rPr sz="1350" b="1" spc="-25">
                <a:solidFill>
                  <a:srgbClr val="0f172a"/>
                </a:solidFill>
                <a:latin typeface="함초롬돋움"/>
                <a:cs typeface="함초롬돋움"/>
              </a:rPr>
              <a:t>설계</a:t>
            </a:r>
            <a:endParaRPr sz="1350">
              <a:latin typeface="함초롬돋움"/>
              <a:cs typeface="함초롬돋움"/>
            </a:endParaRPr>
          </a:p>
        </p:txBody>
      </p:sp>
    </p:spTree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09600" y="1352550"/>
            <a:ext cx="5372100" cy="5048250"/>
          </a:xfrm>
          <a:custGeom>
            <a:avLst/>
            <a:gdLst/>
            <a:ahLst/>
            <a:cxnLst/>
            <a:rect l="l" t="t" r="r" b="b"/>
            <a:pathLst>
              <a:path w="5372100" h="5048250">
                <a:moveTo>
                  <a:pt x="5257807" y="5048249"/>
                </a:moveTo>
                <a:lnTo>
                  <a:pt x="114292" y="5048249"/>
                </a:lnTo>
                <a:lnTo>
                  <a:pt x="69804" y="5039268"/>
                </a:lnTo>
                <a:lnTo>
                  <a:pt x="33475" y="5014774"/>
                </a:lnTo>
                <a:lnTo>
                  <a:pt x="8981" y="4978445"/>
                </a:lnTo>
                <a:lnTo>
                  <a:pt x="0" y="4933957"/>
                </a:lnTo>
                <a:lnTo>
                  <a:pt x="0" y="114292"/>
                </a:lnTo>
                <a:lnTo>
                  <a:pt x="8981" y="69804"/>
                </a:lnTo>
                <a:lnTo>
                  <a:pt x="33475" y="33475"/>
                </a:lnTo>
                <a:lnTo>
                  <a:pt x="69804" y="8981"/>
                </a:lnTo>
                <a:lnTo>
                  <a:pt x="114292" y="0"/>
                </a:lnTo>
                <a:lnTo>
                  <a:pt x="5257807" y="0"/>
                </a:lnTo>
                <a:lnTo>
                  <a:pt x="5301545" y="8699"/>
                </a:lnTo>
                <a:lnTo>
                  <a:pt x="5338624" y="33475"/>
                </a:lnTo>
                <a:lnTo>
                  <a:pt x="5363399" y="70554"/>
                </a:lnTo>
                <a:lnTo>
                  <a:pt x="5372099" y="114292"/>
                </a:lnTo>
                <a:lnTo>
                  <a:pt x="5372099" y="4933957"/>
                </a:lnTo>
                <a:lnTo>
                  <a:pt x="5363118" y="4978445"/>
                </a:lnTo>
                <a:lnTo>
                  <a:pt x="5338624" y="5014774"/>
                </a:lnTo>
                <a:lnTo>
                  <a:pt x="5302295" y="5039268"/>
                </a:lnTo>
                <a:lnTo>
                  <a:pt x="5257807" y="5048249"/>
                </a:lnTo>
                <a:close/>
              </a:path>
            </a:pathLst>
          </a:custGeom>
          <a:solidFill>
            <a:srgbClr val="F7FA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6210300" y="1352550"/>
            <a:ext cx="5372100" cy="5048250"/>
          </a:xfrm>
          <a:custGeom>
            <a:avLst/>
            <a:gdLst/>
            <a:ahLst/>
            <a:cxnLst/>
            <a:rect l="l" t="t" r="r" b="b"/>
            <a:pathLst>
              <a:path w="5372100" h="5048250">
                <a:moveTo>
                  <a:pt x="5257807" y="5048249"/>
                </a:moveTo>
                <a:lnTo>
                  <a:pt x="114292" y="5048249"/>
                </a:lnTo>
                <a:lnTo>
                  <a:pt x="69804" y="5039268"/>
                </a:lnTo>
                <a:lnTo>
                  <a:pt x="33475" y="5014774"/>
                </a:lnTo>
                <a:lnTo>
                  <a:pt x="8981" y="4978445"/>
                </a:lnTo>
                <a:lnTo>
                  <a:pt x="0" y="4933957"/>
                </a:lnTo>
                <a:lnTo>
                  <a:pt x="0" y="114292"/>
                </a:lnTo>
                <a:lnTo>
                  <a:pt x="8981" y="69804"/>
                </a:lnTo>
                <a:lnTo>
                  <a:pt x="33475" y="33475"/>
                </a:lnTo>
                <a:lnTo>
                  <a:pt x="69804" y="8981"/>
                </a:lnTo>
                <a:lnTo>
                  <a:pt x="114292" y="0"/>
                </a:lnTo>
                <a:lnTo>
                  <a:pt x="5257807" y="0"/>
                </a:lnTo>
                <a:lnTo>
                  <a:pt x="5301545" y="8699"/>
                </a:lnTo>
                <a:lnTo>
                  <a:pt x="5338624" y="33475"/>
                </a:lnTo>
                <a:lnTo>
                  <a:pt x="5363399" y="70554"/>
                </a:lnTo>
                <a:lnTo>
                  <a:pt x="5372099" y="114292"/>
                </a:lnTo>
                <a:lnTo>
                  <a:pt x="5372099" y="4933957"/>
                </a:lnTo>
                <a:lnTo>
                  <a:pt x="5363118" y="4978445"/>
                </a:lnTo>
                <a:lnTo>
                  <a:pt x="5338624" y="5014774"/>
                </a:lnTo>
                <a:lnTo>
                  <a:pt x="5302295" y="5039268"/>
                </a:lnTo>
                <a:lnTo>
                  <a:pt x="5257807" y="5048249"/>
                </a:lnTo>
                <a:close/>
              </a:path>
            </a:pathLst>
          </a:custGeom>
          <a:solidFill>
            <a:srgbClr val="FFF6E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6300" y="3209925"/>
            <a:ext cx="207465" cy="26669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77000" y="3209925"/>
            <a:ext cx="207465" cy="266699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596900" y="439165"/>
            <a:ext cx="105600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 b="1">
                <a:solidFill>
                  <a:srgbClr val="EA580C"/>
                </a:solidFill>
                <a:latin typeface="함초롬돋움"/>
                <a:cs typeface="함초롬돋움"/>
              </a:rPr>
              <a:t>INTRODUCTION</a:t>
            </a:r>
            <a:endParaRPr sz="1050">
              <a:latin typeface="함초롬돋움"/>
              <a:cs typeface="함초롬돋움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5"/>
              <a:t>프로젝트</a:t>
            </a:r>
            <a:r>
              <a:rPr dirty="0" spc="-170"/>
              <a:t> </a:t>
            </a:r>
            <a:r>
              <a:rPr dirty="0" spc="-145"/>
              <a:t>배경</a:t>
            </a:r>
            <a:r>
              <a:rPr dirty="0" spc="-170"/>
              <a:t> </a:t>
            </a:r>
            <a:r>
              <a:rPr dirty="0" spc="-145"/>
              <a:t>및</a:t>
            </a:r>
            <a:r>
              <a:rPr dirty="0" spc="-165"/>
              <a:t> </a:t>
            </a:r>
            <a:r>
              <a:rPr dirty="0" spc="-145"/>
              <a:t>문제</a:t>
            </a:r>
            <a:r>
              <a:rPr dirty="0" spc="-170"/>
              <a:t> </a:t>
            </a:r>
            <a:r>
              <a:rPr dirty="0" spc="-25"/>
              <a:t>정의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63600" y="3194367"/>
            <a:ext cx="5003800" cy="1215708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334010" lvl="0">
              <a:lnSpc>
                <a:spcPct val="100000"/>
              </a:lnSpc>
              <a:spcBef>
                <a:spcPts val="100"/>
              </a:spcBef>
              <a:defRPr/>
            </a:pPr>
            <a:r>
              <a:rPr sz="1500" b="1" spc="-80">
                <a:solidFill>
                  <a:srgbClr val="0f172a"/>
                </a:solidFill>
                <a:latin typeface="함초롬돋움"/>
                <a:cs typeface="함초롬돋움"/>
              </a:rPr>
              <a:t>기존</a:t>
            </a:r>
            <a:r>
              <a:rPr sz="1500" b="1" spc="-95">
                <a:solidFill>
                  <a:srgbClr val="0f172a"/>
                </a:solidFill>
                <a:latin typeface="함초롬돋움"/>
                <a:cs typeface="함초롬돋움"/>
              </a:rPr>
              <a:t> </a:t>
            </a:r>
            <a:r>
              <a:rPr sz="1500" b="1" spc="-80">
                <a:solidFill>
                  <a:srgbClr val="0f172a"/>
                </a:solidFill>
                <a:latin typeface="함초롬돋움"/>
                <a:cs typeface="함초롬돋움"/>
              </a:rPr>
              <a:t>일정</a:t>
            </a:r>
            <a:r>
              <a:rPr sz="1500" b="1" spc="-95">
                <a:solidFill>
                  <a:srgbClr val="0f172a"/>
                </a:solidFill>
                <a:latin typeface="함초롬돋움"/>
                <a:cs typeface="함초롬돋움"/>
              </a:rPr>
              <a:t> </a:t>
            </a:r>
            <a:r>
              <a:rPr sz="1500" b="1" spc="-80">
                <a:solidFill>
                  <a:srgbClr val="0f172a"/>
                </a:solidFill>
                <a:latin typeface="함초롬돋움"/>
                <a:cs typeface="함초롬돋움"/>
              </a:rPr>
              <a:t>조율</a:t>
            </a:r>
            <a:r>
              <a:rPr sz="1500" b="1" spc="-90">
                <a:solidFill>
                  <a:srgbClr val="0f172a"/>
                </a:solidFill>
                <a:latin typeface="함초롬돋움"/>
                <a:cs typeface="함초롬돋움"/>
              </a:rPr>
              <a:t> </a:t>
            </a:r>
            <a:r>
              <a:rPr sz="1500" b="1" spc="-80">
                <a:solidFill>
                  <a:srgbClr val="0f172a"/>
                </a:solidFill>
                <a:latin typeface="함초롬돋움"/>
                <a:cs typeface="함초롬돋움"/>
              </a:rPr>
              <a:t>방식의</a:t>
            </a:r>
            <a:r>
              <a:rPr sz="1500" b="1" spc="-95">
                <a:solidFill>
                  <a:srgbClr val="0f172a"/>
                </a:solidFill>
                <a:latin typeface="함초롬돋움"/>
                <a:cs typeface="함초롬돋움"/>
              </a:rPr>
              <a:t> </a:t>
            </a:r>
            <a:r>
              <a:rPr sz="1500" b="1" spc="-10">
                <a:solidFill>
                  <a:srgbClr val="0f172a"/>
                </a:solidFill>
                <a:latin typeface="함초롬돋움"/>
                <a:cs typeface="함초롬돋움"/>
              </a:rPr>
              <a:t>페인포인트</a:t>
            </a:r>
            <a:endParaRPr sz="1500" b="1" spc="-10">
              <a:solidFill>
                <a:srgbClr val="0f172a"/>
              </a:solidFill>
              <a:latin typeface="함초롬돋움"/>
              <a:cs typeface="함초롬돋움"/>
            </a:endParaRPr>
          </a:p>
          <a:p>
            <a:pPr marL="12700" lvl="0">
              <a:lnSpc>
                <a:spcPct val="100000"/>
              </a:lnSpc>
              <a:spcBef>
                <a:spcPts val="1475"/>
              </a:spcBef>
              <a:defRPr/>
            </a:pPr>
            <a:r>
              <a:rPr sz="1200" b="1" spc="-75">
                <a:solidFill>
                  <a:srgbClr val="334155"/>
                </a:solidFill>
                <a:latin typeface="함초롬돋움"/>
                <a:cs typeface="함초롬돋움"/>
              </a:rPr>
              <a:t>수작업</a:t>
            </a:r>
            <a:r>
              <a:rPr sz="1200" b="1" spc="-8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sz="1200" b="1" spc="-45">
                <a:solidFill>
                  <a:srgbClr val="334155"/>
                </a:solidFill>
                <a:latin typeface="함초롬돋움"/>
                <a:cs typeface="함초롬돋움"/>
              </a:rPr>
              <a:t>대조:</a:t>
            </a:r>
            <a:r>
              <a:rPr sz="1200" b="1" spc="-8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sz="1200" spc="-75">
                <a:solidFill>
                  <a:srgbClr val="334155"/>
                </a:solidFill>
                <a:latin typeface="함초롬돋움"/>
                <a:cs typeface="함초롬돋움"/>
              </a:rPr>
              <a:t>단체방</a:t>
            </a:r>
            <a:r>
              <a:rPr sz="1200" spc="-85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sz="1200" spc="-75">
                <a:solidFill>
                  <a:srgbClr val="334155"/>
                </a:solidFill>
                <a:latin typeface="함초롬돋움"/>
                <a:cs typeface="함초롬돋움"/>
              </a:rPr>
              <a:t>시간표</a:t>
            </a:r>
            <a:r>
              <a:rPr sz="1200" spc="-8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sz="1200" spc="-75">
                <a:solidFill>
                  <a:srgbClr val="334155"/>
                </a:solidFill>
                <a:latin typeface="함초롬돋움"/>
                <a:cs typeface="함초롬돋움"/>
              </a:rPr>
              <a:t>캡처</a:t>
            </a:r>
            <a:r>
              <a:rPr sz="1200" spc="-85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sz="1200" spc="-75">
                <a:solidFill>
                  <a:srgbClr val="334155"/>
                </a:solidFill>
                <a:latin typeface="함초롬돋움"/>
                <a:cs typeface="함초롬돋움"/>
              </a:rPr>
              <a:t>공유</a:t>
            </a:r>
            <a:r>
              <a:rPr sz="1200" spc="-8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sz="1200" spc="-75">
                <a:solidFill>
                  <a:srgbClr val="334155"/>
                </a:solidFill>
                <a:latin typeface="함초롬돋움"/>
                <a:cs typeface="함초롬돋움"/>
              </a:rPr>
              <a:t>및</a:t>
            </a:r>
            <a:r>
              <a:rPr sz="1200" spc="-8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sz="1200" spc="-75">
                <a:solidFill>
                  <a:srgbClr val="334155"/>
                </a:solidFill>
                <a:latin typeface="함초롬돋움"/>
                <a:cs typeface="함초롬돋움"/>
              </a:rPr>
              <a:t>눈</a:t>
            </a:r>
            <a:r>
              <a:rPr sz="1200" spc="-85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sz="1200" spc="-75">
                <a:solidFill>
                  <a:srgbClr val="334155"/>
                </a:solidFill>
                <a:latin typeface="함초롬돋움"/>
                <a:cs typeface="함초롬돋움"/>
              </a:rPr>
              <a:t>대조</a:t>
            </a:r>
            <a:r>
              <a:rPr sz="1200" spc="-8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sz="1200" spc="-35">
                <a:solidFill>
                  <a:srgbClr val="334155"/>
                </a:solidFill>
                <a:latin typeface="함초롬돋움"/>
                <a:cs typeface="함초롬돋움"/>
              </a:rPr>
              <a:t>방식</a:t>
            </a:r>
            <a:endParaRPr sz="1200" spc="-35">
              <a:solidFill>
                <a:srgbClr val="334155"/>
              </a:solidFill>
              <a:latin typeface="함초롬돋움"/>
              <a:cs typeface="함초롬돋움"/>
            </a:endParaRPr>
          </a:p>
          <a:p>
            <a:pPr marL="12700" lvl="0">
              <a:lnSpc>
                <a:spcPct val="100000"/>
              </a:lnSpc>
              <a:spcBef>
                <a:spcPts val="960"/>
              </a:spcBef>
              <a:defRPr/>
            </a:pPr>
            <a:r>
              <a:rPr sz="1200" b="1" spc="-75">
                <a:solidFill>
                  <a:srgbClr val="334155"/>
                </a:solidFill>
                <a:latin typeface="함초롬돋움"/>
                <a:cs typeface="함초롬돋움"/>
              </a:rPr>
              <a:t>이중 </a:t>
            </a:r>
            <a:r>
              <a:rPr sz="1200" b="1" spc="-45">
                <a:solidFill>
                  <a:srgbClr val="334155"/>
                </a:solidFill>
                <a:latin typeface="함초롬돋움"/>
                <a:cs typeface="함초롬돋움"/>
              </a:rPr>
              <a:t>입력:</a:t>
            </a:r>
            <a:r>
              <a:rPr sz="1200" b="1" spc="-8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sz="1200" spc="-10">
                <a:solidFill>
                  <a:srgbClr val="334155"/>
                </a:solidFill>
                <a:latin typeface="함초롬돋움"/>
                <a:cs typeface="함초롬돋움"/>
              </a:rPr>
              <a:t>When2meet</a:t>
            </a:r>
            <a:r>
              <a:rPr sz="1200" spc="-75">
                <a:solidFill>
                  <a:srgbClr val="334155"/>
                </a:solidFill>
                <a:latin typeface="함초롬돋움"/>
                <a:cs typeface="함초롬돋움"/>
              </a:rPr>
              <a:t> 등</a:t>
            </a:r>
            <a:r>
              <a:rPr sz="1200" spc="-8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sz="1200" spc="-75">
                <a:solidFill>
                  <a:srgbClr val="334155"/>
                </a:solidFill>
                <a:latin typeface="함초롬돋움"/>
                <a:cs typeface="함초롬돋움"/>
              </a:rPr>
              <a:t>기존</a:t>
            </a:r>
            <a:r>
              <a:rPr sz="1200" spc="-8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sz="1200" spc="-75">
                <a:solidFill>
                  <a:srgbClr val="334155"/>
                </a:solidFill>
                <a:latin typeface="함초롬돋움"/>
                <a:cs typeface="함초롬돋움"/>
              </a:rPr>
              <a:t>도구의</a:t>
            </a:r>
            <a:r>
              <a:rPr sz="1200" spc="-8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sz="1200" spc="-75">
                <a:solidFill>
                  <a:srgbClr val="334155"/>
                </a:solidFill>
                <a:latin typeface="함초롬돋움"/>
                <a:cs typeface="함초롬돋움"/>
              </a:rPr>
              <a:t>일일이 재입력</a:t>
            </a:r>
            <a:r>
              <a:rPr sz="1200" spc="-8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sz="1200" spc="-20">
                <a:solidFill>
                  <a:srgbClr val="334155"/>
                </a:solidFill>
                <a:latin typeface="함초롬돋움"/>
                <a:cs typeface="함초롬돋움"/>
              </a:rPr>
              <a:t>번거로움</a:t>
            </a:r>
            <a:endParaRPr sz="1200" spc="-20">
              <a:solidFill>
                <a:srgbClr val="334155"/>
              </a:solidFill>
              <a:latin typeface="함초롬돋움"/>
              <a:cs typeface="함초롬돋움"/>
            </a:endParaRPr>
          </a:p>
          <a:p>
            <a:pPr marL="12700" lvl="0">
              <a:lnSpc>
                <a:spcPct val="100000"/>
              </a:lnSpc>
              <a:spcBef>
                <a:spcPts val="960"/>
              </a:spcBef>
              <a:defRPr/>
            </a:pPr>
            <a:r>
              <a:rPr sz="1200" b="1" spc="-75">
                <a:solidFill>
                  <a:srgbClr val="334155"/>
                </a:solidFill>
                <a:latin typeface="함초롬돋움"/>
                <a:cs typeface="함초롬돋움"/>
              </a:rPr>
              <a:t>정보</a:t>
            </a:r>
            <a:r>
              <a:rPr sz="1200" b="1" spc="-8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sz="1200" b="1" spc="-75">
                <a:solidFill>
                  <a:srgbClr val="334155"/>
                </a:solidFill>
                <a:latin typeface="함초롬돋움"/>
                <a:cs typeface="함초롬돋움"/>
              </a:rPr>
              <a:t>누락 및 </a:t>
            </a:r>
            <a:r>
              <a:rPr sz="1200" b="1" spc="-45">
                <a:solidFill>
                  <a:srgbClr val="334155"/>
                </a:solidFill>
                <a:latin typeface="함초롬돋움"/>
                <a:cs typeface="함초롬돋움"/>
              </a:rPr>
              <a:t>지연:</a:t>
            </a:r>
            <a:r>
              <a:rPr sz="1200" b="1" spc="-85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sz="1200" spc="-75">
                <a:solidFill>
                  <a:srgbClr val="334155"/>
                </a:solidFill>
                <a:latin typeface="함초롬돋움"/>
                <a:cs typeface="함초롬돋움"/>
              </a:rPr>
              <a:t>고질적인</a:t>
            </a:r>
            <a:r>
              <a:rPr sz="1200" spc="-8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sz="1200" spc="-75">
                <a:solidFill>
                  <a:srgbClr val="334155"/>
                </a:solidFill>
                <a:latin typeface="함초롬돋움"/>
                <a:cs typeface="함초롬돋움"/>
              </a:rPr>
              <a:t>일정</a:t>
            </a:r>
            <a:r>
              <a:rPr sz="1200" spc="-8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sz="1200" spc="-75">
                <a:solidFill>
                  <a:srgbClr val="334155"/>
                </a:solidFill>
                <a:latin typeface="함초롬돋움"/>
                <a:cs typeface="함초롬돋움"/>
              </a:rPr>
              <a:t>충돌</a:t>
            </a:r>
            <a:r>
              <a:rPr sz="1200" spc="-85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sz="1200" spc="-75">
                <a:solidFill>
                  <a:srgbClr val="334155"/>
                </a:solidFill>
                <a:latin typeface="함초롬돋움"/>
                <a:cs typeface="함초롬돋움"/>
              </a:rPr>
              <a:t>및</a:t>
            </a:r>
            <a:r>
              <a:rPr sz="1200" spc="-8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sz="1200" spc="-75">
                <a:solidFill>
                  <a:srgbClr val="334155"/>
                </a:solidFill>
                <a:latin typeface="함초롬돋움"/>
                <a:cs typeface="함초롬돋움"/>
              </a:rPr>
              <a:t>의사소통</a:t>
            </a:r>
            <a:r>
              <a:rPr sz="1200" spc="-8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sz="1200" spc="-25">
                <a:solidFill>
                  <a:srgbClr val="334155"/>
                </a:solidFill>
                <a:latin typeface="함초롬돋움"/>
                <a:cs typeface="함초롬돋움"/>
              </a:rPr>
              <a:t>지연</a:t>
            </a:r>
            <a:endParaRPr sz="1200">
              <a:latin typeface="함초롬돋움"/>
              <a:cs typeface="함초롬돋움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64300" y="3194367"/>
            <a:ext cx="4737100" cy="1215708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334010" lvl="0">
              <a:lnSpc>
                <a:spcPct val="100000"/>
              </a:lnSpc>
              <a:spcBef>
                <a:spcPts val="100"/>
              </a:spcBef>
              <a:defRPr/>
            </a:pPr>
            <a:r>
              <a:rPr sz="1500" b="1">
                <a:solidFill>
                  <a:srgbClr val="0f172a"/>
                </a:solidFill>
                <a:latin typeface="함초롬돋움"/>
                <a:cs typeface="함초롬돋움"/>
              </a:rPr>
              <a:t>'Teum'이</a:t>
            </a:r>
            <a:r>
              <a:rPr sz="1500" b="1" spc="-25">
                <a:solidFill>
                  <a:srgbClr val="0f172a"/>
                </a:solidFill>
                <a:latin typeface="함초롬돋움"/>
                <a:cs typeface="함초롬돋움"/>
              </a:rPr>
              <a:t> </a:t>
            </a:r>
            <a:r>
              <a:rPr sz="1500" b="1" spc="-80">
                <a:solidFill>
                  <a:srgbClr val="0f172a"/>
                </a:solidFill>
                <a:latin typeface="함초롬돋움"/>
                <a:cs typeface="함초롬돋움"/>
              </a:rPr>
              <a:t>제시하는</a:t>
            </a:r>
            <a:r>
              <a:rPr sz="1500" b="1" spc="-20">
                <a:solidFill>
                  <a:srgbClr val="0f172a"/>
                </a:solidFill>
                <a:latin typeface="함초롬돋움"/>
                <a:cs typeface="함초롬돋움"/>
              </a:rPr>
              <a:t> </a:t>
            </a:r>
            <a:r>
              <a:rPr sz="1500" b="1" spc="-80">
                <a:solidFill>
                  <a:srgbClr val="0f172a"/>
                </a:solidFill>
                <a:latin typeface="함초롬돋움"/>
                <a:cs typeface="함초롬돋움"/>
              </a:rPr>
              <a:t>새로운</a:t>
            </a:r>
            <a:r>
              <a:rPr sz="1500" b="1" spc="-25">
                <a:solidFill>
                  <a:srgbClr val="0f172a"/>
                </a:solidFill>
                <a:latin typeface="함초롬돋움"/>
                <a:cs typeface="함초롬돋움"/>
              </a:rPr>
              <a:t> 대안</a:t>
            </a:r>
            <a:endParaRPr sz="1500" b="1" spc="-25">
              <a:solidFill>
                <a:srgbClr val="0f172a"/>
              </a:solidFill>
              <a:latin typeface="함초롬돋움"/>
              <a:cs typeface="함초롬돋움"/>
            </a:endParaRPr>
          </a:p>
          <a:p>
            <a:pPr marL="12700" marR="5080" lvl="0">
              <a:lnSpc>
                <a:spcPct val="166700"/>
              </a:lnSpc>
              <a:spcBef>
                <a:spcPts val="515"/>
              </a:spcBef>
              <a:defRPr/>
            </a:pPr>
            <a:r>
              <a:rPr sz="1200" b="1" spc="-75">
                <a:solidFill>
                  <a:srgbClr val="334155"/>
                </a:solidFill>
                <a:latin typeface="함초롬돋움"/>
                <a:cs typeface="함초롬돋움"/>
              </a:rPr>
              <a:t>데이터</a:t>
            </a:r>
            <a:r>
              <a:rPr sz="1200" b="1" spc="-7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sz="1200" b="1" spc="-55">
                <a:solidFill>
                  <a:srgbClr val="334155"/>
                </a:solidFill>
                <a:latin typeface="함초롬돋움"/>
                <a:cs typeface="함초롬돋움"/>
              </a:rPr>
              <a:t>재활용:</a:t>
            </a:r>
            <a:r>
              <a:rPr sz="1200" b="1" spc="-75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sz="1200" spc="-75">
                <a:solidFill>
                  <a:srgbClr val="334155"/>
                </a:solidFill>
                <a:latin typeface="함초롬돋움"/>
                <a:cs typeface="함초롬돋움"/>
              </a:rPr>
              <a:t>기존 시간표</a:t>
            </a:r>
            <a:r>
              <a:rPr sz="1200" spc="-7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sz="1200" spc="-60">
                <a:solidFill>
                  <a:srgbClr val="334155"/>
                </a:solidFill>
                <a:latin typeface="함초롬돋움"/>
                <a:cs typeface="함초롬돋움"/>
              </a:rPr>
              <a:t>가져오기/수기</a:t>
            </a:r>
            <a:r>
              <a:rPr sz="1200" spc="-75">
                <a:solidFill>
                  <a:srgbClr val="334155"/>
                </a:solidFill>
                <a:latin typeface="함초롬돋움"/>
                <a:cs typeface="함초롬돋움"/>
              </a:rPr>
              <a:t> 입력 </a:t>
            </a:r>
            <a:r>
              <a:rPr sz="1200" spc="-35">
                <a:solidFill>
                  <a:srgbClr val="334155"/>
                </a:solidFill>
                <a:latin typeface="함초롬돋움"/>
                <a:cs typeface="함초롬돋움"/>
              </a:rPr>
              <a:t>보완 </a:t>
            </a:r>
            <a:r>
              <a:rPr sz="1200" b="1" spc="-75">
                <a:solidFill>
                  <a:srgbClr val="334155"/>
                </a:solidFill>
                <a:latin typeface="함초롬돋움"/>
                <a:cs typeface="함초롬돋움"/>
              </a:rPr>
              <a:t>알고리즘</a:t>
            </a:r>
            <a:r>
              <a:rPr sz="1200" b="1" spc="-8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sz="1200" b="1" spc="-45">
                <a:solidFill>
                  <a:srgbClr val="334155"/>
                </a:solidFill>
                <a:latin typeface="함초롬돋움"/>
                <a:cs typeface="함초롬돋움"/>
              </a:rPr>
              <a:t>매칭:</a:t>
            </a:r>
            <a:r>
              <a:rPr sz="1200" b="1" spc="-8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sz="1200" spc="-75">
                <a:solidFill>
                  <a:srgbClr val="334155"/>
                </a:solidFill>
                <a:latin typeface="함초롬돋움"/>
                <a:cs typeface="함초롬돋움"/>
              </a:rPr>
              <a:t>비트</a:t>
            </a:r>
            <a:r>
              <a:rPr sz="1200" spc="-8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sz="1200" spc="-75">
                <a:solidFill>
                  <a:srgbClr val="334155"/>
                </a:solidFill>
                <a:latin typeface="함초롬돋움"/>
                <a:cs typeface="함초롬돋움"/>
              </a:rPr>
              <a:t>연산</a:t>
            </a:r>
            <a:r>
              <a:rPr sz="1200" spc="-8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sz="1200" spc="-75">
                <a:solidFill>
                  <a:srgbClr val="334155"/>
                </a:solidFill>
                <a:latin typeface="함초롬돋움"/>
                <a:cs typeface="함초롬돋움"/>
              </a:rPr>
              <a:t>기반</a:t>
            </a:r>
            <a:r>
              <a:rPr sz="1200" spc="-8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sz="1200" spc="-75">
                <a:solidFill>
                  <a:srgbClr val="334155"/>
                </a:solidFill>
                <a:latin typeface="함초롬돋움"/>
                <a:cs typeface="함초롬돋움"/>
              </a:rPr>
              <a:t>최적</a:t>
            </a:r>
            <a:r>
              <a:rPr sz="1200" spc="-85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sz="1200" spc="-75">
                <a:solidFill>
                  <a:srgbClr val="334155"/>
                </a:solidFill>
                <a:latin typeface="함초롬돋움"/>
                <a:cs typeface="함초롬돋움"/>
              </a:rPr>
              <a:t>시간</a:t>
            </a:r>
            <a:r>
              <a:rPr sz="1200" spc="-8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sz="1200" spc="-75">
                <a:solidFill>
                  <a:srgbClr val="334155"/>
                </a:solidFill>
                <a:latin typeface="함초롬돋움"/>
                <a:cs typeface="함초롬돋움"/>
              </a:rPr>
              <a:t>교집합</a:t>
            </a:r>
            <a:r>
              <a:rPr sz="1200" spc="-8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sz="1200" spc="-75">
                <a:solidFill>
                  <a:srgbClr val="334155"/>
                </a:solidFill>
                <a:latin typeface="함초롬돋움"/>
                <a:cs typeface="함초롬돋움"/>
              </a:rPr>
              <a:t>즉시</a:t>
            </a:r>
            <a:r>
              <a:rPr sz="1200" spc="-8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sz="1200" spc="-25">
                <a:solidFill>
                  <a:srgbClr val="334155"/>
                </a:solidFill>
                <a:latin typeface="함초롬돋움"/>
                <a:cs typeface="함초롬돋움"/>
              </a:rPr>
              <a:t>추출 </a:t>
            </a:r>
            <a:r>
              <a:rPr sz="1200" b="1" spc="-75">
                <a:solidFill>
                  <a:srgbClr val="334155"/>
                </a:solidFill>
                <a:latin typeface="함초롬돋움"/>
                <a:cs typeface="함초롬돋움"/>
              </a:rPr>
              <a:t>원스톱</a:t>
            </a:r>
            <a:r>
              <a:rPr sz="1200" b="1" spc="-8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sz="1200" b="1" spc="-45">
                <a:solidFill>
                  <a:srgbClr val="334155"/>
                </a:solidFill>
                <a:latin typeface="함초롬돋움"/>
                <a:cs typeface="함초롬돋움"/>
              </a:rPr>
              <a:t>조율:</a:t>
            </a:r>
            <a:r>
              <a:rPr sz="1200" b="1" spc="-8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sz="1200" spc="-75">
                <a:solidFill>
                  <a:srgbClr val="334155"/>
                </a:solidFill>
                <a:latin typeface="함초롬돋움"/>
                <a:cs typeface="함초롬돋움"/>
              </a:rPr>
              <a:t>시간</a:t>
            </a:r>
            <a:r>
              <a:rPr sz="1200" spc="-8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sz="1200" spc="-75">
                <a:solidFill>
                  <a:srgbClr val="334155"/>
                </a:solidFill>
                <a:latin typeface="함초롬돋움"/>
                <a:cs typeface="함초롬돋움"/>
              </a:rPr>
              <a:t>추출부터</a:t>
            </a:r>
            <a:r>
              <a:rPr sz="1200" spc="-8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sz="1200" spc="-75">
                <a:solidFill>
                  <a:srgbClr val="334155"/>
                </a:solidFill>
                <a:latin typeface="함초롬돋움"/>
                <a:cs typeface="함초롬돋움"/>
              </a:rPr>
              <a:t>최종</a:t>
            </a:r>
            <a:r>
              <a:rPr sz="1200" spc="-8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sz="1200" spc="-75">
                <a:solidFill>
                  <a:srgbClr val="334155"/>
                </a:solidFill>
                <a:latin typeface="함초롬돋움"/>
                <a:cs typeface="함초롬돋움"/>
              </a:rPr>
              <a:t>확정</a:t>
            </a:r>
            <a:r>
              <a:rPr sz="1200" spc="-8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sz="1200" spc="-75">
                <a:solidFill>
                  <a:srgbClr val="334155"/>
                </a:solidFill>
                <a:latin typeface="함초롬돋움"/>
                <a:cs typeface="함초롬돋움"/>
              </a:rPr>
              <a:t>및</a:t>
            </a:r>
            <a:r>
              <a:rPr sz="1200" spc="-8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sz="1200" spc="-75">
                <a:solidFill>
                  <a:srgbClr val="334155"/>
                </a:solidFill>
                <a:latin typeface="함초롬돋움"/>
                <a:cs typeface="함초롬돋움"/>
              </a:rPr>
              <a:t>공유까지</a:t>
            </a:r>
            <a:r>
              <a:rPr sz="1200" spc="-8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sz="1200" spc="-75">
                <a:solidFill>
                  <a:srgbClr val="334155"/>
                </a:solidFill>
                <a:latin typeface="함초롬돋움"/>
                <a:cs typeface="함초롬돋움"/>
              </a:rPr>
              <a:t>일관</a:t>
            </a:r>
            <a:r>
              <a:rPr sz="1200" spc="-8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sz="1200" spc="-25">
                <a:solidFill>
                  <a:srgbClr val="334155"/>
                </a:solidFill>
                <a:latin typeface="함초롬돋움"/>
                <a:cs typeface="함초롬돋움"/>
              </a:rPr>
              <a:t>제공</a:t>
            </a:r>
            <a:endParaRPr sz="1200">
              <a:latin typeface="함초롬돋움"/>
              <a:cs typeface="함초롬돋움"/>
            </a:endParaRPr>
          </a:p>
        </p:txBody>
      </p:sp>
    </p:spTree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09600" y="2758528"/>
            <a:ext cx="3505200" cy="2274570"/>
          </a:xfrm>
          <a:custGeom>
            <a:avLst/>
            <a:gdLst/>
            <a:ahLst/>
            <a:cxnLst/>
            <a:rect l="l" t="t" r="r" b="b"/>
            <a:pathLst>
              <a:path w="3505200" h="2274570">
                <a:moveTo>
                  <a:pt x="3390911" y="2274390"/>
                </a:moveTo>
                <a:lnTo>
                  <a:pt x="114288" y="2274390"/>
                </a:lnTo>
                <a:lnTo>
                  <a:pt x="69802" y="2265409"/>
                </a:lnTo>
                <a:lnTo>
                  <a:pt x="33474" y="2240916"/>
                </a:lnTo>
                <a:lnTo>
                  <a:pt x="8981" y="2204589"/>
                </a:lnTo>
                <a:lnTo>
                  <a:pt x="0" y="2160102"/>
                </a:lnTo>
                <a:lnTo>
                  <a:pt x="0" y="114288"/>
                </a:lnTo>
                <a:lnTo>
                  <a:pt x="8981" y="69802"/>
                </a:lnTo>
                <a:lnTo>
                  <a:pt x="33474" y="33474"/>
                </a:lnTo>
                <a:lnTo>
                  <a:pt x="69802" y="8981"/>
                </a:lnTo>
                <a:lnTo>
                  <a:pt x="114288" y="0"/>
                </a:lnTo>
                <a:lnTo>
                  <a:pt x="3390911" y="0"/>
                </a:lnTo>
                <a:lnTo>
                  <a:pt x="3434647" y="8699"/>
                </a:lnTo>
                <a:lnTo>
                  <a:pt x="3471725" y="33474"/>
                </a:lnTo>
                <a:lnTo>
                  <a:pt x="3496500" y="70551"/>
                </a:lnTo>
                <a:lnTo>
                  <a:pt x="3505199" y="114288"/>
                </a:lnTo>
                <a:lnTo>
                  <a:pt x="3505199" y="2160102"/>
                </a:lnTo>
                <a:lnTo>
                  <a:pt x="3496218" y="2204589"/>
                </a:lnTo>
                <a:lnTo>
                  <a:pt x="3471725" y="2240916"/>
                </a:lnTo>
                <a:lnTo>
                  <a:pt x="3435398" y="2265409"/>
                </a:lnTo>
                <a:lnTo>
                  <a:pt x="3390911" y="2274390"/>
                </a:lnTo>
                <a:close/>
              </a:path>
            </a:pathLst>
          </a:custGeom>
          <a:solidFill>
            <a:srgbClr val="F7FA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4343400" y="2758528"/>
            <a:ext cx="3505200" cy="2274570"/>
          </a:xfrm>
          <a:custGeom>
            <a:avLst/>
            <a:gdLst/>
            <a:ahLst/>
            <a:cxnLst/>
            <a:rect l="l" t="t" r="r" b="b"/>
            <a:pathLst>
              <a:path w="3505200" h="2274570">
                <a:moveTo>
                  <a:pt x="3390911" y="2274390"/>
                </a:moveTo>
                <a:lnTo>
                  <a:pt x="114288" y="2274390"/>
                </a:lnTo>
                <a:lnTo>
                  <a:pt x="69801" y="2265409"/>
                </a:lnTo>
                <a:lnTo>
                  <a:pt x="33474" y="2240916"/>
                </a:lnTo>
                <a:lnTo>
                  <a:pt x="8981" y="2204589"/>
                </a:lnTo>
                <a:lnTo>
                  <a:pt x="0" y="2160102"/>
                </a:lnTo>
                <a:lnTo>
                  <a:pt x="0" y="114288"/>
                </a:lnTo>
                <a:lnTo>
                  <a:pt x="8981" y="69802"/>
                </a:lnTo>
                <a:lnTo>
                  <a:pt x="33474" y="33474"/>
                </a:lnTo>
                <a:lnTo>
                  <a:pt x="69801" y="8981"/>
                </a:lnTo>
                <a:lnTo>
                  <a:pt x="114288" y="0"/>
                </a:lnTo>
                <a:lnTo>
                  <a:pt x="3390911" y="0"/>
                </a:lnTo>
                <a:lnTo>
                  <a:pt x="3434647" y="8699"/>
                </a:lnTo>
                <a:lnTo>
                  <a:pt x="3471725" y="33474"/>
                </a:lnTo>
                <a:lnTo>
                  <a:pt x="3496500" y="70551"/>
                </a:lnTo>
                <a:lnTo>
                  <a:pt x="3505199" y="114288"/>
                </a:lnTo>
                <a:lnTo>
                  <a:pt x="3505199" y="2160102"/>
                </a:lnTo>
                <a:lnTo>
                  <a:pt x="3496218" y="2204589"/>
                </a:lnTo>
                <a:lnTo>
                  <a:pt x="3471725" y="2240916"/>
                </a:lnTo>
                <a:lnTo>
                  <a:pt x="3435397" y="2265409"/>
                </a:lnTo>
                <a:lnTo>
                  <a:pt x="3390911" y="2274390"/>
                </a:lnTo>
                <a:close/>
              </a:path>
            </a:pathLst>
          </a:custGeom>
          <a:solidFill>
            <a:srgbClr val="F7FA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8077200" y="2880418"/>
            <a:ext cx="3505200" cy="2030730"/>
          </a:xfrm>
          <a:custGeom>
            <a:avLst/>
            <a:gdLst/>
            <a:ahLst/>
            <a:cxnLst/>
            <a:rect l="l" t="t" r="r" b="b"/>
            <a:pathLst>
              <a:path w="3505200" h="2030729">
                <a:moveTo>
                  <a:pt x="3390917" y="2030609"/>
                </a:moveTo>
                <a:lnTo>
                  <a:pt x="114282" y="2030609"/>
                </a:lnTo>
                <a:lnTo>
                  <a:pt x="69798" y="2021629"/>
                </a:lnTo>
                <a:lnTo>
                  <a:pt x="33472" y="1997137"/>
                </a:lnTo>
                <a:lnTo>
                  <a:pt x="8980" y="1960811"/>
                </a:lnTo>
                <a:lnTo>
                  <a:pt x="0" y="1916326"/>
                </a:lnTo>
                <a:lnTo>
                  <a:pt x="0" y="114282"/>
                </a:lnTo>
                <a:lnTo>
                  <a:pt x="8980" y="69798"/>
                </a:lnTo>
                <a:lnTo>
                  <a:pt x="33472" y="33472"/>
                </a:lnTo>
                <a:lnTo>
                  <a:pt x="69798" y="8980"/>
                </a:lnTo>
                <a:lnTo>
                  <a:pt x="114282" y="0"/>
                </a:lnTo>
                <a:lnTo>
                  <a:pt x="3390917" y="0"/>
                </a:lnTo>
                <a:lnTo>
                  <a:pt x="3434651" y="8699"/>
                </a:lnTo>
                <a:lnTo>
                  <a:pt x="3471727" y="33472"/>
                </a:lnTo>
                <a:lnTo>
                  <a:pt x="3496500" y="70548"/>
                </a:lnTo>
                <a:lnTo>
                  <a:pt x="3505199" y="114282"/>
                </a:lnTo>
                <a:lnTo>
                  <a:pt x="3505199" y="1916326"/>
                </a:lnTo>
                <a:lnTo>
                  <a:pt x="3496219" y="1960811"/>
                </a:lnTo>
                <a:lnTo>
                  <a:pt x="3471727" y="1997137"/>
                </a:lnTo>
                <a:lnTo>
                  <a:pt x="3435401" y="2021629"/>
                </a:lnTo>
                <a:lnTo>
                  <a:pt x="3390917" y="2030609"/>
                </a:lnTo>
                <a:close/>
              </a:path>
            </a:pathLst>
          </a:custGeom>
          <a:solidFill>
            <a:srgbClr val="F7FAF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13966" y="3063329"/>
            <a:ext cx="296464" cy="38099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47767" y="3063329"/>
            <a:ext cx="296464" cy="38099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681567" y="3185219"/>
            <a:ext cx="296464" cy="380999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596900" y="439165"/>
            <a:ext cx="104013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b="1">
                <a:solidFill>
                  <a:srgbClr val="EA580C"/>
                </a:solidFill>
                <a:latin typeface="함초롬돋움"/>
                <a:cs typeface="함초롬돋움"/>
              </a:rPr>
              <a:t>GOALS</a:t>
            </a:r>
            <a:r>
              <a:rPr dirty="0" sz="1050" spc="-40" b="1">
                <a:solidFill>
                  <a:srgbClr val="EA580C"/>
                </a:solidFill>
                <a:latin typeface="함초롬돋움"/>
                <a:cs typeface="함초롬돋움"/>
              </a:rPr>
              <a:t> </a:t>
            </a:r>
            <a:r>
              <a:rPr dirty="0" sz="1050" spc="-30" b="1">
                <a:solidFill>
                  <a:srgbClr val="EA580C"/>
                </a:solidFill>
                <a:latin typeface="함초롬돋움"/>
                <a:cs typeface="함초롬돋움"/>
              </a:rPr>
              <a:t>&amp;</a:t>
            </a:r>
            <a:r>
              <a:rPr dirty="0" sz="1050" spc="-35" b="1">
                <a:solidFill>
                  <a:srgbClr val="EA580C"/>
                </a:solidFill>
                <a:latin typeface="함초롬돋움"/>
                <a:cs typeface="함초롬돋움"/>
              </a:rPr>
              <a:t> </a:t>
            </a:r>
            <a:r>
              <a:rPr dirty="0" sz="1050" spc="-10" b="1">
                <a:solidFill>
                  <a:srgbClr val="EA580C"/>
                </a:solidFill>
                <a:latin typeface="함초롬돋움"/>
                <a:cs typeface="함초롬돋움"/>
              </a:rPr>
              <a:t>VALUE</a:t>
            </a:r>
            <a:endParaRPr sz="1050">
              <a:latin typeface="함초롬돋움"/>
              <a:cs typeface="함초롬돋움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596900" y="641858"/>
            <a:ext cx="282638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5"/>
              <a:t>개발</a:t>
            </a:r>
            <a:r>
              <a:rPr dirty="0" spc="-175"/>
              <a:t> </a:t>
            </a:r>
            <a:r>
              <a:rPr dirty="0" spc="-145"/>
              <a:t>목표</a:t>
            </a:r>
            <a:r>
              <a:rPr dirty="0" spc="-170"/>
              <a:t> </a:t>
            </a:r>
            <a:r>
              <a:rPr dirty="0" spc="-145"/>
              <a:t>및</a:t>
            </a:r>
            <a:r>
              <a:rPr dirty="0" spc="-170"/>
              <a:t> </a:t>
            </a:r>
            <a:r>
              <a:rPr dirty="0" spc="-145"/>
              <a:t>기대</a:t>
            </a:r>
            <a:r>
              <a:rPr dirty="0" spc="-170"/>
              <a:t> </a:t>
            </a:r>
            <a:r>
              <a:rPr dirty="0" spc="-25"/>
              <a:t>효과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653588" y="3575646"/>
            <a:ext cx="3417570" cy="9036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650" spc="-105" b="1">
                <a:solidFill>
                  <a:srgbClr val="0F172A"/>
                </a:solidFill>
                <a:latin typeface="함초롬돋움"/>
                <a:cs typeface="함초롬돋움"/>
              </a:rPr>
              <a:t>시간</a:t>
            </a:r>
            <a:r>
              <a:rPr dirty="0" sz="1650" spc="-110" b="1">
                <a:solidFill>
                  <a:srgbClr val="0F172A"/>
                </a:solidFill>
                <a:latin typeface="함초롬돋움"/>
                <a:cs typeface="함초롬돋움"/>
              </a:rPr>
              <a:t> </a:t>
            </a:r>
            <a:r>
              <a:rPr dirty="0" sz="1650" spc="-35" b="1">
                <a:solidFill>
                  <a:srgbClr val="0F172A"/>
                </a:solidFill>
                <a:latin typeface="함초롬돋움"/>
                <a:cs typeface="함초롬돋움"/>
              </a:rPr>
              <a:t>단축</a:t>
            </a:r>
            <a:endParaRPr sz="1650">
              <a:latin typeface="함초롬돋움"/>
              <a:cs typeface="함초롬돋움"/>
            </a:endParaRPr>
          </a:p>
          <a:p>
            <a:pPr algn="ctr" marL="12700" marR="5080">
              <a:lnSpc>
                <a:spcPct val="160000"/>
              </a:lnSpc>
              <a:spcBef>
                <a:spcPts val="325"/>
              </a:spcBef>
            </a:pPr>
            <a:r>
              <a:rPr dirty="0" sz="1200" spc="-75">
                <a:solidFill>
                  <a:srgbClr val="475568"/>
                </a:solidFill>
                <a:latin typeface="함초롬돋움"/>
                <a:cs typeface="함초롬돋움"/>
              </a:rPr>
              <a:t>수십</a:t>
            </a:r>
            <a:r>
              <a:rPr dirty="0" sz="1200" spc="-85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200" spc="-75">
                <a:solidFill>
                  <a:srgbClr val="475568"/>
                </a:solidFill>
                <a:latin typeface="함초롬돋움"/>
                <a:cs typeface="함초롬돋움"/>
              </a:rPr>
              <a:t>분</a:t>
            </a:r>
            <a:r>
              <a:rPr dirty="0" sz="1200" spc="-85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200" spc="-75">
                <a:solidFill>
                  <a:srgbClr val="475568"/>
                </a:solidFill>
                <a:latin typeface="함초롬돋움"/>
                <a:cs typeface="함초롬돋움"/>
              </a:rPr>
              <a:t>이상</a:t>
            </a:r>
            <a:r>
              <a:rPr dirty="0" sz="1200" spc="-80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200" spc="-75">
                <a:solidFill>
                  <a:srgbClr val="475568"/>
                </a:solidFill>
                <a:latin typeface="함초롬돋움"/>
                <a:cs typeface="함초롬돋움"/>
              </a:rPr>
              <a:t>소요되던</a:t>
            </a:r>
            <a:r>
              <a:rPr dirty="0" sz="1200" spc="-85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200" spc="-75">
                <a:solidFill>
                  <a:srgbClr val="475568"/>
                </a:solidFill>
                <a:latin typeface="함초롬돋움"/>
                <a:cs typeface="함초롬돋움"/>
              </a:rPr>
              <a:t>모임</a:t>
            </a:r>
            <a:r>
              <a:rPr dirty="0" sz="1200" spc="-85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200" spc="-75">
                <a:solidFill>
                  <a:srgbClr val="475568"/>
                </a:solidFill>
                <a:latin typeface="함초롬돋움"/>
                <a:cs typeface="함초롬돋움"/>
              </a:rPr>
              <a:t>시간</a:t>
            </a:r>
            <a:r>
              <a:rPr dirty="0" sz="1200" spc="-80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200" spc="-75">
                <a:solidFill>
                  <a:srgbClr val="475568"/>
                </a:solidFill>
                <a:latin typeface="함초롬돋움"/>
                <a:cs typeface="함초롬돋움"/>
              </a:rPr>
              <a:t>조율</a:t>
            </a:r>
            <a:r>
              <a:rPr dirty="0" sz="1200" spc="-85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200" spc="-75">
                <a:solidFill>
                  <a:srgbClr val="475568"/>
                </a:solidFill>
                <a:latin typeface="함초롬돋움"/>
                <a:cs typeface="함초롬돋움"/>
              </a:rPr>
              <a:t>과정을</a:t>
            </a:r>
            <a:r>
              <a:rPr dirty="0" sz="1200" spc="-85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200" spc="-75">
                <a:solidFill>
                  <a:srgbClr val="475568"/>
                </a:solidFill>
                <a:latin typeface="함초롬돋움"/>
                <a:cs typeface="함초롬돋움"/>
              </a:rPr>
              <a:t>자동</a:t>
            </a:r>
            <a:r>
              <a:rPr dirty="0" sz="1200" spc="-80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200" spc="-25">
                <a:solidFill>
                  <a:srgbClr val="475568"/>
                </a:solidFill>
                <a:latin typeface="함초롬돋움"/>
                <a:cs typeface="함초롬돋움"/>
              </a:rPr>
              <a:t>매칭 </a:t>
            </a:r>
            <a:r>
              <a:rPr dirty="0" sz="1200" spc="-75">
                <a:solidFill>
                  <a:srgbClr val="475568"/>
                </a:solidFill>
                <a:latin typeface="함초롬돋움"/>
                <a:cs typeface="함초롬돋움"/>
              </a:rPr>
              <a:t>알고리즘을</a:t>
            </a:r>
            <a:r>
              <a:rPr dirty="0" sz="1200" spc="-85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200" spc="-75">
                <a:solidFill>
                  <a:srgbClr val="475568"/>
                </a:solidFill>
                <a:latin typeface="함초롬돋움"/>
                <a:cs typeface="함초롬돋움"/>
              </a:rPr>
              <a:t>통해</a:t>
            </a:r>
            <a:r>
              <a:rPr dirty="0" sz="1200" spc="-85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200" spc="-75">
                <a:solidFill>
                  <a:srgbClr val="475568"/>
                </a:solidFill>
                <a:latin typeface="함초롬돋움"/>
                <a:cs typeface="함초롬돋움"/>
              </a:rPr>
              <a:t>단</a:t>
            </a:r>
            <a:r>
              <a:rPr dirty="0" sz="1200" spc="-85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200" spc="-75">
                <a:solidFill>
                  <a:srgbClr val="475568"/>
                </a:solidFill>
                <a:latin typeface="함초롬돋움"/>
                <a:cs typeface="함초롬돋움"/>
              </a:rPr>
              <a:t>수</a:t>
            </a:r>
            <a:r>
              <a:rPr dirty="0" sz="1200" spc="-85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200" spc="-75">
                <a:solidFill>
                  <a:srgbClr val="475568"/>
                </a:solidFill>
                <a:latin typeface="함초롬돋움"/>
                <a:cs typeface="함초롬돋움"/>
              </a:rPr>
              <a:t>초</a:t>
            </a:r>
            <a:r>
              <a:rPr dirty="0" sz="1200" spc="-85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200" spc="-75">
                <a:solidFill>
                  <a:srgbClr val="475568"/>
                </a:solidFill>
                <a:latin typeface="함초롬돋움"/>
                <a:cs typeface="함초롬돋움"/>
              </a:rPr>
              <a:t>내로</a:t>
            </a:r>
            <a:r>
              <a:rPr dirty="0" sz="1200" spc="-85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200" spc="-25">
                <a:solidFill>
                  <a:srgbClr val="475568"/>
                </a:solidFill>
                <a:latin typeface="함초롬돋움"/>
                <a:cs typeface="함초롬돋움"/>
              </a:rPr>
              <a:t>단축</a:t>
            </a:r>
            <a:endParaRPr sz="1200">
              <a:latin typeface="함초롬돋움"/>
              <a:cs typeface="함초롬돋움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438595" y="3575646"/>
            <a:ext cx="3315335" cy="9036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650" spc="-105" b="1">
                <a:solidFill>
                  <a:srgbClr val="0F172A"/>
                </a:solidFill>
                <a:latin typeface="함초롬돋움"/>
                <a:cs typeface="함초롬돋움"/>
              </a:rPr>
              <a:t>확장성</a:t>
            </a:r>
            <a:r>
              <a:rPr dirty="0" sz="1650" spc="-100" b="1">
                <a:solidFill>
                  <a:srgbClr val="0F172A"/>
                </a:solidFill>
                <a:latin typeface="함초롬돋움"/>
                <a:cs typeface="함초롬돋움"/>
              </a:rPr>
              <a:t> </a:t>
            </a:r>
            <a:r>
              <a:rPr dirty="0" sz="1650" spc="-25" b="1">
                <a:solidFill>
                  <a:srgbClr val="0F172A"/>
                </a:solidFill>
                <a:latin typeface="함초롬돋움"/>
                <a:cs typeface="함초롬돋움"/>
              </a:rPr>
              <a:t>확보</a:t>
            </a:r>
            <a:endParaRPr sz="1650">
              <a:latin typeface="함초롬돋움"/>
              <a:cs typeface="함초롬돋움"/>
            </a:endParaRPr>
          </a:p>
          <a:p>
            <a:pPr algn="ctr" marL="12700" marR="5080">
              <a:lnSpc>
                <a:spcPct val="160000"/>
              </a:lnSpc>
              <a:spcBef>
                <a:spcPts val="325"/>
              </a:spcBef>
            </a:pPr>
            <a:r>
              <a:rPr dirty="0" sz="1200" spc="-75">
                <a:solidFill>
                  <a:srgbClr val="475568"/>
                </a:solidFill>
                <a:latin typeface="함초롬돋움"/>
                <a:cs typeface="함초롬돋움"/>
              </a:rPr>
              <a:t>모임</a:t>
            </a:r>
            <a:r>
              <a:rPr dirty="0" sz="1200" spc="-80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200" spc="-75">
                <a:solidFill>
                  <a:srgbClr val="475568"/>
                </a:solidFill>
                <a:latin typeface="함초롬돋움"/>
                <a:cs typeface="함초롬돋움"/>
              </a:rPr>
              <a:t>인원이</a:t>
            </a:r>
            <a:r>
              <a:rPr dirty="0" sz="1200" spc="-80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200" spc="-75">
                <a:solidFill>
                  <a:srgbClr val="475568"/>
                </a:solidFill>
                <a:latin typeface="함초롬돋움"/>
                <a:cs typeface="함초롬돋움"/>
              </a:rPr>
              <a:t>증가해도</a:t>
            </a:r>
            <a:r>
              <a:rPr dirty="0" sz="1200" spc="-80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200" spc="-75">
                <a:solidFill>
                  <a:srgbClr val="475568"/>
                </a:solidFill>
                <a:latin typeface="함초롬돋움"/>
                <a:cs typeface="함초롬돋움"/>
              </a:rPr>
              <a:t>안정적인</a:t>
            </a:r>
            <a:r>
              <a:rPr dirty="0" sz="1200" spc="-80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200" spc="-75">
                <a:solidFill>
                  <a:srgbClr val="475568"/>
                </a:solidFill>
                <a:latin typeface="함초롬돋움"/>
                <a:cs typeface="함초롬돋움"/>
              </a:rPr>
              <a:t>연산</a:t>
            </a:r>
            <a:r>
              <a:rPr dirty="0" sz="1200" spc="-80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200" spc="-75">
                <a:solidFill>
                  <a:srgbClr val="475568"/>
                </a:solidFill>
                <a:latin typeface="함초롬돋움"/>
                <a:cs typeface="함초롬돋움"/>
              </a:rPr>
              <a:t>성능을</a:t>
            </a:r>
            <a:r>
              <a:rPr dirty="0" sz="1200" spc="-80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200" spc="-20">
                <a:solidFill>
                  <a:srgbClr val="475568"/>
                </a:solidFill>
                <a:latin typeface="함초롬돋움"/>
                <a:cs typeface="함초롬돋움"/>
              </a:rPr>
              <a:t>보장하는 </a:t>
            </a:r>
            <a:r>
              <a:rPr dirty="0" sz="1200" spc="-75">
                <a:solidFill>
                  <a:srgbClr val="475568"/>
                </a:solidFill>
                <a:latin typeface="함초롬돋움"/>
                <a:cs typeface="함초롬돋움"/>
              </a:rPr>
              <a:t>설계를</a:t>
            </a:r>
            <a:r>
              <a:rPr dirty="0" sz="1200" spc="-85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200" spc="-75">
                <a:solidFill>
                  <a:srgbClr val="475568"/>
                </a:solidFill>
                <a:latin typeface="함초롬돋움"/>
                <a:cs typeface="함초롬돋움"/>
              </a:rPr>
              <a:t>통해</a:t>
            </a:r>
            <a:r>
              <a:rPr dirty="0" sz="1200" spc="-80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200" spc="-75">
                <a:solidFill>
                  <a:srgbClr val="475568"/>
                </a:solidFill>
                <a:latin typeface="함초롬돋움"/>
                <a:cs typeface="함초롬돋움"/>
              </a:rPr>
              <a:t>대규모</a:t>
            </a:r>
            <a:r>
              <a:rPr dirty="0" sz="1200" spc="-85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200" spc="-75">
                <a:solidFill>
                  <a:srgbClr val="475568"/>
                </a:solidFill>
                <a:latin typeface="함초롬돋움"/>
                <a:cs typeface="함초롬돋움"/>
              </a:rPr>
              <a:t>사용자</a:t>
            </a:r>
            <a:r>
              <a:rPr dirty="0" sz="1200" spc="-80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200" spc="-75">
                <a:solidFill>
                  <a:srgbClr val="475568"/>
                </a:solidFill>
                <a:latin typeface="함초롬돋움"/>
                <a:cs typeface="함초롬돋움"/>
              </a:rPr>
              <a:t>확장</a:t>
            </a:r>
            <a:r>
              <a:rPr dirty="0" sz="1200" spc="-80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200" spc="-75">
                <a:solidFill>
                  <a:srgbClr val="475568"/>
                </a:solidFill>
                <a:latin typeface="함초롬돋움"/>
                <a:cs typeface="함초롬돋움"/>
              </a:rPr>
              <a:t>기반</a:t>
            </a:r>
            <a:r>
              <a:rPr dirty="0" sz="1200" spc="-85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200" spc="-25">
                <a:solidFill>
                  <a:srgbClr val="475568"/>
                </a:solidFill>
                <a:latin typeface="함초롬돋움"/>
                <a:cs typeface="함초롬돋움"/>
              </a:rPr>
              <a:t>마련</a:t>
            </a:r>
            <a:endParaRPr sz="1200">
              <a:latin typeface="함초롬돋움"/>
              <a:cs typeface="함초롬돋움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8212629" y="3697537"/>
            <a:ext cx="3234690" cy="9036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650" spc="-105" b="1">
                <a:solidFill>
                  <a:srgbClr val="0F172A"/>
                </a:solidFill>
                <a:latin typeface="함초롬돋움"/>
                <a:cs typeface="함초롬돋움"/>
              </a:rPr>
              <a:t>사용자</a:t>
            </a:r>
            <a:r>
              <a:rPr dirty="0" sz="1650" spc="-100" b="1">
                <a:solidFill>
                  <a:srgbClr val="0F172A"/>
                </a:solidFill>
                <a:latin typeface="함초롬돋움"/>
                <a:cs typeface="함초롬돋움"/>
              </a:rPr>
              <a:t> </a:t>
            </a:r>
            <a:r>
              <a:rPr dirty="0" sz="1650" spc="-25" b="1">
                <a:solidFill>
                  <a:srgbClr val="0F172A"/>
                </a:solidFill>
                <a:latin typeface="함초롬돋움"/>
                <a:cs typeface="함초롬돋움"/>
              </a:rPr>
              <a:t>편의성</a:t>
            </a:r>
            <a:endParaRPr sz="1650">
              <a:latin typeface="함초롬돋움"/>
              <a:cs typeface="함초롬돋움"/>
            </a:endParaRPr>
          </a:p>
          <a:p>
            <a:pPr algn="ctr" marL="12065" marR="5080">
              <a:lnSpc>
                <a:spcPct val="160000"/>
              </a:lnSpc>
              <a:spcBef>
                <a:spcPts val="325"/>
              </a:spcBef>
            </a:pPr>
            <a:r>
              <a:rPr dirty="0" sz="1200" spc="-75">
                <a:solidFill>
                  <a:srgbClr val="475568"/>
                </a:solidFill>
                <a:latin typeface="함초롬돋움"/>
                <a:cs typeface="함초롬돋움"/>
              </a:rPr>
              <a:t>직관적인</a:t>
            </a:r>
            <a:r>
              <a:rPr dirty="0" sz="1200" spc="-80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200" spc="-75">
                <a:solidFill>
                  <a:srgbClr val="475568"/>
                </a:solidFill>
                <a:latin typeface="함초롬돋움"/>
                <a:cs typeface="함초롬돋움"/>
              </a:rPr>
              <a:t>컬러맵 시각화 및 </a:t>
            </a:r>
            <a:r>
              <a:rPr dirty="0" sz="1200" spc="-60">
                <a:solidFill>
                  <a:srgbClr val="475568"/>
                </a:solidFill>
                <a:latin typeface="함초롬돋움"/>
                <a:cs typeface="함초롬돋움"/>
              </a:rPr>
              <a:t>투표/메모</a:t>
            </a:r>
            <a:r>
              <a:rPr dirty="0" sz="1200" spc="-80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200" spc="-75">
                <a:solidFill>
                  <a:srgbClr val="475568"/>
                </a:solidFill>
                <a:latin typeface="함초롬돋움"/>
                <a:cs typeface="함초롬돋움"/>
              </a:rPr>
              <a:t>기능 </a:t>
            </a:r>
            <a:r>
              <a:rPr dirty="0" sz="1200" spc="-25">
                <a:solidFill>
                  <a:srgbClr val="475568"/>
                </a:solidFill>
                <a:latin typeface="함초롬돋움"/>
                <a:cs typeface="함초롬돋움"/>
              </a:rPr>
              <a:t>지원으로 </a:t>
            </a:r>
            <a:r>
              <a:rPr dirty="0" sz="1200" spc="-75">
                <a:solidFill>
                  <a:srgbClr val="475568"/>
                </a:solidFill>
                <a:latin typeface="함초롬돋움"/>
                <a:cs typeface="함초롬돋움"/>
              </a:rPr>
              <a:t>의사결정 스트레스 </a:t>
            </a:r>
            <a:r>
              <a:rPr dirty="0" sz="1200" spc="-25">
                <a:solidFill>
                  <a:srgbClr val="475568"/>
                </a:solidFill>
                <a:latin typeface="함초롬돋움"/>
                <a:cs typeface="함초롬돋움"/>
              </a:rPr>
              <a:t>해소</a:t>
            </a:r>
            <a:endParaRPr sz="1200">
              <a:latin typeface="함초롬돋움"/>
              <a:cs typeface="함초롬돋움"/>
            </a:endParaRPr>
          </a:p>
        </p:txBody>
      </p:sp>
    </p:spTree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 descr=""/>
          <p:cNvSpPr txBox="1"/>
          <p:nvPr/>
        </p:nvSpPr>
        <p:spPr>
          <a:xfrm>
            <a:off x="596900" y="439165"/>
            <a:ext cx="121602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 b="1">
                <a:solidFill>
                  <a:srgbClr val="EA580C"/>
                </a:solidFill>
                <a:latin typeface="함초롬돋움"/>
                <a:cs typeface="함초롬돋움"/>
              </a:rPr>
              <a:t>IDEA</a:t>
            </a:r>
            <a:r>
              <a:rPr dirty="0" sz="1050" spc="-65" b="1">
                <a:solidFill>
                  <a:srgbClr val="EA580C"/>
                </a:solidFill>
                <a:latin typeface="함초롬돋움"/>
                <a:cs typeface="함초롬돋움"/>
              </a:rPr>
              <a:t> </a:t>
            </a:r>
            <a:r>
              <a:rPr dirty="0" sz="1050" spc="-10" b="1">
                <a:solidFill>
                  <a:srgbClr val="EA580C"/>
                </a:solidFill>
                <a:latin typeface="함초롬돋움"/>
                <a:cs typeface="함초롬돋움"/>
              </a:rPr>
              <a:t>GENERATION</a:t>
            </a:r>
            <a:endParaRPr sz="1050">
              <a:latin typeface="함초롬돋움"/>
              <a:cs typeface="함초롬돋움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96900" y="641858"/>
            <a:ext cx="419671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5"/>
              <a:t>아이디어</a:t>
            </a:r>
            <a:r>
              <a:rPr dirty="0" spc="-170"/>
              <a:t> </a:t>
            </a:r>
            <a:r>
              <a:rPr dirty="0" spc="-145"/>
              <a:t>창출</a:t>
            </a:r>
            <a:r>
              <a:rPr dirty="0" spc="-165"/>
              <a:t> </a:t>
            </a:r>
            <a:r>
              <a:rPr dirty="0" spc="-145"/>
              <a:t>및</a:t>
            </a:r>
            <a:r>
              <a:rPr dirty="0" spc="-170"/>
              <a:t> </a:t>
            </a:r>
            <a:r>
              <a:rPr dirty="0" spc="-25"/>
              <a:t>5대</a:t>
            </a:r>
            <a:r>
              <a:rPr dirty="0" spc="-165"/>
              <a:t> </a:t>
            </a:r>
            <a:r>
              <a:rPr dirty="0" spc="-145"/>
              <a:t>영역</a:t>
            </a:r>
            <a:r>
              <a:rPr dirty="0" spc="-170"/>
              <a:t> </a:t>
            </a:r>
            <a:r>
              <a:rPr dirty="0" spc="-35"/>
              <a:t>구조화</a:t>
            </a:r>
          </a:p>
        </p:txBody>
      </p:sp>
      <p:pic>
        <p:nvPicPr>
          <p:cNvPr id="14" name="그림 13"/>
          <p:cNvPicPr/>
          <p:nvPr/>
        </p:nvPicPr>
        <p:blipFill rotWithShape="1">
          <a:blip r:embed="rId2"/>
          <a:stretch>
            <a:fillRect/>
          </a:stretch>
        </p:blipFill>
        <p:spPr>
          <a:xfrm>
            <a:off x="990600" y="1371600"/>
            <a:ext cx="5261610" cy="4831969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18" name=""/>
          <p:cNvGrpSpPr/>
          <p:nvPr/>
        </p:nvGrpSpPr>
        <p:grpSpPr>
          <a:xfrm rot="0">
            <a:off x="7315200" y="1714500"/>
            <a:ext cx="3556000" cy="3429000"/>
            <a:chOff x="7035800" y="1447800"/>
            <a:chExt cx="3556000" cy="3429000"/>
          </a:xfrm>
        </p:grpSpPr>
        <p:sp>
          <p:nvSpPr>
            <p:cNvPr id="15" name="object 2"/>
            <p:cNvSpPr/>
            <p:nvPr/>
          </p:nvSpPr>
          <p:spPr>
            <a:xfrm>
              <a:off x="7035800" y="1447800"/>
              <a:ext cx="3556000" cy="3429000"/>
            </a:xfrm>
            <a:custGeom>
              <a:avLst/>
              <a:gdLst/>
              <a:rect l="l" t="t" r="r" b="b"/>
              <a:pathLst>
                <a:path w="3556000" h="1028700">
                  <a:moveTo>
                    <a:pt x="3479754" y="1028699"/>
                  </a:moveTo>
                  <a:lnTo>
                    <a:pt x="76195" y="1028699"/>
                  </a:lnTo>
                  <a:lnTo>
                    <a:pt x="46536" y="1022712"/>
                  </a:lnTo>
                  <a:lnTo>
                    <a:pt x="22317" y="1006382"/>
                  </a:lnTo>
                  <a:lnTo>
                    <a:pt x="5987" y="982163"/>
                  </a:lnTo>
                  <a:lnTo>
                    <a:pt x="0" y="952504"/>
                  </a:lnTo>
                  <a:lnTo>
                    <a:pt x="0" y="76195"/>
                  </a:lnTo>
                  <a:lnTo>
                    <a:pt x="5987" y="46536"/>
                  </a:lnTo>
                  <a:lnTo>
                    <a:pt x="22317" y="22317"/>
                  </a:lnTo>
                  <a:lnTo>
                    <a:pt x="46536" y="5987"/>
                  </a:lnTo>
                  <a:lnTo>
                    <a:pt x="76195" y="0"/>
                  </a:lnTo>
                  <a:lnTo>
                    <a:pt x="3479754" y="0"/>
                  </a:lnTo>
                  <a:lnTo>
                    <a:pt x="3522027" y="12801"/>
                  </a:lnTo>
                  <a:lnTo>
                    <a:pt x="3550149" y="47036"/>
                  </a:lnTo>
                  <a:lnTo>
                    <a:pt x="3555949" y="76195"/>
                  </a:lnTo>
                  <a:lnTo>
                    <a:pt x="3555949" y="952504"/>
                  </a:lnTo>
                  <a:lnTo>
                    <a:pt x="3549962" y="982163"/>
                  </a:lnTo>
                  <a:lnTo>
                    <a:pt x="3533632" y="1006382"/>
                  </a:lnTo>
                  <a:lnTo>
                    <a:pt x="3509413" y="1022712"/>
                  </a:lnTo>
                  <a:lnTo>
                    <a:pt x="3479754" y="1028699"/>
                  </a:lnTo>
                  <a:close/>
                </a:path>
              </a:pathLst>
            </a:custGeom>
            <a:solidFill>
              <a:srgbClr val="eef6ff"/>
            </a:solidFill>
          </p:spPr>
          <p:txBody>
            <a:bodyPr wrap="square" lIns="0" tIns="0" rIns="0" bIns="0"/>
            <a:lstStyle/>
            <a:p>
              <a:pPr lvl="0">
                <a:defRPr/>
              </a:pPr>
              <a:endParaRPr lang="ko-KR" altLang="en-US"/>
            </a:p>
          </p:txBody>
        </p:sp>
        <p:sp>
          <p:nvSpPr>
            <p:cNvPr id="16" name="object 9"/>
            <p:cNvSpPr txBox="1"/>
            <p:nvPr/>
          </p:nvSpPr>
          <p:spPr>
            <a:xfrm>
              <a:off x="7430768" y="2876550"/>
              <a:ext cx="2799716" cy="800100"/>
            </a:xfrm>
            <a:prstGeom prst="rect">
              <a:avLst/>
            </a:prstGeom>
          </p:spPr>
          <p:txBody>
            <a:bodyPr vert="horz" wrap="square" lIns="0" tIns="12700" rIns="0" bIns="0">
              <a:spAutoFit/>
            </a:bodyPr>
            <a:lstStyle/>
            <a:p>
              <a:pPr marL="12700" lvl="0" algn="ctr">
                <a:lnSpc>
                  <a:spcPct val="100000"/>
                </a:lnSpc>
                <a:spcBef>
                  <a:spcPts val="790"/>
                </a:spcBef>
                <a:defRPr/>
              </a:pPr>
              <a:r>
                <a:rPr lang="en-US" altLang="ko-KR" sz="1300" spc="-60">
                  <a:solidFill>
                    <a:srgbClr val="334155"/>
                  </a:solidFill>
                  <a:latin typeface="함초롬돋움"/>
                  <a:ea typeface="+mj-ea"/>
                  <a:cs typeface="함초롬돋움"/>
                </a:rPr>
                <a:t>-</a:t>
              </a:r>
              <a:r>
                <a:rPr lang="ko-KR" altLang="en-US" sz="1300" spc="-60">
                  <a:solidFill>
                    <a:srgbClr val="334155"/>
                  </a:solidFill>
                  <a:latin typeface="함초롬돋움"/>
                  <a:ea typeface="+mj-ea"/>
                  <a:cs typeface="함초롬돋움"/>
                </a:rPr>
                <a:t>로그인</a:t>
              </a:r>
              <a:endParaRPr lang="ko-KR" altLang="en-US" sz="1300" spc="-60">
                <a:solidFill>
                  <a:srgbClr val="334155"/>
                </a:solidFill>
                <a:latin typeface="함초롬돋움"/>
                <a:ea typeface="+mj-ea"/>
                <a:cs typeface="함초롬돋움"/>
              </a:endParaRPr>
            </a:p>
            <a:p>
              <a:pPr marL="12700" lvl="0" algn="ctr">
                <a:lnSpc>
                  <a:spcPct val="100000"/>
                </a:lnSpc>
                <a:spcBef>
                  <a:spcPts val="790"/>
                </a:spcBef>
                <a:defRPr/>
              </a:pPr>
              <a:r>
                <a:rPr lang="en-US" altLang="ko-KR" sz="1300" spc="-60">
                  <a:solidFill>
                    <a:srgbClr val="334155"/>
                  </a:solidFill>
                  <a:latin typeface="함초롬돋움"/>
                  <a:ea typeface="+mj-ea"/>
                  <a:cs typeface="함초롬돋움"/>
                </a:rPr>
                <a:t>-</a:t>
              </a:r>
              <a:r>
                <a:rPr lang="ko-KR" altLang="en-US" sz="1300" spc="-60">
                  <a:solidFill>
                    <a:srgbClr val="334155"/>
                  </a:solidFill>
                  <a:latin typeface="함초롬돋움"/>
                  <a:ea typeface="+mj-ea"/>
                  <a:cs typeface="함초롬돋움"/>
                </a:rPr>
                <a:t>로그아웃</a:t>
              </a:r>
              <a:endParaRPr lang="ko-KR" altLang="en-US" sz="1300" spc="-60">
                <a:solidFill>
                  <a:srgbClr val="334155"/>
                </a:solidFill>
                <a:latin typeface="함초롬돋움"/>
                <a:ea typeface="+mj-ea"/>
                <a:cs typeface="함초롬돋움"/>
              </a:endParaRPr>
            </a:p>
            <a:p>
              <a:pPr marL="12700" lvl="0" algn="ctr">
                <a:lnSpc>
                  <a:spcPct val="100000"/>
                </a:lnSpc>
                <a:spcBef>
                  <a:spcPts val="790"/>
                </a:spcBef>
                <a:defRPr/>
              </a:pPr>
              <a:r>
                <a:rPr lang="en-US" altLang="ko-KR" sz="1300" spc="-60">
                  <a:solidFill>
                    <a:srgbClr val="334155"/>
                  </a:solidFill>
                  <a:latin typeface="함초롬돋움"/>
                  <a:ea typeface="+mj-ea"/>
                  <a:cs typeface="함초롬돋움"/>
                </a:rPr>
                <a:t>-</a:t>
              </a:r>
              <a:r>
                <a:rPr lang="ko-KR" altLang="en-US" sz="1300" spc="-60">
                  <a:solidFill>
                    <a:srgbClr val="334155"/>
                  </a:solidFill>
                  <a:latin typeface="함초롬돋움"/>
                  <a:ea typeface="+mj-ea"/>
                  <a:cs typeface="함초롬돋움"/>
                </a:rPr>
                <a:t>프로필</a:t>
              </a:r>
              <a:endParaRPr lang="ko-KR" altLang="en-US" sz="1300" spc="-60">
                <a:solidFill>
                  <a:srgbClr val="334155"/>
                </a:solidFill>
                <a:latin typeface="함초롬돋움"/>
                <a:ea typeface="+mj-ea"/>
                <a:cs typeface="함초롬돋움"/>
              </a:endParaRPr>
            </a:p>
          </p:txBody>
        </p:sp>
        <p:sp>
          <p:nvSpPr>
            <p:cNvPr id="17" name="object 9"/>
            <p:cNvSpPr txBox="1"/>
            <p:nvPr/>
          </p:nvSpPr>
          <p:spPr>
            <a:xfrm>
              <a:off x="7411084" y="2286000"/>
              <a:ext cx="2799716" cy="1038224"/>
            </a:xfrm>
            <a:prstGeom prst="rect">
              <a:avLst/>
            </a:prstGeom>
          </p:spPr>
          <p:txBody>
            <a:bodyPr vert="horz" wrap="square" lIns="0" tIns="12700" rIns="0" bIns="0">
              <a:spAutoFit/>
            </a:bodyPr>
            <a:lstStyle/>
            <a:p>
              <a:pPr marL="12700" lvl="0" algn="ctr">
                <a:lnSpc>
                  <a:spcPct val="100000"/>
                </a:lnSpc>
                <a:spcBef>
                  <a:spcPts val="100"/>
                </a:spcBef>
                <a:defRPr/>
              </a:pPr>
              <a:r>
                <a:rPr sz="2000" b="1" spc="65">
                  <a:solidFill>
                    <a:srgbClr val="2563eb"/>
                  </a:solidFill>
                  <a:latin typeface="함초롬돋움"/>
                  <a:ea typeface="+mj-ea"/>
                  <a:cs typeface="함초롬돋움"/>
                </a:rPr>
                <a:t>1.</a:t>
              </a:r>
              <a:r>
                <a:rPr sz="2000" b="1" spc="-95">
                  <a:solidFill>
                    <a:srgbClr val="2563eb"/>
                  </a:solidFill>
                  <a:latin typeface="함초롬돋움"/>
                  <a:ea typeface="+mj-ea"/>
                  <a:cs typeface="함초롬돋움"/>
                </a:rPr>
                <a:t> </a:t>
              </a:r>
              <a:r>
                <a:rPr lang="ko-KR" altLang="en-US" sz="2000" b="1" spc="-25">
                  <a:solidFill>
                    <a:srgbClr val="2563eb"/>
                  </a:solidFill>
                  <a:latin typeface="함초롬돋움"/>
                  <a:ea typeface="+mj-ea"/>
                  <a:cs typeface="함초롬돋움"/>
                </a:rPr>
                <a:t>사용자 계정 및 프로필</a:t>
              </a:r>
              <a:endParaRPr lang="ko-KR" altLang="en-US" sz="2000" b="1" spc="-25">
                <a:solidFill>
                  <a:srgbClr val="2563eb"/>
                </a:solidFill>
                <a:latin typeface="함초롬돋움"/>
                <a:ea typeface="+mj-ea"/>
                <a:cs typeface="함초롬돋움"/>
              </a:endParaRPr>
            </a:p>
            <a:p>
              <a:pPr marL="12700" lvl="0" algn="ctr">
                <a:lnSpc>
                  <a:spcPct val="100000"/>
                </a:lnSpc>
                <a:spcBef>
                  <a:spcPts val="100"/>
                </a:spcBef>
                <a:defRPr/>
              </a:pPr>
              <a:endParaRPr lang="ko-KR" altLang="en-US" sz="2000" b="1" spc="-25">
                <a:solidFill>
                  <a:srgbClr val="2563eb"/>
                </a:solidFill>
                <a:latin typeface="함초롬돋움"/>
                <a:ea typeface="+mj-ea"/>
                <a:cs typeface="함초롬돋움"/>
              </a:endParaRPr>
            </a:p>
            <a:p>
              <a:pPr marL="12700" lvl="0" algn="ctr">
                <a:lnSpc>
                  <a:spcPct val="100000"/>
                </a:lnSpc>
                <a:spcBef>
                  <a:spcPts val="790"/>
                </a:spcBef>
                <a:defRPr/>
              </a:pPr>
              <a:endParaRPr sz="2000" spc="-25">
                <a:solidFill>
                  <a:srgbClr val="334155"/>
                </a:solidFill>
                <a:latin typeface="함초롬돋움"/>
                <a:ea typeface="+mj-ea"/>
                <a:cs typeface="함초롬돋움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96900" y="439165"/>
            <a:ext cx="1216025" cy="18542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 lvl="0">
              <a:lnSpc>
                <a:spcPct val="100000"/>
              </a:lnSpc>
              <a:spcBef>
                <a:spcPts val="100"/>
              </a:spcBef>
              <a:defRPr/>
            </a:pPr>
            <a:r>
              <a:rPr sz="1050" b="1" spc="-10">
                <a:solidFill>
                  <a:srgbClr val="ea580c"/>
                </a:solidFill>
                <a:latin typeface="함초롬돋움"/>
                <a:ea typeface="+mj-ea"/>
                <a:cs typeface="함초롬돋움"/>
              </a:rPr>
              <a:t>IDEA</a:t>
            </a:r>
            <a:r>
              <a:rPr sz="1050" b="1" spc="-65">
                <a:solidFill>
                  <a:srgbClr val="ea580c"/>
                </a:solidFill>
                <a:latin typeface="함초롬돋움"/>
                <a:ea typeface="+mj-ea"/>
                <a:cs typeface="함초롬돋움"/>
              </a:rPr>
              <a:t> </a:t>
            </a:r>
            <a:r>
              <a:rPr sz="1050" b="1" spc="-10">
                <a:solidFill>
                  <a:srgbClr val="ea580c"/>
                </a:solidFill>
                <a:latin typeface="함초롬돋움"/>
                <a:ea typeface="+mj-ea"/>
                <a:cs typeface="함초롬돋움"/>
              </a:rPr>
              <a:t>GENERATION</a:t>
            </a:r>
            <a:endParaRPr sz="1050">
              <a:latin typeface="함초롬돋움"/>
              <a:ea typeface="+mj-ea"/>
              <a:cs typeface="함초롬돋움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 idx="0"/>
          </p:nvPr>
        </p:nvSpPr>
        <p:spPr>
          <a:xfrm>
            <a:off x="596900" y="641858"/>
            <a:ext cx="4196715" cy="739267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 lvl="0">
              <a:lnSpc>
                <a:spcPct val="100000"/>
              </a:lnSpc>
              <a:spcBef>
                <a:spcPts val="100"/>
              </a:spcBef>
              <a:defRPr/>
            </a:pPr>
            <a:r>
              <a:rPr spc="-145"/>
              <a:t>아이디어</a:t>
            </a:r>
            <a:r>
              <a:rPr spc="-170"/>
              <a:t> </a:t>
            </a:r>
            <a:r>
              <a:rPr spc="-145"/>
              <a:t>창출</a:t>
            </a:r>
            <a:r>
              <a:rPr spc="-165"/>
              <a:t> </a:t>
            </a:r>
            <a:r>
              <a:rPr spc="-145"/>
              <a:t>및</a:t>
            </a:r>
            <a:r>
              <a:rPr spc="-170"/>
              <a:t> </a:t>
            </a:r>
            <a:r>
              <a:rPr spc="-25"/>
              <a:t>5대</a:t>
            </a:r>
            <a:r>
              <a:rPr spc="-165"/>
              <a:t> </a:t>
            </a:r>
            <a:r>
              <a:rPr spc="-145"/>
              <a:t>영역</a:t>
            </a:r>
            <a:r>
              <a:rPr spc="-170"/>
              <a:t> </a:t>
            </a:r>
            <a:r>
              <a:rPr spc="-35"/>
              <a:t>구조화</a:t>
            </a:r>
            <a:endParaRPr spc="-35"/>
          </a:p>
        </p:txBody>
      </p:sp>
      <p:grpSp>
        <p:nvGrpSpPr>
          <p:cNvPr id="18" name=""/>
          <p:cNvGrpSpPr/>
          <p:nvPr/>
        </p:nvGrpSpPr>
        <p:grpSpPr>
          <a:xfrm rot="0">
            <a:off x="7315200" y="1714500"/>
            <a:ext cx="3556000" cy="3429000"/>
            <a:chOff x="7035800" y="1447800"/>
            <a:chExt cx="3556000" cy="3429000"/>
          </a:xfrm>
        </p:grpSpPr>
        <p:sp>
          <p:nvSpPr>
            <p:cNvPr id="15" name="object 2"/>
            <p:cNvSpPr/>
            <p:nvPr/>
          </p:nvSpPr>
          <p:spPr>
            <a:xfrm>
              <a:off x="7035800" y="1447800"/>
              <a:ext cx="3556000" cy="3429000"/>
            </a:xfrm>
            <a:custGeom>
              <a:avLst/>
              <a:gdLst/>
              <a:rect l="l" t="t" r="r" b="b"/>
              <a:pathLst>
                <a:path w="3556000" h="1028700">
                  <a:moveTo>
                    <a:pt x="3479754" y="1028699"/>
                  </a:moveTo>
                  <a:lnTo>
                    <a:pt x="76195" y="1028699"/>
                  </a:lnTo>
                  <a:lnTo>
                    <a:pt x="46536" y="1022712"/>
                  </a:lnTo>
                  <a:lnTo>
                    <a:pt x="22317" y="1006382"/>
                  </a:lnTo>
                  <a:lnTo>
                    <a:pt x="5987" y="982163"/>
                  </a:lnTo>
                  <a:lnTo>
                    <a:pt x="0" y="952504"/>
                  </a:lnTo>
                  <a:lnTo>
                    <a:pt x="0" y="76195"/>
                  </a:lnTo>
                  <a:lnTo>
                    <a:pt x="5987" y="46536"/>
                  </a:lnTo>
                  <a:lnTo>
                    <a:pt x="22317" y="22317"/>
                  </a:lnTo>
                  <a:lnTo>
                    <a:pt x="46536" y="5987"/>
                  </a:lnTo>
                  <a:lnTo>
                    <a:pt x="76195" y="0"/>
                  </a:lnTo>
                  <a:lnTo>
                    <a:pt x="3479754" y="0"/>
                  </a:lnTo>
                  <a:lnTo>
                    <a:pt x="3522027" y="12801"/>
                  </a:lnTo>
                  <a:lnTo>
                    <a:pt x="3550149" y="47036"/>
                  </a:lnTo>
                  <a:lnTo>
                    <a:pt x="3555949" y="76195"/>
                  </a:lnTo>
                  <a:lnTo>
                    <a:pt x="3555949" y="952504"/>
                  </a:lnTo>
                  <a:lnTo>
                    <a:pt x="3549962" y="982163"/>
                  </a:lnTo>
                  <a:lnTo>
                    <a:pt x="3533632" y="1006382"/>
                  </a:lnTo>
                  <a:lnTo>
                    <a:pt x="3509413" y="1022712"/>
                  </a:lnTo>
                  <a:lnTo>
                    <a:pt x="3479754" y="1028699"/>
                  </a:lnTo>
                  <a:close/>
                </a:path>
              </a:pathLst>
            </a:custGeom>
            <a:solidFill>
              <a:srgbClr val="f0fcf4"/>
            </a:solidFill>
          </p:spPr>
          <p:txBody>
            <a:bodyPr wrap="square" lIns="0" tIns="0" rIns="0" bIns="0"/>
            <a:lstStyle/>
            <a:p>
              <a:pPr lvl="0">
                <a:defRPr/>
              </a:pPr>
              <a:endParaRPr lang="ko-KR" altLang="en-US"/>
            </a:p>
          </p:txBody>
        </p:sp>
        <p:sp>
          <p:nvSpPr>
            <p:cNvPr id="16" name="object 9"/>
            <p:cNvSpPr txBox="1"/>
            <p:nvPr/>
          </p:nvSpPr>
          <p:spPr>
            <a:xfrm>
              <a:off x="7430768" y="2876550"/>
              <a:ext cx="2799716" cy="1104900"/>
            </a:xfrm>
            <a:prstGeom prst="rect">
              <a:avLst/>
            </a:prstGeom>
          </p:spPr>
          <p:txBody>
            <a:bodyPr vert="horz" wrap="square" lIns="0" tIns="12700" rIns="0" bIns="0">
              <a:spAutoFit/>
            </a:bodyPr>
            <a:lstStyle/>
            <a:p>
              <a:pPr marL="12700" lvl="0" algn="ctr">
                <a:lnSpc>
                  <a:spcPct val="100000"/>
                </a:lnSpc>
                <a:spcBef>
                  <a:spcPts val="790"/>
                </a:spcBef>
                <a:defRPr/>
              </a:pPr>
              <a:r>
                <a:rPr lang="en-US" altLang="ko-KR" sz="1300" spc="-60">
                  <a:solidFill>
                    <a:srgbClr val="334155"/>
                  </a:solidFill>
                  <a:latin typeface="함초롬돋움"/>
                  <a:ea typeface="+mj-ea"/>
                  <a:cs typeface="함초롬돋움"/>
                </a:rPr>
                <a:t>-</a:t>
              </a:r>
              <a:r>
                <a:rPr lang="ko-KR" altLang="en-US" sz="1300" spc="-60">
                  <a:solidFill>
                    <a:srgbClr val="334155"/>
                  </a:solidFill>
                  <a:latin typeface="함초롬돋움"/>
                  <a:ea typeface="+mj-ea"/>
                  <a:cs typeface="함초롬돋움"/>
                </a:rPr>
                <a:t>시간표 입력</a:t>
              </a:r>
              <a:endParaRPr lang="ko-KR" altLang="en-US" sz="1300" spc="-60">
                <a:solidFill>
                  <a:srgbClr val="334155"/>
                </a:solidFill>
                <a:latin typeface="함초롬돋움"/>
                <a:ea typeface="+mj-ea"/>
                <a:cs typeface="함초롬돋움"/>
              </a:endParaRPr>
            </a:p>
            <a:p>
              <a:pPr marL="12700" lvl="0" algn="ctr">
                <a:lnSpc>
                  <a:spcPct val="100000"/>
                </a:lnSpc>
                <a:spcBef>
                  <a:spcPts val="790"/>
                </a:spcBef>
                <a:defRPr/>
              </a:pPr>
              <a:r>
                <a:rPr lang="en-US" altLang="ko-KR" sz="1300" spc="-60">
                  <a:solidFill>
                    <a:srgbClr val="334155"/>
                  </a:solidFill>
                  <a:latin typeface="함초롬돋움"/>
                  <a:ea typeface="+mj-ea"/>
                  <a:cs typeface="함초롬돋움"/>
                </a:rPr>
                <a:t>-</a:t>
              </a:r>
              <a:r>
                <a:rPr lang="ko-KR" altLang="en-US" sz="1300" spc="-60">
                  <a:solidFill>
                    <a:srgbClr val="334155"/>
                  </a:solidFill>
                  <a:latin typeface="함초롬돋움"/>
                  <a:ea typeface="+mj-ea"/>
                  <a:cs typeface="함초롬돋움"/>
                </a:rPr>
                <a:t>시간표 자동매치</a:t>
              </a:r>
              <a:endParaRPr lang="ko-KR" altLang="en-US" sz="1300" spc="-60">
                <a:solidFill>
                  <a:srgbClr val="334155"/>
                </a:solidFill>
                <a:latin typeface="함초롬돋움"/>
                <a:ea typeface="+mj-ea"/>
                <a:cs typeface="함초롬돋움"/>
              </a:endParaRPr>
            </a:p>
            <a:p>
              <a:pPr marL="12700" lvl="0" algn="ctr">
                <a:lnSpc>
                  <a:spcPct val="100000"/>
                </a:lnSpc>
                <a:spcBef>
                  <a:spcPts val="790"/>
                </a:spcBef>
                <a:defRPr/>
              </a:pPr>
              <a:r>
                <a:rPr lang="en-US" altLang="ko-KR" sz="1300" spc="-60">
                  <a:solidFill>
                    <a:srgbClr val="334155"/>
                  </a:solidFill>
                  <a:latin typeface="함초롬돋움"/>
                  <a:ea typeface="+mj-ea"/>
                  <a:cs typeface="함초롬돋움"/>
                </a:rPr>
                <a:t>-</a:t>
              </a:r>
              <a:r>
                <a:rPr lang="ko-KR" altLang="en-US" sz="1300" spc="-60">
                  <a:solidFill>
                    <a:srgbClr val="334155"/>
                  </a:solidFill>
                  <a:latin typeface="함초롬돋움"/>
                  <a:ea typeface="+mj-ea"/>
                  <a:cs typeface="함초롬돋움"/>
                </a:rPr>
                <a:t>참석률 시각화</a:t>
              </a:r>
              <a:endParaRPr lang="ko-KR" altLang="en-US" sz="1300" spc="-60">
                <a:solidFill>
                  <a:srgbClr val="334155"/>
                </a:solidFill>
                <a:latin typeface="함초롬돋움"/>
                <a:ea typeface="+mj-ea"/>
                <a:cs typeface="함초롬돋움"/>
              </a:endParaRPr>
            </a:p>
            <a:p>
              <a:pPr marL="12700" lvl="0" algn="ctr">
                <a:lnSpc>
                  <a:spcPct val="100000"/>
                </a:lnSpc>
                <a:spcBef>
                  <a:spcPts val="790"/>
                </a:spcBef>
                <a:defRPr/>
              </a:pPr>
              <a:r>
                <a:rPr lang="en-US" altLang="ko-KR" sz="1300" spc="-60">
                  <a:solidFill>
                    <a:srgbClr val="334155"/>
                  </a:solidFill>
                  <a:latin typeface="함초롬돋움"/>
                  <a:ea typeface="+mj-ea"/>
                  <a:cs typeface="함초롬돋움"/>
                </a:rPr>
                <a:t>-</a:t>
              </a:r>
              <a:r>
                <a:rPr lang="ko-KR" altLang="en-US" sz="1300" spc="-60">
                  <a:solidFill>
                    <a:srgbClr val="334155"/>
                  </a:solidFill>
                  <a:latin typeface="함초롬돋움"/>
                  <a:ea typeface="+mj-ea"/>
                  <a:cs typeface="함초롬돋움"/>
                </a:rPr>
                <a:t>차선책 안내</a:t>
              </a:r>
              <a:endParaRPr lang="ko-KR" altLang="en-US" sz="1300" spc="-60">
                <a:solidFill>
                  <a:srgbClr val="334155"/>
                </a:solidFill>
                <a:latin typeface="함초롬돋움"/>
                <a:ea typeface="+mj-ea"/>
                <a:cs typeface="함초롬돋움"/>
              </a:endParaRPr>
            </a:p>
          </p:txBody>
        </p:sp>
        <p:sp>
          <p:nvSpPr>
            <p:cNvPr id="17" name="object 9"/>
            <p:cNvSpPr txBox="1"/>
            <p:nvPr/>
          </p:nvSpPr>
          <p:spPr>
            <a:xfrm>
              <a:off x="7411084" y="2286000"/>
              <a:ext cx="2799716" cy="723900"/>
            </a:xfrm>
            <a:prstGeom prst="rect">
              <a:avLst/>
            </a:prstGeom>
          </p:spPr>
          <p:txBody>
            <a:bodyPr vert="horz" wrap="square" lIns="0" tIns="12700" rIns="0" bIns="0">
              <a:spAutoFit/>
            </a:bodyPr>
            <a:lstStyle/>
            <a:p>
              <a:pPr marL="12700" lvl="0" algn="ctr">
                <a:lnSpc>
                  <a:spcPct val="100000"/>
                </a:lnSpc>
                <a:spcBef>
                  <a:spcPts val="790"/>
                </a:spcBef>
                <a:defRPr/>
              </a:pPr>
              <a:r>
                <a:rPr lang="en-US" altLang="ko-KR" sz="2000" b="1" spc="65">
                  <a:solidFill>
                    <a:srgbClr val="289b6e"/>
                  </a:solidFill>
                  <a:latin typeface="함초롬돋움"/>
                  <a:ea typeface="+mj-ea"/>
                  <a:cs typeface="함초롬돋움"/>
                </a:rPr>
                <a:t>2.</a:t>
              </a:r>
              <a:r>
                <a:rPr lang="ko-KR" altLang="en-US" sz="2000" b="1" spc="65">
                  <a:solidFill>
                    <a:srgbClr val="289b6e"/>
                  </a:solidFill>
                  <a:latin typeface="함초롬돋움"/>
                  <a:ea typeface="+mj-ea"/>
                  <a:cs typeface="함초롬돋움"/>
                </a:rPr>
                <a:t> 핵심 일정 매치</a:t>
              </a:r>
              <a:endParaRPr lang="ko-KR" altLang="en-US" sz="2000" b="1" spc="65">
                <a:solidFill>
                  <a:srgbClr val="289b6e"/>
                </a:solidFill>
                <a:latin typeface="함초롬돋움"/>
                <a:ea typeface="+mj-ea"/>
                <a:cs typeface="함초롬돋움"/>
              </a:endParaRPr>
            </a:p>
            <a:p>
              <a:pPr marL="12700" lvl="0" algn="ctr">
                <a:lnSpc>
                  <a:spcPct val="100000"/>
                </a:lnSpc>
                <a:spcBef>
                  <a:spcPts val="790"/>
                </a:spcBef>
                <a:defRPr/>
              </a:pPr>
              <a:endParaRPr lang="ko-KR" altLang="en-US" sz="2000" b="1" spc="65">
                <a:solidFill>
                  <a:srgbClr val="289b6e"/>
                </a:solidFill>
                <a:latin typeface="함초롬돋움"/>
                <a:ea typeface="+mj-ea"/>
                <a:cs typeface="함초롬돋움"/>
              </a:endParaRPr>
            </a:p>
          </p:txBody>
        </p:sp>
      </p:grpSp>
      <p:pic>
        <p:nvPicPr>
          <p:cNvPr id="19" name="그림 18"/>
          <p:cNvPicPr/>
          <p:nvPr/>
        </p:nvPicPr>
        <p:blipFill rotWithShape="1">
          <a:blip r:embed="rId2"/>
          <a:stretch>
            <a:fillRect/>
          </a:stretch>
        </p:blipFill>
        <p:spPr>
          <a:xfrm>
            <a:off x="990600" y="1371600"/>
            <a:ext cx="5261610" cy="4831969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891859729"/>
      </p:ext>
    </p:extLst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96900" y="439165"/>
            <a:ext cx="1216025" cy="18542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 lvl="0">
              <a:lnSpc>
                <a:spcPct val="100000"/>
              </a:lnSpc>
              <a:spcBef>
                <a:spcPts val="100"/>
              </a:spcBef>
              <a:defRPr/>
            </a:pPr>
            <a:r>
              <a:rPr sz="1050" b="1" spc="-10">
                <a:solidFill>
                  <a:srgbClr val="ea580c"/>
                </a:solidFill>
                <a:latin typeface="함초롬돋움"/>
                <a:ea typeface="+mj-ea"/>
                <a:cs typeface="함초롬돋움"/>
              </a:rPr>
              <a:t>IDEA</a:t>
            </a:r>
            <a:r>
              <a:rPr sz="1050" b="1" spc="-65">
                <a:solidFill>
                  <a:srgbClr val="ea580c"/>
                </a:solidFill>
                <a:latin typeface="함초롬돋움"/>
                <a:ea typeface="+mj-ea"/>
                <a:cs typeface="함초롬돋움"/>
              </a:rPr>
              <a:t> </a:t>
            </a:r>
            <a:r>
              <a:rPr sz="1050" b="1" spc="-10">
                <a:solidFill>
                  <a:srgbClr val="ea580c"/>
                </a:solidFill>
                <a:latin typeface="함초롬돋움"/>
                <a:ea typeface="+mj-ea"/>
                <a:cs typeface="함초롬돋움"/>
              </a:rPr>
              <a:t>GENERATION</a:t>
            </a:r>
            <a:endParaRPr sz="1050">
              <a:latin typeface="함초롬돋움"/>
              <a:ea typeface="+mj-ea"/>
              <a:cs typeface="함초롬돋움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 idx="0"/>
          </p:nvPr>
        </p:nvSpPr>
        <p:spPr>
          <a:xfrm>
            <a:off x="596900" y="641858"/>
            <a:ext cx="4196715" cy="739267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 lvl="0">
              <a:lnSpc>
                <a:spcPct val="100000"/>
              </a:lnSpc>
              <a:spcBef>
                <a:spcPts val="100"/>
              </a:spcBef>
              <a:defRPr/>
            </a:pPr>
            <a:r>
              <a:rPr spc="-145"/>
              <a:t>아이디어</a:t>
            </a:r>
            <a:r>
              <a:rPr spc="-170"/>
              <a:t> </a:t>
            </a:r>
            <a:r>
              <a:rPr spc="-145"/>
              <a:t>창출</a:t>
            </a:r>
            <a:r>
              <a:rPr spc="-165"/>
              <a:t> </a:t>
            </a:r>
            <a:r>
              <a:rPr spc="-145"/>
              <a:t>및</a:t>
            </a:r>
            <a:r>
              <a:rPr spc="-170"/>
              <a:t> </a:t>
            </a:r>
            <a:r>
              <a:rPr spc="-25"/>
              <a:t>5대</a:t>
            </a:r>
            <a:r>
              <a:rPr spc="-165"/>
              <a:t> </a:t>
            </a:r>
            <a:r>
              <a:rPr spc="-145"/>
              <a:t>영역</a:t>
            </a:r>
            <a:r>
              <a:rPr spc="-170"/>
              <a:t> </a:t>
            </a:r>
            <a:r>
              <a:rPr spc="-35"/>
              <a:t>구조화</a:t>
            </a:r>
            <a:endParaRPr spc="-35"/>
          </a:p>
        </p:txBody>
      </p:sp>
      <p:grpSp>
        <p:nvGrpSpPr>
          <p:cNvPr id="18" name=""/>
          <p:cNvGrpSpPr/>
          <p:nvPr/>
        </p:nvGrpSpPr>
        <p:grpSpPr>
          <a:xfrm rot="0">
            <a:off x="7315200" y="1714500"/>
            <a:ext cx="3556000" cy="3429000"/>
            <a:chOff x="7035800" y="1447800"/>
            <a:chExt cx="3556000" cy="3429000"/>
          </a:xfrm>
          <a:solidFill>
            <a:srgbClr val="fff6ed"/>
          </a:solidFill>
        </p:grpSpPr>
        <p:sp>
          <p:nvSpPr>
            <p:cNvPr id="15" name="object 2"/>
            <p:cNvSpPr/>
            <p:nvPr/>
          </p:nvSpPr>
          <p:spPr>
            <a:xfrm>
              <a:off x="7035800" y="1447800"/>
              <a:ext cx="3556000" cy="3429000"/>
            </a:xfrm>
            <a:custGeom>
              <a:avLst/>
              <a:gdLst/>
              <a:rect l="l" t="t" r="r" b="b"/>
              <a:pathLst>
                <a:path w="3556000" h="1028700">
                  <a:moveTo>
                    <a:pt x="3479754" y="1028699"/>
                  </a:moveTo>
                  <a:lnTo>
                    <a:pt x="76195" y="1028699"/>
                  </a:lnTo>
                  <a:lnTo>
                    <a:pt x="46536" y="1022712"/>
                  </a:lnTo>
                  <a:lnTo>
                    <a:pt x="22317" y="1006382"/>
                  </a:lnTo>
                  <a:lnTo>
                    <a:pt x="5987" y="982163"/>
                  </a:lnTo>
                  <a:lnTo>
                    <a:pt x="0" y="952504"/>
                  </a:lnTo>
                  <a:lnTo>
                    <a:pt x="0" y="76195"/>
                  </a:lnTo>
                  <a:lnTo>
                    <a:pt x="5987" y="46536"/>
                  </a:lnTo>
                  <a:lnTo>
                    <a:pt x="22317" y="22317"/>
                  </a:lnTo>
                  <a:lnTo>
                    <a:pt x="46536" y="5987"/>
                  </a:lnTo>
                  <a:lnTo>
                    <a:pt x="76195" y="0"/>
                  </a:lnTo>
                  <a:lnTo>
                    <a:pt x="3479754" y="0"/>
                  </a:lnTo>
                  <a:lnTo>
                    <a:pt x="3522027" y="12801"/>
                  </a:lnTo>
                  <a:lnTo>
                    <a:pt x="3550149" y="47036"/>
                  </a:lnTo>
                  <a:lnTo>
                    <a:pt x="3555949" y="76195"/>
                  </a:lnTo>
                  <a:lnTo>
                    <a:pt x="3555949" y="952504"/>
                  </a:lnTo>
                  <a:lnTo>
                    <a:pt x="3549962" y="982163"/>
                  </a:lnTo>
                  <a:lnTo>
                    <a:pt x="3533632" y="1006382"/>
                  </a:lnTo>
                  <a:lnTo>
                    <a:pt x="3509413" y="1022712"/>
                  </a:lnTo>
                  <a:lnTo>
                    <a:pt x="3479754" y="1028699"/>
                  </a:lnTo>
                  <a:close/>
                </a:path>
              </a:pathLst>
            </a:custGeom>
            <a:grpFill/>
          </p:spPr>
          <p:txBody>
            <a:bodyPr wrap="square" lIns="0" tIns="0" rIns="0" bIns="0"/>
            <a:lstStyle/>
            <a:p>
              <a:pPr lvl="0">
                <a:defRPr/>
              </a:pPr>
              <a:endParaRPr lang="ko-KR" altLang="en-US"/>
            </a:p>
          </p:txBody>
        </p:sp>
        <p:sp>
          <p:nvSpPr>
            <p:cNvPr id="16" name="object 9"/>
            <p:cNvSpPr txBox="1"/>
            <p:nvPr/>
          </p:nvSpPr>
          <p:spPr>
            <a:xfrm>
              <a:off x="7430768" y="2876550"/>
              <a:ext cx="2799716" cy="723900"/>
            </a:xfrm>
            <a:prstGeom prst="rect">
              <a:avLst/>
            </a:prstGeom>
            <a:grpFill/>
          </p:spPr>
          <p:txBody>
            <a:bodyPr vert="horz" wrap="square" lIns="0" tIns="12700" rIns="0" bIns="0">
              <a:spAutoFit/>
            </a:bodyPr>
            <a:lstStyle/>
            <a:p>
              <a:pPr marL="12700" lvl="0" algn="ctr">
                <a:lnSpc>
                  <a:spcPct val="100000"/>
                </a:lnSpc>
                <a:spcBef>
                  <a:spcPts val="100"/>
                </a:spcBef>
                <a:defRPr/>
              </a:pPr>
              <a:r>
                <a:rPr lang="en-US" altLang="ko-KR" sz="1500" spc="-60">
                  <a:solidFill>
                    <a:srgbClr val="334155"/>
                  </a:solidFill>
                  <a:latin typeface="함초롬돋움"/>
                  <a:ea typeface="+mj-ea"/>
                  <a:cs typeface="함초롬돋움"/>
                </a:rPr>
                <a:t>-</a:t>
              </a:r>
              <a:r>
                <a:rPr lang="ko-KR" altLang="en-US" sz="1500" spc="-60">
                  <a:solidFill>
                    <a:srgbClr val="334155"/>
                  </a:solidFill>
                  <a:latin typeface="함초롬돋움"/>
                  <a:ea typeface="+mj-ea"/>
                  <a:cs typeface="함초롬돋움"/>
                </a:rPr>
                <a:t>선호시간</a:t>
              </a:r>
              <a:endParaRPr lang="ko-KR" altLang="en-US" sz="1500" spc="-60">
                <a:solidFill>
                  <a:srgbClr val="334155"/>
                </a:solidFill>
                <a:latin typeface="함초롬돋움"/>
                <a:ea typeface="+mj-ea"/>
                <a:cs typeface="함초롬돋움"/>
              </a:endParaRPr>
            </a:p>
            <a:p>
              <a:pPr marL="12700" lvl="0" algn="ctr">
                <a:lnSpc>
                  <a:spcPct val="100000"/>
                </a:lnSpc>
                <a:spcBef>
                  <a:spcPts val="100"/>
                </a:spcBef>
                <a:defRPr/>
              </a:pPr>
              <a:r>
                <a:rPr lang="en-US" altLang="ko-KR" sz="1500" spc="-60">
                  <a:solidFill>
                    <a:srgbClr val="334155"/>
                  </a:solidFill>
                  <a:latin typeface="함초롬돋움"/>
                  <a:ea typeface="+mj-ea"/>
                  <a:cs typeface="함초롬돋움"/>
                </a:rPr>
                <a:t>-</a:t>
              </a:r>
              <a:r>
                <a:rPr lang="ko-KR" altLang="en-US" sz="1500" spc="-60">
                  <a:solidFill>
                    <a:srgbClr val="334155"/>
                  </a:solidFill>
                  <a:latin typeface="함초롬돋움"/>
                  <a:ea typeface="+mj-ea"/>
                  <a:cs typeface="함초롬돋움"/>
                </a:rPr>
                <a:t>메모</a:t>
              </a:r>
              <a:endParaRPr lang="ko-KR" altLang="en-US" sz="1500" spc="-60">
                <a:solidFill>
                  <a:srgbClr val="334155"/>
                </a:solidFill>
                <a:latin typeface="함초롬돋움"/>
                <a:ea typeface="+mj-ea"/>
                <a:cs typeface="함초롬돋움"/>
              </a:endParaRPr>
            </a:p>
            <a:p>
              <a:pPr marL="12700" lvl="0" algn="ctr">
                <a:lnSpc>
                  <a:spcPct val="100000"/>
                </a:lnSpc>
                <a:spcBef>
                  <a:spcPts val="100"/>
                </a:spcBef>
                <a:defRPr/>
              </a:pPr>
              <a:r>
                <a:rPr lang="en-US" altLang="ko-KR" sz="1500" spc="-60">
                  <a:solidFill>
                    <a:srgbClr val="334155"/>
                  </a:solidFill>
                  <a:latin typeface="함초롬돋움"/>
                  <a:ea typeface="+mj-ea"/>
                  <a:cs typeface="함초롬돋움"/>
                </a:rPr>
                <a:t>-</a:t>
              </a:r>
              <a:r>
                <a:rPr lang="ko-KR" altLang="en-US" sz="1500" spc="-60">
                  <a:solidFill>
                    <a:srgbClr val="334155"/>
                  </a:solidFill>
                  <a:latin typeface="함초롬돋움"/>
                  <a:ea typeface="+mj-ea"/>
                  <a:cs typeface="함초롬돋움"/>
                </a:rPr>
                <a:t>알림</a:t>
              </a:r>
              <a:endParaRPr lang="ko-KR" altLang="en-US" sz="1500" spc="-60">
                <a:solidFill>
                  <a:srgbClr val="334155"/>
                </a:solidFill>
                <a:latin typeface="함초롬돋움"/>
                <a:ea typeface="+mj-ea"/>
                <a:cs typeface="함초롬돋움"/>
              </a:endParaRPr>
            </a:p>
          </p:txBody>
        </p:sp>
        <p:sp>
          <p:nvSpPr>
            <p:cNvPr id="17" name="object 9"/>
            <p:cNvSpPr txBox="1"/>
            <p:nvPr/>
          </p:nvSpPr>
          <p:spPr>
            <a:xfrm>
              <a:off x="7411084" y="2286000"/>
              <a:ext cx="2799716" cy="314325"/>
            </a:xfrm>
            <a:prstGeom prst="rect">
              <a:avLst/>
            </a:prstGeom>
            <a:grpFill/>
          </p:spPr>
          <p:txBody>
            <a:bodyPr vert="horz" wrap="square" lIns="0" tIns="12700" rIns="0" bIns="0">
              <a:spAutoFit/>
            </a:bodyPr>
            <a:lstStyle/>
            <a:p>
              <a:pPr marL="12700" lvl="0" algn="ctr">
                <a:lnSpc>
                  <a:spcPct val="100000"/>
                </a:lnSpc>
                <a:spcBef>
                  <a:spcPts val="100"/>
                </a:spcBef>
                <a:defRPr/>
              </a:pPr>
              <a:r>
                <a:rPr sz="2000" b="1" spc="65">
                  <a:solidFill>
                    <a:srgbClr val="ea580c"/>
                  </a:solidFill>
                  <a:latin typeface="함초롬돋움"/>
                  <a:ea typeface="+mj-ea"/>
                  <a:cs typeface="함초롬돋움"/>
                </a:rPr>
                <a:t>3.</a:t>
              </a:r>
              <a:r>
                <a:rPr sz="2000" b="1" spc="-95">
                  <a:solidFill>
                    <a:srgbClr val="ea580c"/>
                  </a:solidFill>
                  <a:latin typeface="함초롬돋움"/>
                  <a:ea typeface="+mj-ea"/>
                  <a:cs typeface="함초롬돋움"/>
                </a:rPr>
                <a:t> </a:t>
              </a:r>
              <a:r>
                <a:rPr lang="ko-KR" altLang="en-US" sz="2000" b="1" spc="-95">
                  <a:solidFill>
                    <a:srgbClr val="ea580c"/>
                  </a:solidFill>
                  <a:latin typeface="함초롬돋움"/>
                  <a:ea typeface="+mj-ea"/>
                  <a:cs typeface="함초롬돋움"/>
                </a:rPr>
                <a:t>그룹 </a:t>
              </a:r>
              <a:r>
                <a:rPr sz="2000" b="1" spc="-85">
                  <a:solidFill>
                    <a:srgbClr val="ea580c"/>
                  </a:solidFill>
                  <a:latin typeface="함초롬돋움"/>
                  <a:ea typeface="+mj-ea"/>
                  <a:cs typeface="함초롬돋움"/>
                </a:rPr>
                <a:t>소통</a:t>
              </a:r>
              <a:r>
                <a:rPr sz="2000" b="1" spc="-90">
                  <a:solidFill>
                    <a:srgbClr val="ea580c"/>
                  </a:solidFill>
                  <a:latin typeface="함초롬돋움"/>
                  <a:ea typeface="+mj-ea"/>
                  <a:cs typeface="함초롬돋움"/>
                </a:rPr>
                <a:t> </a:t>
              </a:r>
              <a:r>
                <a:rPr sz="2000" b="1" spc="-40">
                  <a:solidFill>
                    <a:srgbClr val="ea580c"/>
                  </a:solidFill>
                  <a:latin typeface="함초롬돋움"/>
                  <a:ea typeface="+mj-ea"/>
                  <a:cs typeface="함초롬돋움"/>
                </a:rPr>
                <a:t>&amp;</a:t>
              </a:r>
              <a:r>
                <a:rPr sz="2000" b="1" spc="-95">
                  <a:solidFill>
                    <a:srgbClr val="ea580c"/>
                  </a:solidFill>
                  <a:latin typeface="함초롬돋움"/>
                  <a:ea typeface="+mj-ea"/>
                  <a:cs typeface="함초롬돋움"/>
                </a:rPr>
                <a:t> </a:t>
              </a:r>
              <a:r>
                <a:rPr sz="2000" b="1" spc="-20">
                  <a:solidFill>
                    <a:srgbClr val="ea580c"/>
                  </a:solidFill>
                  <a:latin typeface="함초롬돋움"/>
                  <a:ea typeface="+mj-ea"/>
                  <a:cs typeface="함초롬돋움"/>
                </a:rPr>
                <a:t>의사결정</a:t>
              </a:r>
              <a:endParaRPr sz="2000" b="1" spc="-20">
                <a:solidFill>
                  <a:srgbClr val="ea580c"/>
                </a:solidFill>
                <a:latin typeface="함초롬돋움"/>
                <a:ea typeface="+mj-ea"/>
                <a:cs typeface="함초롬돋움"/>
              </a:endParaRPr>
            </a:p>
          </p:txBody>
        </p:sp>
      </p:grpSp>
      <p:pic>
        <p:nvPicPr>
          <p:cNvPr id="19" name="그림 18"/>
          <p:cNvPicPr/>
          <p:nvPr/>
        </p:nvPicPr>
        <p:blipFill rotWithShape="1">
          <a:blip r:embed="rId2"/>
          <a:stretch>
            <a:fillRect/>
          </a:stretch>
        </p:blipFill>
        <p:spPr>
          <a:xfrm>
            <a:off x="990600" y="1371600"/>
            <a:ext cx="5261610" cy="4831969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904639269"/>
      </p:ext>
    </p:extLst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96900" y="439165"/>
            <a:ext cx="1216025" cy="18542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 lvl="0">
              <a:lnSpc>
                <a:spcPct val="100000"/>
              </a:lnSpc>
              <a:spcBef>
                <a:spcPts val="100"/>
              </a:spcBef>
              <a:defRPr/>
            </a:pPr>
            <a:r>
              <a:rPr sz="1050" b="1" spc="-10">
                <a:solidFill>
                  <a:srgbClr val="ea580c"/>
                </a:solidFill>
                <a:latin typeface="함초롬돋움"/>
                <a:ea typeface="+mj-ea"/>
                <a:cs typeface="함초롬돋움"/>
              </a:rPr>
              <a:t>IDEA</a:t>
            </a:r>
            <a:r>
              <a:rPr sz="1050" b="1" spc="-65">
                <a:solidFill>
                  <a:srgbClr val="ea580c"/>
                </a:solidFill>
                <a:latin typeface="함초롬돋움"/>
                <a:ea typeface="+mj-ea"/>
                <a:cs typeface="함초롬돋움"/>
              </a:rPr>
              <a:t> </a:t>
            </a:r>
            <a:r>
              <a:rPr sz="1050" b="1" spc="-10">
                <a:solidFill>
                  <a:srgbClr val="ea580c"/>
                </a:solidFill>
                <a:latin typeface="함초롬돋움"/>
                <a:ea typeface="+mj-ea"/>
                <a:cs typeface="함초롬돋움"/>
              </a:rPr>
              <a:t>GENERATION</a:t>
            </a:r>
            <a:endParaRPr sz="1050">
              <a:latin typeface="함초롬돋움"/>
              <a:ea typeface="+mj-ea"/>
              <a:cs typeface="함초롬돋움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 idx="0"/>
          </p:nvPr>
        </p:nvSpPr>
        <p:spPr>
          <a:xfrm>
            <a:off x="596900" y="641858"/>
            <a:ext cx="4196715" cy="739267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 lvl="0">
              <a:lnSpc>
                <a:spcPct val="100000"/>
              </a:lnSpc>
              <a:spcBef>
                <a:spcPts val="100"/>
              </a:spcBef>
              <a:defRPr/>
            </a:pPr>
            <a:r>
              <a:rPr spc="-145"/>
              <a:t>아이디어</a:t>
            </a:r>
            <a:r>
              <a:rPr spc="-170"/>
              <a:t> </a:t>
            </a:r>
            <a:r>
              <a:rPr spc="-145"/>
              <a:t>창출</a:t>
            </a:r>
            <a:r>
              <a:rPr spc="-165"/>
              <a:t> </a:t>
            </a:r>
            <a:r>
              <a:rPr spc="-145"/>
              <a:t>및</a:t>
            </a:r>
            <a:r>
              <a:rPr spc="-170"/>
              <a:t> </a:t>
            </a:r>
            <a:r>
              <a:rPr spc="-25"/>
              <a:t>5대</a:t>
            </a:r>
            <a:r>
              <a:rPr spc="-165"/>
              <a:t> </a:t>
            </a:r>
            <a:r>
              <a:rPr spc="-145"/>
              <a:t>영역</a:t>
            </a:r>
            <a:r>
              <a:rPr spc="-170"/>
              <a:t> </a:t>
            </a:r>
            <a:r>
              <a:rPr spc="-35"/>
              <a:t>구조화</a:t>
            </a:r>
            <a:endParaRPr spc="-35"/>
          </a:p>
        </p:txBody>
      </p:sp>
      <p:grpSp>
        <p:nvGrpSpPr>
          <p:cNvPr id="18" name=""/>
          <p:cNvGrpSpPr/>
          <p:nvPr/>
        </p:nvGrpSpPr>
        <p:grpSpPr>
          <a:xfrm rot="0">
            <a:off x="7315200" y="1714500"/>
            <a:ext cx="3556000" cy="3429000"/>
            <a:chOff x="7035800" y="1447800"/>
            <a:chExt cx="3556000" cy="3429000"/>
          </a:xfrm>
          <a:solidFill>
            <a:srgbClr val="fdf7ff"/>
          </a:solidFill>
        </p:grpSpPr>
        <p:sp>
          <p:nvSpPr>
            <p:cNvPr id="15" name="object 2"/>
            <p:cNvSpPr/>
            <p:nvPr/>
          </p:nvSpPr>
          <p:spPr>
            <a:xfrm>
              <a:off x="7035800" y="1447800"/>
              <a:ext cx="3556000" cy="3429000"/>
            </a:xfrm>
            <a:custGeom>
              <a:avLst/>
              <a:gdLst/>
              <a:rect l="l" t="t" r="r" b="b"/>
              <a:pathLst>
                <a:path w="3556000" h="1028700">
                  <a:moveTo>
                    <a:pt x="3479754" y="1028699"/>
                  </a:moveTo>
                  <a:lnTo>
                    <a:pt x="76195" y="1028699"/>
                  </a:lnTo>
                  <a:lnTo>
                    <a:pt x="46536" y="1022712"/>
                  </a:lnTo>
                  <a:lnTo>
                    <a:pt x="22317" y="1006382"/>
                  </a:lnTo>
                  <a:lnTo>
                    <a:pt x="5987" y="982163"/>
                  </a:lnTo>
                  <a:lnTo>
                    <a:pt x="0" y="952504"/>
                  </a:lnTo>
                  <a:lnTo>
                    <a:pt x="0" y="76195"/>
                  </a:lnTo>
                  <a:lnTo>
                    <a:pt x="5987" y="46536"/>
                  </a:lnTo>
                  <a:lnTo>
                    <a:pt x="22317" y="22317"/>
                  </a:lnTo>
                  <a:lnTo>
                    <a:pt x="46536" y="5987"/>
                  </a:lnTo>
                  <a:lnTo>
                    <a:pt x="76195" y="0"/>
                  </a:lnTo>
                  <a:lnTo>
                    <a:pt x="3479754" y="0"/>
                  </a:lnTo>
                  <a:lnTo>
                    <a:pt x="3522027" y="12801"/>
                  </a:lnTo>
                  <a:lnTo>
                    <a:pt x="3550149" y="47036"/>
                  </a:lnTo>
                  <a:lnTo>
                    <a:pt x="3555949" y="76195"/>
                  </a:lnTo>
                  <a:lnTo>
                    <a:pt x="3555949" y="952504"/>
                  </a:lnTo>
                  <a:lnTo>
                    <a:pt x="3549962" y="982163"/>
                  </a:lnTo>
                  <a:lnTo>
                    <a:pt x="3533632" y="1006382"/>
                  </a:lnTo>
                  <a:lnTo>
                    <a:pt x="3509413" y="1022712"/>
                  </a:lnTo>
                  <a:lnTo>
                    <a:pt x="3479754" y="1028699"/>
                  </a:lnTo>
                  <a:close/>
                </a:path>
              </a:pathLst>
            </a:custGeom>
            <a:grpFill/>
          </p:spPr>
          <p:txBody>
            <a:bodyPr wrap="square" lIns="0" tIns="0" rIns="0" bIns="0"/>
            <a:lstStyle/>
            <a:p>
              <a:pPr lvl="0">
                <a:defRPr/>
              </a:pPr>
              <a:endParaRPr lang="ko-KR" altLang="en-US"/>
            </a:p>
          </p:txBody>
        </p:sp>
        <p:sp>
          <p:nvSpPr>
            <p:cNvPr id="16" name="object 9"/>
            <p:cNvSpPr txBox="1"/>
            <p:nvPr/>
          </p:nvSpPr>
          <p:spPr>
            <a:xfrm>
              <a:off x="7430768" y="2876550"/>
              <a:ext cx="2799716" cy="723900"/>
            </a:xfrm>
            <a:prstGeom prst="rect">
              <a:avLst/>
            </a:prstGeom>
            <a:grpFill/>
          </p:spPr>
          <p:txBody>
            <a:bodyPr vert="horz" wrap="square" lIns="0" tIns="12700" rIns="0" bIns="0">
              <a:spAutoFit/>
            </a:bodyPr>
            <a:lstStyle/>
            <a:p>
              <a:pPr marL="12700" lvl="0" algn="ctr">
                <a:lnSpc>
                  <a:spcPct val="100000"/>
                </a:lnSpc>
                <a:spcBef>
                  <a:spcPts val="100"/>
                </a:spcBef>
                <a:defRPr/>
              </a:pPr>
              <a:r>
                <a:rPr lang="en-US" altLang="ko-KR" sz="1500" spc="-60">
                  <a:solidFill>
                    <a:srgbClr val="334155"/>
                  </a:solidFill>
                  <a:latin typeface="함초롬돋움"/>
                  <a:ea typeface="+mj-ea"/>
                  <a:cs typeface="함초롬돋움"/>
                </a:rPr>
                <a:t>-</a:t>
              </a:r>
              <a:r>
                <a:rPr lang="ko-KR" altLang="en-US" sz="1500" spc="-60">
                  <a:solidFill>
                    <a:srgbClr val="334155"/>
                  </a:solidFill>
                  <a:latin typeface="함초롬돋움"/>
                  <a:ea typeface="+mj-ea"/>
                  <a:cs typeface="함초롬돋움"/>
                </a:rPr>
                <a:t>모임생성</a:t>
              </a:r>
              <a:r>
                <a:rPr lang="en-US" altLang="ko-KR" sz="1500" spc="-60">
                  <a:solidFill>
                    <a:srgbClr val="334155"/>
                  </a:solidFill>
                  <a:latin typeface="함초롬돋움"/>
                  <a:ea typeface="+mj-ea"/>
                  <a:cs typeface="함초롬돋움"/>
                </a:rPr>
                <a:t>/</a:t>
              </a:r>
              <a:r>
                <a:rPr lang="ko-KR" altLang="en-US" sz="1500" spc="-60">
                  <a:solidFill>
                    <a:srgbClr val="334155"/>
                  </a:solidFill>
                  <a:latin typeface="함초롬돋움"/>
                  <a:ea typeface="+mj-ea"/>
                  <a:cs typeface="함초롬돋움"/>
                </a:rPr>
                <a:t>수정</a:t>
              </a:r>
              <a:r>
                <a:rPr lang="en-US" altLang="ko-KR" sz="1500" spc="-60">
                  <a:solidFill>
                    <a:srgbClr val="334155"/>
                  </a:solidFill>
                  <a:latin typeface="함초롬돋움"/>
                  <a:ea typeface="+mj-ea"/>
                  <a:cs typeface="함초롬돋움"/>
                </a:rPr>
                <a:t>/</a:t>
              </a:r>
              <a:r>
                <a:rPr lang="ko-KR" altLang="en-US" sz="1500" spc="-60">
                  <a:solidFill>
                    <a:srgbClr val="334155"/>
                  </a:solidFill>
                  <a:latin typeface="함초롬돋움"/>
                  <a:ea typeface="+mj-ea"/>
                  <a:cs typeface="함초롬돋움"/>
                </a:rPr>
                <a:t>삭제</a:t>
              </a:r>
              <a:endParaRPr lang="ko-KR" altLang="en-US" sz="1500" spc="-60">
                <a:solidFill>
                  <a:srgbClr val="334155"/>
                </a:solidFill>
                <a:latin typeface="함초롬돋움"/>
                <a:ea typeface="+mj-ea"/>
                <a:cs typeface="함초롬돋움"/>
              </a:endParaRPr>
            </a:p>
            <a:p>
              <a:pPr marL="12700" lvl="0" algn="ctr">
                <a:lnSpc>
                  <a:spcPct val="100000"/>
                </a:lnSpc>
                <a:spcBef>
                  <a:spcPts val="100"/>
                </a:spcBef>
                <a:defRPr/>
              </a:pPr>
              <a:r>
                <a:rPr lang="en-US" altLang="ko-KR" sz="1500" spc="-60">
                  <a:solidFill>
                    <a:srgbClr val="334155"/>
                  </a:solidFill>
                  <a:latin typeface="함초롬돋움"/>
                  <a:ea typeface="+mj-ea"/>
                  <a:cs typeface="함초롬돋움"/>
                </a:rPr>
                <a:t>-</a:t>
              </a:r>
              <a:r>
                <a:rPr lang="ko-KR" altLang="en-US" sz="1500" spc="-60">
                  <a:solidFill>
                    <a:srgbClr val="334155"/>
                  </a:solidFill>
                  <a:latin typeface="함초롬돋움"/>
                  <a:ea typeface="+mj-ea"/>
                  <a:cs typeface="함초롬돋움"/>
                </a:rPr>
                <a:t>초대 링크</a:t>
              </a:r>
              <a:r>
                <a:rPr lang="en-US" altLang="ko-KR" sz="1500" spc="-60">
                  <a:solidFill>
                    <a:srgbClr val="334155"/>
                  </a:solidFill>
                  <a:latin typeface="함초롬돋움"/>
                  <a:ea typeface="+mj-ea"/>
                  <a:cs typeface="함초롬돋움"/>
                </a:rPr>
                <a:t>/</a:t>
              </a:r>
              <a:r>
                <a:rPr lang="ko-KR" altLang="en-US" sz="1500" spc="-60">
                  <a:solidFill>
                    <a:srgbClr val="334155"/>
                  </a:solidFill>
                  <a:latin typeface="함초롬돋움"/>
                  <a:ea typeface="+mj-ea"/>
                  <a:cs typeface="함초롬돋움"/>
                </a:rPr>
                <a:t>코드 생성</a:t>
              </a:r>
              <a:endParaRPr lang="ko-KR" altLang="en-US" sz="1500" spc="-60">
                <a:solidFill>
                  <a:srgbClr val="334155"/>
                </a:solidFill>
                <a:latin typeface="함초롬돋움"/>
                <a:ea typeface="+mj-ea"/>
                <a:cs typeface="함초롬돋움"/>
              </a:endParaRPr>
            </a:p>
            <a:p>
              <a:pPr marL="12700" lvl="0" algn="ctr">
                <a:lnSpc>
                  <a:spcPct val="100000"/>
                </a:lnSpc>
                <a:spcBef>
                  <a:spcPts val="100"/>
                </a:spcBef>
                <a:defRPr/>
              </a:pPr>
              <a:r>
                <a:rPr lang="en-US" altLang="ko-KR" sz="1500" spc="-60">
                  <a:solidFill>
                    <a:srgbClr val="334155"/>
                  </a:solidFill>
                  <a:latin typeface="함초롬돋움"/>
                  <a:ea typeface="+mj-ea"/>
                  <a:cs typeface="함초롬돋움"/>
                </a:rPr>
                <a:t>-</a:t>
              </a:r>
              <a:r>
                <a:rPr lang="ko-KR" altLang="en-US" sz="1500" spc="-60">
                  <a:solidFill>
                    <a:srgbClr val="334155"/>
                  </a:solidFill>
                  <a:latin typeface="함초롬돋움"/>
                  <a:ea typeface="+mj-ea"/>
                  <a:cs typeface="함초롬돋움"/>
                </a:rPr>
                <a:t>모임 탈퇴</a:t>
              </a:r>
              <a:endParaRPr lang="ko-KR" altLang="en-US" sz="1500" spc="-60">
                <a:solidFill>
                  <a:srgbClr val="334155"/>
                </a:solidFill>
                <a:latin typeface="함초롬돋움"/>
                <a:ea typeface="+mj-ea"/>
                <a:cs typeface="함초롬돋움"/>
              </a:endParaRPr>
            </a:p>
          </p:txBody>
        </p:sp>
        <p:sp>
          <p:nvSpPr>
            <p:cNvPr id="17" name="object 9"/>
            <p:cNvSpPr txBox="1"/>
            <p:nvPr/>
          </p:nvSpPr>
          <p:spPr>
            <a:xfrm>
              <a:off x="7411084" y="2286000"/>
              <a:ext cx="2799716" cy="314325"/>
            </a:xfrm>
            <a:prstGeom prst="rect">
              <a:avLst/>
            </a:prstGeom>
            <a:grpFill/>
          </p:spPr>
          <p:txBody>
            <a:bodyPr vert="horz" wrap="square" lIns="0" tIns="12700" rIns="0" bIns="0">
              <a:spAutoFit/>
            </a:bodyPr>
            <a:lstStyle/>
            <a:p>
              <a:pPr marL="12700" lvl="0" algn="ctr">
                <a:lnSpc>
                  <a:spcPct val="100000"/>
                </a:lnSpc>
                <a:spcBef>
                  <a:spcPts val="100"/>
                </a:spcBef>
                <a:defRPr/>
              </a:pPr>
              <a:r>
                <a:rPr lang="en-US" altLang="ko-KR" sz="2000" b="1" spc="65">
                  <a:solidFill>
                    <a:srgbClr val="c49dd6"/>
                  </a:solidFill>
                  <a:latin typeface="함초롬돋움"/>
                  <a:ea typeface="+mj-ea"/>
                  <a:cs typeface="함초롬돋움"/>
                </a:rPr>
                <a:t>4.</a:t>
              </a:r>
              <a:r>
                <a:rPr lang="ko-KR" altLang="en-US" sz="2000" b="1" spc="65">
                  <a:solidFill>
                    <a:srgbClr val="c49dd6"/>
                  </a:solidFill>
                  <a:latin typeface="함초롬돋움"/>
                  <a:ea typeface="+mj-ea"/>
                  <a:cs typeface="함초롬돋움"/>
                </a:rPr>
                <a:t>그룹관리</a:t>
              </a:r>
              <a:endParaRPr lang="ko-KR" altLang="en-US" sz="2000" b="1" spc="65">
                <a:solidFill>
                  <a:srgbClr val="c49dd6"/>
                </a:solidFill>
                <a:latin typeface="함초롬돋움"/>
                <a:ea typeface="+mj-ea"/>
                <a:cs typeface="함초롬돋움"/>
              </a:endParaRPr>
            </a:p>
          </p:txBody>
        </p:sp>
      </p:grpSp>
      <p:pic>
        <p:nvPicPr>
          <p:cNvPr id="19" name="그림 18"/>
          <p:cNvPicPr/>
          <p:nvPr/>
        </p:nvPicPr>
        <p:blipFill rotWithShape="1">
          <a:blip r:embed="rId2"/>
          <a:stretch>
            <a:fillRect/>
          </a:stretch>
        </p:blipFill>
        <p:spPr>
          <a:xfrm>
            <a:off x="990600" y="1371600"/>
            <a:ext cx="5261610" cy="4831969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086758018"/>
      </p:ext>
    </p:extLst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96900" y="439165"/>
            <a:ext cx="1216025" cy="18542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 lvl="0">
              <a:lnSpc>
                <a:spcPct val="100000"/>
              </a:lnSpc>
              <a:spcBef>
                <a:spcPts val="100"/>
              </a:spcBef>
              <a:defRPr/>
            </a:pPr>
            <a:r>
              <a:rPr sz="1050" b="1" spc="-10">
                <a:solidFill>
                  <a:srgbClr val="ea580c"/>
                </a:solidFill>
                <a:latin typeface="함초롬돋움"/>
                <a:ea typeface="+mj-ea"/>
                <a:cs typeface="함초롬돋움"/>
              </a:rPr>
              <a:t>IDEA</a:t>
            </a:r>
            <a:r>
              <a:rPr sz="1050" b="1" spc="-65">
                <a:solidFill>
                  <a:srgbClr val="ea580c"/>
                </a:solidFill>
                <a:latin typeface="함초롬돋움"/>
                <a:ea typeface="+mj-ea"/>
                <a:cs typeface="함초롬돋움"/>
              </a:rPr>
              <a:t> </a:t>
            </a:r>
            <a:r>
              <a:rPr sz="1050" b="1" spc="-10">
                <a:solidFill>
                  <a:srgbClr val="ea580c"/>
                </a:solidFill>
                <a:latin typeface="함초롬돋움"/>
                <a:ea typeface="+mj-ea"/>
                <a:cs typeface="함초롬돋움"/>
              </a:rPr>
              <a:t>GENERATION</a:t>
            </a:r>
            <a:endParaRPr sz="1050">
              <a:latin typeface="함초롬돋움"/>
              <a:ea typeface="+mj-ea"/>
              <a:cs typeface="함초롬돋움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 idx="0"/>
          </p:nvPr>
        </p:nvSpPr>
        <p:spPr>
          <a:xfrm>
            <a:off x="596900" y="641858"/>
            <a:ext cx="4196715" cy="739267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 lvl="0">
              <a:lnSpc>
                <a:spcPct val="100000"/>
              </a:lnSpc>
              <a:spcBef>
                <a:spcPts val="100"/>
              </a:spcBef>
              <a:defRPr/>
            </a:pPr>
            <a:r>
              <a:rPr spc="-145"/>
              <a:t>아이디어</a:t>
            </a:r>
            <a:r>
              <a:rPr spc="-170"/>
              <a:t> </a:t>
            </a:r>
            <a:r>
              <a:rPr spc="-145"/>
              <a:t>창출</a:t>
            </a:r>
            <a:r>
              <a:rPr spc="-165"/>
              <a:t> </a:t>
            </a:r>
            <a:r>
              <a:rPr spc="-145"/>
              <a:t>및</a:t>
            </a:r>
            <a:r>
              <a:rPr spc="-170"/>
              <a:t> </a:t>
            </a:r>
            <a:r>
              <a:rPr spc="-25"/>
              <a:t>5대</a:t>
            </a:r>
            <a:r>
              <a:rPr spc="-165"/>
              <a:t> </a:t>
            </a:r>
            <a:r>
              <a:rPr spc="-145"/>
              <a:t>영역</a:t>
            </a:r>
            <a:r>
              <a:rPr spc="-170"/>
              <a:t> </a:t>
            </a:r>
            <a:r>
              <a:rPr spc="-35"/>
              <a:t>구조화</a:t>
            </a:r>
            <a:endParaRPr spc="-35"/>
          </a:p>
        </p:txBody>
      </p:sp>
      <p:grpSp>
        <p:nvGrpSpPr>
          <p:cNvPr id="18" name=""/>
          <p:cNvGrpSpPr/>
          <p:nvPr/>
        </p:nvGrpSpPr>
        <p:grpSpPr>
          <a:xfrm rot="0">
            <a:off x="7315200" y="1714500"/>
            <a:ext cx="3556000" cy="3429000"/>
            <a:chOff x="7035800" y="1447800"/>
            <a:chExt cx="3556000" cy="3429000"/>
          </a:xfrm>
          <a:solidFill>
            <a:srgbClr val="f7fafc"/>
          </a:solidFill>
        </p:grpSpPr>
        <p:sp>
          <p:nvSpPr>
            <p:cNvPr id="15" name="object 2"/>
            <p:cNvSpPr/>
            <p:nvPr/>
          </p:nvSpPr>
          <p:spPr>
            <a:xfrm>
              <a:off x="7035800" y="1447800"/>
              <a:ext cx="3556000" cy="3429000"/>
            </a:xfrm>
            <a:custGeom>
              <a:avLst/>
              <a:gdLst/>
              <a:rect l="l" t="t" r="r" b="b"/>
              <a:pathLst>
                <a:path w="3556000" h="1028700">
                  <a:moveTo>
                    <a:pt x="3479754" y="1028699"/>
                  </a:moveTo>
                  <a:lnTo>
                    <a:pt x="76195" y="1028699"/>
                  </a:lnTo>
                  <a:lnTo>
                    <a:pt x="46536" y="1022712"/>
                  </a:lnTo>
                  <a:lnTo>
                    <a:pt x="22317" y="1006382"/>
                  </a:lnTo>
                  <a:lnTo>
                    <a:pt x="5987" y="982163"/>
                  </a:lnTo>
                  <a:lnTo>
                    <a:pt x="0" y="952504"/>
                  </a:lnTo>
                  <a:lnTo>
                    <a:pt x="0" y="76195"/>
                  </a:lnTo>
                  <a:lnTo>
                    <a:pt x="5987" y="46536"/>
                  </a:lnTo>
                  <a:lnTo>
                    <a:pt x="22317" y="22317"/>
                  </a:lnTo>
                  <a:lnTo>
                    <a:pt x="46536" y="5987"/>
                  </a:lnTo>
                  <a:lnTo>
                    <a:pt x="76195" y="0"/>
                  </a:lnTo>
                  <a:lnTo>
                    <a:pt x="3479754" y="0"/>
                  </a:lnTo>
                  <a:lnTo>
                    <a:pt x="3522027" y="12801"/>
                  </a:lnTo>
                  <a:lnTo>
                    <a:pt x="3550149" y="47036"/>
                  </a:lnTo>
                  <a:lnTo>
                    <a:pt x="3555949" y="76195"/>
                  </a:lnTo>
                  <a:lnTo>
                    <a:pt x="3555949" y="952504"/>
                  </a:lnTo>
                  <a:lnTo>
                    <a:pt x="3549962" y="982163"/>
                  </a:lnTo>
                  <a:lnTo>
                    <a:pt x="3533632" y="1006382"/>
                  </a:lnTo>
                  <a:lnTo>
                    <a:pt x="3509413" y="1022712"/>
                  </a:lnTo>
                  <a:lnTo>
                    <a:pt x="3479754" y="1028699"/>
                  </a:lnTo>
                  <a:close/>
                </a:path>
              </a:pathLst>
            </a:custGeom>
            <a:grpFill/>
          </p:spPr>
          <p:txBody>
            <a:bodyPr wrap="square" lIns="0" tIns="0" rIns="0" bIns="0"/>
            <a:lstStyle/>
            <a:p>
              <a:pPr lvl="0">
                <a:defRPr/>
              </a:pPr>
              <a:endParaRPr lang="ko-KR" altLang="en-US"/>
            </a:p>
          </p:txBody>
        </p:sp>
        <p:sp>
          <p:nvSpPr>
            <p:cNvPr id="16" name="object 9"/>
            <p:cNvSpPr txBox="1"/>
            <p:nvPr/>
          </p:nvSpPr>
          <p:spPr>
            <a:xfrm>
              <a:off x="7430768" y="2876550"/>
              <a:ext cx="2799716" cy="723900"/>
            </a:xfrm>
            <a:prstGeom prst="rect">
              <a:avLst/>
            </a:prstGeom>
            <a:grpFill/>
          </p:spPr>
          <p:txBody>
            <a:bodyPr vert="horz" wrap="square" lIns="0" tIns="12700" rIns="0" bIns="0">
              <a:spAutoFit/>
            </a:bodyPr>
            <a:lstStyle/>
            <a:p>
              <a:pPr marL="12700" lvl="0" algn="ctr">
                <a:lnSpc>
                  <a:spcPct val="100000"/>
                </a:lnSpc>
                <a:spcBef>
                  <a:spcPts val="100"/>
                </a:spcBef>
                <a:defRPr/>
              </a:pPr>
              <a:r>
                <a:rPr lang="en-US" altLang="ko-KR" sz="1500" spc="-60">
                  <a:solidFill>
                    <a:srgbClr val="334155"/>
                  </a:solidFill>
                  <a:latin typeface="함초롬돋움"/>
                  <a:ea typeface="+mj-ea"/>
                  <a:cs typeface="함초롬돋움"/>
                </a:rPr>
                <a:t>-</a:t>
              </a:r>
              <a:r>
                <a:rPr lang="ko-KR" altLang="en-US" sz="1500" spc="-60">
                  <a:solidFill>
                    <a:srgbClr val="334155"/>
                  </a:solidFill>
                  <a:latin typeface="함초롬돋움"/>
                  <a:ea typeface="+mj-ea"/>
                  <a:cs typeface="함초롬돋움"/>
                </a:rPr>
                <a:t>최종 일정 확정</a:t>
              </a:r>
              <a:endParaRPr lang="ko-KR" altLang="en-US" sz="1500" spc="-60">
                <a:solidFill>
                  <a:srgbClr val="334155"/>
                </a:solidFill>
                <a:latin typeface="함초롬돋움"/>
                <a:ea typeface="+mj-ea"/>
                <a:cs typeface="함초롬돋움"/>
              </a:endParaRPr>
            </a:p>
            <a:p>
              <a:pPr marL="12700" lvl="0" algn="ctr">
                <a:lnSpc>
                  <a:spcPct val="100000"/>
                </a:lnSpc>
                <a:spcBef>
                  <a:spcPts val="100"/>
                </a:spcBef>
                <a:defRPr/>
              </a:pPr>
              <a:r>
                <a:rPr lang="en-US" altLang="ko-KR" sz="1500" spc="-60">
                  <a:solidFill>
                    <a:srgbClr val="334155"/>
                  </a:solidFill>
                  <a:latin typeface="함초롬돋움"/>
                  <a:ea typeface="+mj-ea"/>
                  <a:cs typeface="함초롬돋움"/>
                </a:rPr>
                <a:t>-</a:t>
              </a:r>
              <a:r>
                <a:rPr lang="ko-KR" altLang="en-US" sz="1500" spc="-60">
                  <a:solidFill>
                    <a:srgbClr val="334155"/>
                  </a:solidFill>
                  <a:latin typeface="함초롬돋움"/>
                  <a:ea typeface="+mj-ea"/>
                  <a:cs typeface="함초롬돋움"/>
                </a:rPr>
                <a:t>외부 캘린더 내보내기</a:t>
              </a:r>
              <a:endParaRPr lang="ko-KR" altLang="en-US" sz="1500" spc="-60">
                <a:solidFill>
                  <a:srgbClr val="334155"/>
                </a:solidFill>
                <a:latin typeface="함초롬돋움"/>
                <a:ea typeface="+mj-ea"/>
                <a:cs typeface="함초롬돋움"/>
              </a:endParaRPr>
            </a:p>
            <a:p>
              <a:pPr marL="12700" lvl="0" algn="ctr">
                <a:lnSpc>
                  <a:spcPct val="100000"/>
                </a:lnSpc>
                <a:spcBef>
                  <a:spcPts val="100"/>
                </a:spcBef>
                <a:defRPr/>
              </a:pPr>
              <a:r>
                <a:rPr lang="en-US" altLang="ko-KR" sz="1500" spc="-60">
                  <a:solidFill>
                    <a:srgbClr val="334155"/>
                  </a:solidFill>
                  <a:latin typeface="함초롬돋움"/>
                  <a:ea typeface="+mj-ea"/>
                  <a:cs typeface="함초롬돋움"/>
                </a:rPr>
                <a:t>-</a:t>
              </a:r>
              <a:r>
                <a:rPr lang="ko-KR" altLang="en-US" sz="1500" spc="-60">
                  <a:solidFill>
                    <a:srgbClr val="334155"/>
                  </a:solidFill>
                  <a:latin typeface="함초롬돋움"/>
                  <a:ea typeface="+mj-ea"/>
                  <a:cs typeface="함초롬돋움"/>
                </a:rPr>
                <a:t>결과 화면 이미지 링크 공유</a:t>
              </a:r>
              <a:endParaRPr lang="ko-KR" altLang="en-US" sz="1500" spc="-60">
                <a:solidFill>
                  <a:srgbClr val="334155"/>
                </a:solidFill>
                <a:latin typeface="함초롬돋움"/>
                <a:ea typeface="+mj-ea"/>
                <a:cs typeface="함초롬돋움"/>
              </a:endParaRPr>
            </a:p>
          </p:txBody>
        </p:sp>
        <p:sp>
          <p:nvSpPr>
            <p:cNvPr id="17" name="object 9"/>
            <p:cNvSpPr txBox="1"/>
            <p:nvPr/>
          </p:nvSpPr>
          <p:spPr>
            <a:xfrm>
              <a:off x="7411084" y="2286000"/>
              <a:ext cx="2799716" cy="314325"/>
            </a:xfrm>
            <a:prstGeom prst="rect">
              <a:avLst/>
            </a:prstGeom>
            <a:grpFill/>
          </p:spPr>
          <p:txBody>
            <a:bodyPr vert="horz" wrap="square" lIns="0" tIns="12700" rIns="0" bIns="0">
              <a:spAutoFit/>
            </a:bodyPr>
            <a:lstStyle/>
            <a:p>
              <a:pPr marL="12700" lvl="0" algn="ctr">
                <a:lnSpc>
                  <a:spcPct val="100000"/>
                </a:lnSpc>
                <a:spcBef>
                  <a:spcPts val="100"/>
                </a:spcBef>
                <a:defRPr/>
              </a:pPr>
              <a:r>
                <a:rPr lang="en-US" altLang="ko-KR" sz="2000" b="1" spc="65">
                  <a:solidFill>
                    <a:srgbClr val="858585"/>
                  </a:solidFill>
                  <a:latin typeface="함초롬돋움"/>
                  <a:ea typeface="+mj-ea"/>
                  <a:cs typeface="함초롬돋움"/>
                </a:rPr>
                <a:t>5.</a:t>
              </a:r>
              <a:r>
                <a:rPr lang="ko-KR" altLang="en-US" sz="2000" b="1" spc="65">
                  <a:solidFill>
                    <a:srgbClr val="858585"/>
                  </a:solidFill>
                  <a:latin typeface="함초롬돋움"/>
                  <a:ea typeface="+mj-ea"/>
                  <a:cs typeface="함초롬돋움"/>
                </a:rPr>
                <a:t>일정 확정 및 연동</a:t>
              </a:r>
              <a:endParaRPr lang="ko-KR" altLang="en-US" sz="2000" b="1" spc="65">
                <a:solidFill>
                  <a:srgbClr val="858585"/>
                </a:solidFill>
                <a:latin typeface="함초롬돋움"/>
                <a:ea typeface="+mj-ea"/>
                <a:cs typeface="함초롬돋움"/>
              </a:endParaRPr>
            </a:p>
          </p:txBody>
        </p:sp>
      </p:grpSp>
      <p:pic>
        <p:nvPicPr>
          <p:cNvPr id="19" name="그림 18"/>
          <p:cNvPicPr/>
          <p:nvPr/>
        </p:nvPicPr>
        <p:blipFill rotWithShape="1">
          <a:blip r:embed="rId2"/>
          <a:stretch>
            <a:fillRect/>
          </a:stretch>
        </p:blipFill>
        <p:spPr>
          <a:xfrm>
            <a:off x="990600" y="1371600"/>
            <a:ext cx="5261610" cy="4831969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799962510"/>
      </p:ext>
    </p:extLst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09600" y="3057525"/>
            <a:ext cx="3505200" cy="1638300"/>
          </a:xfrm>
          <a:custGeom>
            <a:avLst/>
            <a:gdLst/>
            <a:ahLst/>
            <a:cxnLst/>
            <a:rect l="l" t="t" r="r" b="b"/>
            <a:pathLst>
              <a:path w="3505200" h="1638300">
                <a:moveTo>
                  <a:pt x="3409965" y="1638299"/>
                </a:moveTo>
                <a:lnTo>
                  <a:pt x="95234" y="1638299"/>
                </a:lnTo>
                <a:lnTo>
                  <a:pt x="58164" y="1630815"/>
                </a:lnTo>
                <a:lnTo>
                  <a:pt x="27893" y="1610406"/>
                </a:lnTo>
                <a:lnTo>
                  <a:pt x="7483" y="1580135"/>
                </a:lnTo>
                <a:lnTo>
                  <a:pt x="0" y="1543065"/>
                </a:lnTo>
                <a:lnTo>
                  <a:pt x="0" y="95234"/>
                </a:lnTo>
                <a:lnTo>
                  <a:pt x="7483" y="58164"/>
                </a:lnTo>
                <a:lnTo>
                  <a:pt x="27893" y="27893"/>
                </a:lnTo>
                <a:lnTo>
                  <a:pt x="58164" y="7483"/>
                </a:lnTo>
                <a:lnTo>
                  <a:pt x="95234" y="0"/>
                </a:lnTo>
                <a:lnTo>
                  <a:pt x="3409965" y="0"/>
                </a:lnTo>
                <a:lnTo>
                  <a:pt x="3462801" y="16000"/>
                </a:lnTo>
                <a:lnTo>
                  <a:pt x="3497950" y="58789"/>
                </a:lnTo>
                <a:lnTo>
                  <a:pt x="3505199" y="95234"/>
                </a:lnTo>
                <a:lnTo>
                  <a:pt x="3505199" y="1543065"/>
                </a:lnTo>
                <a:lnTo>
                  <a:pt x="3497715" y="1580135"/>
                </a:lnTo>
                <a:lnTo>
                  <a:pt x="3477306" y="1610406"/>
                </a:lnTo>
                <a:lnTo>
                  <a:pt x="3447035" y="1630815"/>
                </a:lnTo>
                <a:lnTo>
                  <a:pt x="3409965" y="1638299"/>
                </a:lnTo>
                <a:close/>
              </a:path>
            </a:pathLst>
          </a:custGeom>
          <a:solidFill>
            <a:srgbClr val="F7FA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4343400" y="3171825"/>
            <a:ext cx="3505200" cy="1409700"/>
          </a:xfrm>
          <a:custGeom>
            <a:avLst/>
            <a:gdLst/>
            <a:ahLst/>
            <a:cxnLst/>
            <a:rect l="l" t="t" r="r" b="b"/>
            <a:pathLst>
              <a:path w="3505200" h="1409700">
                <a:moveTo>
                  <a:pt x="3409960" y="1409699"/>
                </a:moveTo>
                <a:lnTo>
                  <a:pt x="95239" y="1409699"/>
                </a:lnTo>
                <a:lnTo>
                  <a:pt x="58168" y="1402215"/>
                </a:lnTo>
                <a:lnTo>
                  <a:pt x="27895" y="1381804"/>
                </a:lnTo>
                <a:lnTo>
                  <a:pt x="7484" y="1351531"/>
                </a:lnTo>
                <a:lnTo>
                  <a:pt x="0" y="1314460"/>
                </a:lnTo>
                <a:lnTo>
                  <a:pt x="0" y="95239"/>
                </a:lnTo>
                <a:lnTo>
                  <a:pt x="7484" y="58167"/>
                </a:lnTo>
                <a:lnTo>
                  <a:pt x="27895" y="27894"/>
                </a:lnTo>
                <a:lnTo>
                  <a:pt x="58168" y="7484"/>
                </a:lnTo>
                <a:lnTo>
                  <a:pt x="95239" y="0"/>
                </a:lnTo>
                <a:lnTo>
                  <a:pt x="3409960" y="0"/>
                </a:lnTo>
                <a:lnTo>
                  <a:pt x="3462799" y="16001"/>
                </a:lnTo>
                <a:lnTo>
                  <a:pt x="3497950" y="58792"/>
                </a:lnTo>
                <a:lnTo>
                  <a:pt x="3505199" y="95239"/>
                </a:lnTo>
                <a:lnTo>
                  <a:pt x="3505199" y="1314460"/>
                </a:lnTo>
                <a:lnTo>
                  <a:pt x="3497715" y="1351531"/>
                </a:lnTo>
                <a:lnTo>
                  <a:pt x="3477305" y="1381804"/>
                </a:lnTo>
                <a:lnTo>
                  <a:pt x="3447032" y="1402215"/>
                </a:lnTo>
                <a:lnTo>
                  <a:pt x="3409960" y="1409699"/>
                </a:lnTo>
                <a:close/>
              </a:path>
            </a:pathLst>
          </a:custGeom>
          <a:solidFill>
            <a:srgbClr val="F7FA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8077200" y="3171825"/>
            <a:ext cx="3505200" cy="1409700"/>
          </a:xfrm>
          <a:custGeom>
            <a:avLst/>
            <a:gdLst/>
            <a:ahLst/>
            <a:cxnLst/>
            <a:rect l="l" t="t" r="r" b="b"/>
            <a:pathLst>
              <a:path w="3505200" h="1409700">
                <a:moveTo>
                  <a:pt x="3409960" y="1409699"/>
                </a:moveTo>
                <a:lnTo>
                  <a:pt x="95238" y="1409699"/>
                </a:lnTo>
                <a:lnTo>
                  <a:pt x="58167" y="1402215"/>
                </a:lnTo>
                <a:lnTo>
                  <a:pt x="27894" y="1381804"/>
                </a:lnTo>
                <a:lnTo>
                  <a:pt x="7484" y="1351531"/>
                </a:lnTo>
                <a:lnTo>
                  <a:pt x="0" y="1314460"/>
                </a:lnTo>
                <a:lnTo>
                  <a:pt x="0" y="95239"/>
                </a:lnTo>
                <a:lnTo>
                  <a:pt x="7484" y="58167"/>
                </a:lnTo>
                <a:lnTo>
                  <a:pt x="27894" y="27894"/>
                </a:lnTo>
                <a:lnTo>
                  <a:pt x="58167" y="7484"/>
                </a:lnTo>
                <a:lnTo>
                  <a:pt x="95238" y="0"/>
                </a:lnTo>
                <a:lnTo>
                  <a:pt x="3409960" y="0"/>
                </a:lnTo>
                <a:lnTo>
                  <a:pt x="3462799" y="16001"/>
                </a:lnTo>
                <a:lnTo>
                  <a:pt x="3497950" y="58792"/>
                </a:lnTo>
                <a:lnTo>
                  <a:pt x="3505199" y="95239"/>
                </a:lnTo>
                <a:lnTo>
                  <a:pt x="3505199" y="1314460"/>
                </a:lnTo>
                <a:lnTo>
                  <a:pt x="3497715" y="1351531"/>
                </a:lnTo>
                <a:lnTo>
                  <a:pt x="3477305" y="1381804"/>
                </a:lnTo>
                <a:lnTo>
                  <a:pt x="3447032" y="1402215"/>
                </a:lnTo>
                <a:lnTo>
                  <a:pt x="3409960" y="1409699"/>
                </a:lnTo>
                <a:close/>
              </a:path>
            </a:pathLst>
          </a:custGeom>
          <a:solidFill>
            <a:srgbClr val="F7FA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876300" y="33242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99" y="304799"/>
                </a:moveTo>
                <a:lnTo>
                  <a:pt x="104229" y="297030"/>
                </a:lnTo>
                <a:lnTo>
                  <a:pt x="62394" y="275395"/>
                </a:lnTo>
                <a:lnTo>
                  <a:pt x="29404" y="242405"/>
                </a:lnTo>
                <a:lnTo>
                  <a:pt x="7769" y="200570"/>
                </a:lnTo>
                <a:lnTo>
                  <a:pt x="0" y="152399"/>
                </a:lnTo>
                <a:lnTo>
                  <a:pt x="7769" y="104229"/>
                </a:lnTo>
                <a:lnTo>
                  <a:pt x="29404" y="62394"/>
                </a:lnTo>
                <a:lnTo>
                  <a:pt x="62394" y="29404"/>
                </a:lnTo>
                <a:lnTo>
                  <a:pt x="104229" y="7769"/>
                </a:lnTo>
                <a:lnTo>
                  <a:pt x="152399" y="0"/>
                </a:lnTo>
                <a:lnTo>
                  <a:pt x="182270" y="2955"/>
                </a:lnTo>
                <a:lnTo>
                  <a:pt x="236951" y="25604"/>
                </a:lnTo>
                <a:lnTo>
                  <a:pt x="279195" y="67848"/>
                </a:lnTo>
                <a:lnTo>
                  <a:pt x="301844" y="122529"/>
                </a:lnTo>
                <a:lnTo>
                  <a:pt x="304799" y="152399"/>
                </a:lnTo>
                <a:lnTo>
                  <a:pt x="297030" y="200570"/>
                </a:lnTo>
                <a:lnTo>
                  <a:pt x="275395" y="242405"/>
                </a:lnTo>
                <a:lnTo>
                  <a:pt x="242405" y="275395"/>
                </a:lnTo>
                <a:lnTo>
                  <a:pt x="200570" y="297030"/>
                </a:lnTo>
                <a:lnTo>
                  <a:pt x="152399" y="304799"/>
                </a:lnTo>
                <a:close/>
              </a:path>
            </a:pathLst>
          </a:custGeom>
          <a:solidFill>
            <a:srgbClr val="2563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4610100" y="34385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99" y="304799"/>
                </a:moveTo>
                <a:lnTo>
                  <a:pt x="104229" y="297030"/>
                </a:lnTo>
                <a:lnTo>
                  <a:pt x="62394" y="275395"/>
                </a:lnTo>
                <a:lnTo>
                  <a:pt x="29404" y="242405"/>
                </a:lnTo>
                <a:lnTo>
                  <a:pt x="7769" y="200570"/>
                </a:lnTo>
                <a:lnTo>
                  <a:pt x="0" y="152399"/>
                </a:lnTo>
                <a:lnTo>
                  <a:pt x="7769" y="104229"/>
                </a:lnTo>
                <a:lnTo>
                  <a:pt x="29404" y="62394"/>
                </a:lnTo>
                <a:lnTo>
                  <a:pt x="62394" y="29404"/>
                </a:lnTo>
                <a:lnTo>
                  <a:pt x="104229" y="7769"/>
                </a:lnTo>
                <a:lnTo>
                  <a:pt x="152399" y="0"/>
                </a:lnTo>
                <a:lnTo>
                  <a:pt x="182270" y="2955"/>
                </a:lnTo>
                <a:lnTo>
                  <a:pt x="236951" y="25604"/>
                </a:lnTo>
                <a:lnTo>
                  <a:pt x="279195" y="67848"/>
                </a:lnTo>
                <a:lnTo>
                  <a:pt x="301844" y="122529"/>
                </a:lnTo>
                <a:lnTo>
                  <a:pt x="304799" y="152399"/>
                </a:lnTo>
                <a:lnTo>
                  <a:pt x="297030" y="200570"/>
                </a:lnTo>
                <a:lnTo>
                  <a:pt x="275395" y="242405"/>
                </a:lnTo>
                <a:lnTo>
                  <a:pt x="242405" y="275395"/>
                </a:lnTo>
                <a:lnTo>
                  <a:pt x="200570" y="297030"/>
                </a:lnTo>
                <a:lnTo>
                  <a:pt x="152399" y="304799"/>
                </a:lnTo>
                <a:close/>
              </a:path>
            </a:pathLst>
          </a:custGeom>
          <a:solidFill>
            <a:srgbClr val="16A34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8343900" y="34385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99" y="304799"/>
                </a:moveTo>
                <a:lnTo>
                  <a:pt x="104229" y="297030"/>
                </a:lnTo>
                <a:lnTo>
                  <a:pt x="62394" y="275395"/>
                </a:lnTo>
                <a:lnTo>
                  <a:pt x="29404" y="242405"/>
                </a:lnTo>
                <a:lnTo>
                  <a:pt x="7769" y="200570"/>
                </a:lnTo>
                <a:lnTo>
                  <a:pt x="0" y="152399"/>
                </a:lnTo>
                <a:lnTo>
                  <a:pt x="7769" y="104229"/>
                </a:lnTo>
                <a:lnTo>
                  <a:pt x="29404" y="62394"/>
                </a:lnTo>
                <a:lnTo>
                  <a:pt x="62394" y="29404"/>
                </a:lnTo>
                <a:lnTo>
                  <a:pt x="104229" y="7769"/>
                </a:lnTo>
                <a:lnTo>
                  <a:pt x="152399" y="0"/>
                </a:lnTo>
                <a:lnTo>
                  <a:pt x="182270" y="2955"/>
                </a:lnTo>
                <a:lnTo>
                  <a:pt x="236951" y="25604"/>
                </a:lnTo>
                <a:lnTo>
                  <a:pt x="279195" y="67848"/>
                </a:lnTo>
                <a:lnTo>
                  <a:pt x="301844" y="122529"/>
                </a:lnTo>
                <a:lnTo>
                  <a:pt x="304799" y="152399"/>
                </a:lnTo>
                <a:lnTo>
                  <a:pt x="297030" y="200570"/>
                </a:lnTo>
                <a:lnTo>
                  <a:pt x="275395" y="242405"/>
                </a:lnTo>
                <a:lnTo>
                  <a:pt x="242405" y="275395"/>
                </a:lnTo>
                <a:lnTo>
                  <a:pt x="200570" y="297030"/>
                </a:lnTo>
                <a:lnTo>
                  <a:pt x="152399" y="304799"/>
                </a:lnTo>
                <a:close/>
              </a:path>
            </a:pathLst>
          </a:custGeom>
          <a:solidFill>
            <a:srgbClr val="EA580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596900" y="439165"/>
            <a:ext cx="148399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 b="1">
                <a:solidFill>
                  <a:srgbClr val="EA580C"/>
                </a:solidFill>
                <a:latin typeface="함초롬돋움"/>
                <a:cs typeface="함초롬돋움"/>
              </a:rPr>
              <a:t>EVALUATION</a:t>
            </a:r>
            <a:r>
              <a:rPr dirty="0" sz="1050" b="1">
                <a:solidFill>
                  <a:srgbClr val="EA580C"/>
                </a:solidFill>
                <a:latin typeface="함초롬돋움"/>
                <a:cs typeface="함초롬돋움"/>
              </a:rPr>
              <a:t> </a:t>
            </a:r>
            <a:r>
              <a:rPr dirty="0" sz="1050" spc="-10" b="1">
                <a:solidFill>
                  <a:srgbClr val="EA580C"/>
                </a:solidFill>
                <a:latin typeface="함초롬돋움"/>
                <a:cs typeface="함초롬돋움"/>
              </a:rPr>
              <a:t>CRITERIA</a:t>
            </a:r>
            <a:endParaRPr sz="1050">
              <a:latin typeface="함초롬돋움"/>
              <a:cs typeface="함초롬돋움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5"/>
              <a:t>아이디어</a:t>
            </a:r>
            <a:r>
              <a:rPr dirty="0" spc="-160"/>
              <a:t> </a:t>
            </a:r>
            <a:r>
              <a:rPr dirty="0" spc="-105"/>
              <a:t>다듬기:</a:t>
            </a:r>
            <a:r>
              <a:rPr dirty="0" spc="-160"/>
              <a:t> </a:t>
            </a:r>
            <a:r>
              <a:rPr dirty="0" spc="-145"/>
              <a:t>우선순위</a:t>
            </a:r>
            <a:r>
              <a:rPr dirty="0" spc="-155"/>
              <a:t> </a:t>
            </a:r>
            <a:r>
              <a:rPr dirty="0" spc="-145"/>
              <a:t>평가</a:t>
            </a:r>
            <a:r>
              <a:rPr dirty="0" spc="-160"/>
              <a:t> </a:t>
            </a:r>
            <a:r>
              <a:rPr dirty="0" spc="-25"/>
              <a:t>기준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863600" y="3328289"/>
            <a:ext cx="2914015" cy="86804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0014">
              <a:lnSpc>
                <a:spcPct val="100000"/>
              </a:lnSpc>
              <a:spcBef>
                <a:spcPts val="100"/>
              </a:spcBef>
              <a:tabLst>
                <a:tab pos="431165" algn="l"/>
              </a:tabLst>
            </a:pPr>
            <a:r>
              <a:rPr dirty="0" sz="1200" spc="-50" b="1">
                <a:solidFill>
                  <a:srgbClr val="FFFFFF"/>
                </a:solidFill>
                <a:latin typeface="함초롬돋움"/>
                <a:cs typeface="함초롬돋움"/>
              </a:rPr>
              <a:t>1</a:t>
            </a:r>
            <a:r>
              <a:rPr dirty="0" sz="1200" b="1">
                <a:solidFill>
                  <a:srgbClr val="FFFFFF"/>
                </a:solidFill>
                <a:latin typeface="함초롬돋움"/>
                <a:cs typeface="함초롬돋움"/>
              </a:rPr>
              <a:t>	</a:t>
            </a:r>
            <a:r>
              <a:rPr dirty="0" sz="1500" spc="-80" b="1">
                <a:solidFill>
                  <a:srgbClr val="0F172A"/>
                </a:solidFill>
                <a:latin typeface="함초롬돋움"/>
                <a:cs typeface="함초롬돋움"/>
              </a:rPr>
              <a:t>사용자</a:t>
            </a:r>
            <a:r>
              <a:rPr dirty="0" sz="1500" spc="-85" b="1">
                <a:solidFill>
                  <a:srgbClr val="0F172A"/>
                </a:solidFill>
                <a:latin typeface="함초롬돋움"/>
                <a:cs typeface="함초롬돋움"/>
              </a:rPr>
              <a:t> </a:t>
            </a:r>
            <a:r>
              <a:rPr dirty="0" sz="1500" spc="-80" b="1">
                <a:solidFill>
                  <a:srgbClr val="0F172A"/>
                </a:solidFill>
                <a:latin typeface="함초롬돋움"/>
                <a:cs typeface="함초롬돋움"/>
              </a:rPr>
              <a:t>요구사항</a:t>
            </a:r>
            <a:r>
              <a:rPr dirty="0" sz="1500" spc="-85" b="1">
                <a:solidFill>
                  <a:srgbClr val="0F172A"/>
                </a:solidFill>
                <a:latin typeface="함초롬돋움"/>
                <a:cs typeface="함초롬돋움"/>
              </a:rPr>
              <a:t> </a:t>
            </a:r>
            <a:r>
              <a:rPr dirty="0" sz="1500" spc="-25" b="1">
                <a:solidFill>
                  <a:srgbClr val="0F172A"/>
                </a:solidFill>
                <a:latin typeface="함초롬돋움"/>
                <a:cs typeface="함초롬돋움"/>
              </a:rPr>
              <a:t>충족도</a:t>
            </a:r>
            <a:endParaRPr sz="1500">
              <a:latin typeface="함초롬돋움"/>
              <a:cs typeface="함초롬돋움"/>
            </a:endParaRPr>
          </a:p>
          <a:p>
            <a:pPr marL="12700" marR="5080">
              <a:lnSpc>
                <a:spcPct val="163600"/>
              </a:lnSpc>
              <a:spcBef>
                <a:spcPts val="505"/>
              </a:spcBef>
            </a:pPr>
            <a:r>
              <a:rPr dirty="0" sz="1100" spc="-40">
                <a:solidFill>
                  <a:srgbClr val="475568"/>
                </a:solidFill>
                <a:latin typeface="함초롬돋움"/>
                <a:cs typeface="함초롬돋움"/>
              </a:rPr>
              <a:t>수작업</a:t>
            </a:r>
            <a:r>
              <a:rPr dirty="0" sz="1100" spc="-60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475568"/>
                </a:solidFill>
                <a:latin typeface="함초롬돋움"/>
                <a:cs typeface="함초롬돋움"/>
              </a:rPr>
              <a:t>비교</a:t>
            </a:r>
            <a:r>
              <a:rPr dirty="0" sz="1100" spc="-60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475568"/>
                </a:solidFill>
                <a:latin typeface="함초롬돋움"/>
                <a:cs typeface="함초롬돋움"/>
              </a:rPr>
              <a:t>및</a:t>
            </a:r>
            <a:r>
              <a:rPr dirty="0" sz="1100" spc="-55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475568"/>
                </a:solidFill>
                <a:latin typeface="함초롬돋움"/>
                <a:cs typeface="함초롬돋움"/>
              </a:rPr>
              <a:t>이중</a:t>
            </a:r>
            <a:r>
              <a:rPr dirty="0" sz="1100" spc="-60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475568"/>
                </a:solidFill>
                <a:latin typeface="함초롬돋움"/>
                <a:cs typeface="함초롬돋움"/>
              </a:rPr>
              <a:t>입력의</a:t>
            </a:r>
            <a:r>
              <a:rPr dirty="0" sz="1100" spc="-60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475568"/>
                </a:solidFill>
                <a:latin typeface="함초롬돋움"/>
                <a:cs typeface="함초롬돋움"/>
              </a:rPr>
              <a:t>번거로움을</a:t>
            </a:r>
            <a:r>
              <a:rPr dirty="0" sz="1100" spc="-55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100" spc="-25">
                <a:solidFill>
                  <a:srgbClr val="475568"/>
                </a:solidFill>
                <a:latin typeface="함초롬돋움"/>
                <a:cs typeface="함초롬돋움"/>
              </a:rPr>
              <a:t>얼마나 </a:t>
            </a:r>
            <a:r>
              <a:rPr dirty="0" sz="1100" spc="-40">
                <a:solidFill>
                  <a:srgbClr val="475568"/>
                </a:solidFill>
                <a:latin typeface="함초롬돋움"/>
                <a:cs typeface="함초롬돋움"/>
              </a:rPr>
              <a:t>근본적으로</a:t>
            </a:r>
            <a:r>
              <a:rPr dirty="0" sz="1100" spc="-60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475568"/>
                </a:solidFill>
                <a:latin typeface="함초롬돋움"/>
                <a:cs typeface="함초롬돋움"/>
              </a:rPr>
              <a:t>해소하고</a:t>
            </a:r>
            <a:r>
              <a:rPr dirty="0" sz="1100" spc="-45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475568"/>
                </a:solidFill>
                <a:latin typeface="함초롬돋움"/>
                <a:cs typeface="함초롬돋움"/>
              </a:rPr>
              <a:t>직관적</a:t>
            </a:r>
            <a:r>
              <a:rPr dirty="0" sz="1100" spc="-50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475568"/>
                </a:solidFill>
                <a:latin typeface="함초롬돋움"/>
                <a:cs typeface="함초롬돋움"/>
              </a:rPr>
              <a:t>편의성을</a:t>
            </a:r>
            <a:r>
              <a:rPr dirty="0" sz="1100" spc="-45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100" spc="-25">
                <a:solidFill>
                  <a:srgbClr val="475568"/>
                </a:solidFill>
                <a:latin typeface="함초롬돋움"/>
                <a:cs typeface="함초롬돋움"/>
              </a:rPr>
              <a:t>제공하는가</a:t>
            </a:r>
            <a:endParaRPr sz="1100">
              <a:latin typeface="함초롬돋움"/>
              <a:cs typeface="함초롬돋움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597400" y="3442589"/>
            <a:ext cx="2844800" cy="86804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0014">
              <a:lnSpc>
                <a:spcPct val="100000"/>
              </a:lnSpc>
              <a:spcBef>
                <a:spcPts val="100"/>
              </a:spcBef>
              <a:tabLst>
                <a:tab pos="431165" algn="l"/>
              </a:tabLst>
            </a:pPr>
            <a:r>
              <a:rPr dirty="0" sz="1200" spc="-50" b="1">
                <a:solidFill>
                  <a:srgbClr val="FFFFFF"/>
                </a:solidFill>
                <a:latin typeface="함초롬돋움"/>
                <a:cs typeface="함초롬돋움"/>
              </a:rPr>
              <a:t>2</a:t>
            </a:r>
            <a:r>
              <a:rPr dirty="0" sz="1200" b="1">
                <a:solidFill>
                  <a:srgbClr val="FFFFFF"/>
                </a:solidFill>
                <a:latin typeface="함초롬돋움"/>
                <a:cs typeface="함초롬돋움"/>
              </a:rPr>
              <a:t>	</a:t>
            </a:r>
            <a:r>
              <a:rPr dirty="0" sz="1500" spc="-80" b="1">
                <a:solidFill>
                  <a:srgbClr val="0F172A"/>
                </a:solidFill>
                <a:latin typeface="함초롬돋움"/>
                <a:cs typeface="함초롬돋움"/>
              </a:rPr>
              <a:t>현실적</a:t>
            </a:r>
            <a:r>
              <a:rPr dirty="0" sz="1500" spc="-95" b="1">
                <a:solidFill>
                  <a:srgbClr val="0F172A"/>
                </a:solidFill>
                <a:latin typeface="함초롬돋움"/>
                <a:cs typeface="함초롬돋움"/>
              </a:rPr>
              <a:t> </a:t>
            </a:r>
            <a:r>
              <a:rPr dirty="0" sz="1500" spc="-80" b="1">
                <a:solidFill>
                  <a:srgbClr val="0F172A"/>
                </a:solidFill>
                <a:latin typeface="함초롬돋움"/>
                <a:cs typeface="함초롬돋움"/>
              </a:rPr>
              <a:t>구현</a:t>
            </a:r>
            <a:r>
              <a:rPr dirty="0" sz="1500" spc="-90" b="1">
                <a:solidFill>
                  <a:srgbClr val="0F172A"/>
                </a:solidFill>
                <a:latin typeface="함초롬돋움"/>
                <a:cs typeface="함초롬돋움"/>
              </a:rPr>
              <a:t> </a:t>
            </a:r>
            <a:r>
              <a:rPr dirty="0" sz="1500" spc="-25" b="1">
                <a:solidFill>
                  <a:srgbClr val="0F172A"/>
                </a:solidFill>
                <a:latin typeface="함초롬돋움"/>
                <a:cs typeface="함초롬돋움"/>
              </a:rPr>
              <a:t>가능성</a:t>
            </a:r>
            <a:endParaRPr sz="1500">
              <a:latin typeface="함초롬돋움"/>
              <a:cs typeface="함초롬돋움"/>
            </a:endParaRPr>
          </a:p>
          <a:p>
            <a:pPr marL="12700" marR="5080">
              <a:lnSpc>
                <a:spcPct val="163600"/>
              </a:lnSpc>
              <a:spcBef>
                <a:spcPts val="505"/>
              </a:spcBef>
            </a:pPr>
            <a:r>
              <a:rPr dirty="0" sz="1100" spc="-25">
                <a:solidFill>
                  <a:srgbClr val="475568"/>
                </a:solidFill>
                <a:latin typeface="함초롬돋움"/>
                <a:cs typeface="함초롬돋움"/>
              </a:rPr>
              <a:t>5명의</a:t>
            </a:r>
            <a:r>
              <a:rPr dirty="0" sz="1100" spc="-70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475568"/>
                </a:solidFill>
                <a:latin typeface="함초롬돋움"/>
                <a:cs typeface="함초롬돋움"/>
              </a:rPr>
              <a:t>팀원이</a:t>
            </a:r>
            <a:r>
              <a:rPr dirty="0" sz="1100" spc="-65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475568"/>
                </a:solidFill>
                <a:latin typeface="함초롬돋움"/>
                <a:cs typeface="함초롬돋움"/>
              </a:rPr>
              <a:t>한</a:t>
            </a:r>
            <a:r>
              <a:rPr dirty="0" sz="1100" spc="-70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100">
                <a:solidFill>
                  <a:srgbClr val="475568"/>
                </a:solidFill>
                <a:latin typeface="함초롬돋움"/>
                <a:cs typeface="함초롬돋움"/>
              </a:rPr>
              <a:t>학기(12주)</a:t>
            </a:r>
            <a:r>
              <a:rPr dirty="0" sz="1100" spc="-65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475568"/>
                </a:solidFill>
                <a:latin typeface="함초롬돋움"/>
                <a:cs typeface="함초롬돋움"/>
              </a:rPr>
              <a:t>내</a:t>
            </a:r>
            <a:r>
              <a:rPr dirty="0" sz="1100" spc="-65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100" spc="-10">
                <a:solidFill>
                  <a:srgbClr val="475568"/>
                </a:solidFill>
                <a:latin typeface="함초롬돋움"/>
                <a:cs typeface="함초롬돋움"/>
              </a:rPr>
              <a:t>MVP</a:t>
            </a:r>
            <a:r>
              <a:rPr dirty="0" sz="1100" spc="-70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475568"/>
                </a:solidFill>
                <a:latin typeface="함초롬돋움"/>
                <a:cs typeface="함초롬돋움"/>
              </a:rPr>
              <a:t>모델로</a:t>
            </a:r>
            <a:r>
              <a:rPr dirty="0" sz="1100" spc="-65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100" spc="-25">
                <a:solidFill>
                  <a:srgbClr val="475568"/>
                </a:solidFill>
                <a:latin typeface="함초롬돋움"/>
                <a:cs typeface="함초롬돋움"/>
              </a:rPr>
              <a:t>개발 </a:t>
            </a:r>
            <a:r>
              <a:rPr dirty="0" sz="1100" spc="-40">
                <a:solidFill>
                  <a:srgbClr val="475568"/>
                </a:solidFill>
                <a:latin typeface="함초롬돋움"/>
                <a:cs typeface="함초롬돋움"/>
              </a:rPr>
              <a:t>가능한</a:t>
            </a:r>
            <a:r>
              <a:rPr dirty="0" sz="1100" spc="-60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100" spc="-10">
                <a:solidFill>
                  <a:srgbClr val="475568"/>
                </a:solidFill>
                <a:latin typeface="함초롬돋움"/>
                <a:cs typeface="함초롬돋움"/>
              </a:rPr>
              <a:t>난이도인가</a:t>
            </a:r>
            <a:endParaRPr sz="1100">
              <a:latin typeface="함초롬돋움"/>
              <a:cs typeface="함초롬돋움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8331200" y="3442589"/>
            <a:ext cx="3009900" cy="86804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0014">
              <a:lnSpc>
                <a:spcPct val="100000"/>
              </a:lnSpc>
              <a:spcBef>
                <a:spcPts val="100"/>
              </a:spcBef>
              <a:tabLst>
                <a:tab pos="431165" algn="l"/>
              </a:tabLst>
            </a:pPr>
            <a:r>
              <a:rPr dirty="0" sz="1200" spc="-50" b="1">
                <a:solidFill>
                  <a:srgbClr val="FFFFFF"/>
                </a:solidFill>
                <a:latin typeface="함초롬돋움"/>
                <a:cs typeface="함초롬돋움"/>
              </a:rPr>
              <a:t>3</a:t>
            </a:r>
            <a:r>
              <a:rPr dirty="0" sz="1200" b="1">
                <a:solidFill>
                  <a:srgbClr val="FFFFFF"/>
                </a:solidFill>
                <a:latin typeface="함초롬돋움"/>
                <a:cs typeface="함초롬돋움"/>
              </a:rPr>
              <a:t>	</a:t>
            </a:r>
            <a:r>
              <a:rPr dirty="0" sz="1500" spc="-80" b="1">
                <a:solidFill>
                  <a:srgbClr val="0F172A"/>
                </a:solidFill>
                <a:latin typeface="함초롬돋움"/>
                <a:cs typeface="함초롬돋움"/>
              </a:rPr>
              <a:t>서비스</a:t>
            </a:r>
            <a:r>
              <a:rPr dirty="0" sz="1500" spc="-90" b="1">
                <a:solidFill>
                  <a:srgbClr val="0F172A"/>
                </a:solidFill>
                <a:latin typeface="함초롬돋움"/>
                <a:cs typeface="함초롬돋움"/>
              </a:rPr>
              <a:t> </a:t>
            </a:r>
            <a:r>
              <a:rPr dirty="0" sz="1500" spc="-25" b="1">
                <a:solidFill>
                  <a:srgbClr val="0F172A"/>
                </a:solidFill>
                <a:latin typeface="함초롬돋움"/>
                <a:cs typeface="함초롬돋움"/>
              </a:rPr>
              <a:t>경쟁력</a:t>
            </a:r>
            <a:endParaRPr sz="1500">
              <a:latin typeface="함초롬돋움"/>
              <a:cs typeface="함초롬돋움"/>
            </a:endParaRPr>
          </a:p>
          <a:p>
            <a:pPr marL="12700" marR="5080">
              <a:lnSpc>
                <a:spcPct val="163600"/>
              </a:lnSpc>
              <a:spcBef>
                <a:spcPts val="505"/>
              </a:spcBef>
            </a:pPr>
            <a:r>
              <a:rPr dirty="0" sz="1100" spc="-40">
                <a:solidFill>
                  <a:srgbClr val="475568"/>
                </a:solidFill>
                <a:latin typeface="함초롬돋움"/>
                <a:cs typeface="함초롬돋움"/>
              </a:rPr>
              <a:t>기존</a:t>
            </a:r>
            <a:r>
              <a:rPr dirty="0" sz="1100" spc="-60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475568"/>
                </a:solidFill>
                <a:latin typeface="함초롬돋움"/>
                <a:cs typeface="함초롬돋움"/>
              </a:rPr>
              <a:t>유사</a:t>
            </a:r>
            <a:r>
              <a:rPr dirty="0" sz="1100" spc="-60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475568"/>
                </a:solidFill>
                <a:latin typeface="함초롬돋움"/>
                <a:cs typeface="함초롬돋움"/>
              </a:rPr>
              <a:t>앱</a:t>
            </a:r>
            <a:r>
              <a:rPr dirty="0" sz="1100" spc="-60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475568"/>
                </a:solidFill>
                <a:latin typeface="함초롬돋움"/>
                <a:cs typeface="함초롬돋움"/>
              </a:rPr>
              <a:t>대비</a:t>
            </a:r>
            <a:r>
              <a:rPr dirty="0" sz="1100" spc="-60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475568"/>
                </a:solidFill>
                <a:latin typeface="함초롬돋움"/>
                <a:cs typeface="함초롬돋움"/>
              </a:rPr>
              <a:t>흥미를</a:t>
            </a:r>
            <a:r>
              <a:rPr dirty="0" sz="1100" spc="-60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475568"/>
                </a:solidFill>
                <a:latin typeface="함초롬돋움"/>
                <a:cs typeface="함초롬돋움"/>
              </a:rPr>
              <a:t>유발하고</a:t>
            </a:r>
            <a:r>
              <a:rPr dirty="0" sz="1100" spc="-55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475568"/>
                </a:solidFill>
                <a:latin typeface="함초롬돋움"/>
                <a:cs typeface="함초롬돋움"/>
              </a:rPr>
              <a:t>차별화된</a:t>
            </a:r>
            <a:r>
              <a:rPr dirty="0" sz="1100" spc="-60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100" spc="-25">
                <a:solidFill>
                  <a:srgbClr val="475568"/>
                </a:solidFill>
                <a:latin typeface="함초롬돋움"/>
                <a:cs typeface="함초롬돋움"/>
              </a:rPr>
              <a:t>독자적 </a:t>
            </a:r>
            <a:r>
              <a:rPr dirty="0" sz="1100" spc="-40">
                <a:solidFill>
                  <a:srgbClr val="475568"/>
                </a:solidFill>
                <a:latin typeface="함초롬돋움"/>
                <a:cs typeface="함초롬돋움"/>
              </a:rPr>
              <a:t>경쟁력을</a:t>
            </a:r>
            <a:r>
              <a:rPr dirty="0" sz="1100" spc="-60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475568"/>
                </a:solidFill>
                <a:latin typeface="함초롬돋움"/>
                <a:cs typeface="함초롬돋움"/>
              </a:rPr>
              <a:t>확보할</a:t>
            </a:r>
            <a:r>
              <a:rPr dirty="0" sz="1100" spc="-60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475568"/>
                </a:solidFill>
                <a:latin typeface="함초롬돋움"/>
                <a:cs typeface="함초롬돋움"/>
              </a:rPr>
              <a:t>수</a:t>
            </a:r>
            <a:r>
              <a:rPr dirty="0" sz="1100" spc="-55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100" spc="-25">
                <a:solidFill>
                  <a:srgbClr val="475568"/>
                </a:solidFill>
                <a:latin typeface="함초롬돋움"/>
                <a:cs typeface="함초롬돋움"/>
              </a:rPr>
              <a:t>있는가</a:t>
            </a:r>
            <a:endParaRPr sz="1100">
              <a:latin typeface="함초롬돋움"/>
              <a:cs typeface="함초롬돋움"/>
            </a:endParaRPr>
          </a:p>
        </p:txBody>
      </p:sp>
    </p:spTree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596900" y="439165"/>
            <a:ext cx="1483995" cy="18542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 lvl="0">
              <a:lnSpc>
                <a:spcPct val="100000"/>
              </a:lnSpc>
              <a:spcBef>
                <a:spcPts val="100"/>
              </a:spcBef>
              <a:defRPr/>
            </a:pPr>
            <a:r>
              <a:rPr sz="1050" b="1" spc="-10">
                <a:solidFill>
                  <a:srgbClr val="ea580c"/>
                </a:solidFill>
                <a:latin typeface="함초롬돋움"/>
                <a:ea typeface="+mj-ea"/>
                <a:cs typeface="함초롬돋움"/>
              </a:rPr>
              <a:t>EVALUATION</a:t>
            </a:r>
            <a:r>
              <a:rPr sz="1050" b="1">
                <a:solidFill>
                  <a:srgbClr val="ea580c"/>
                </a:solidFill>
                <a:latin typeface="함초롬돋움"/>
                <a:ea typeface="+mj-ea"/>
                <a:cs typeface="함초롬돋움"/>
              </a:rPr>
              <a:t> </a:t>
            </a:r>
            <a:r>
              <a:rPr sz="1050" b="1" spc="-10">
                <a:solidFill>
                  <a:srgbClr val="ea580c"/>
                </a:solidFill>
                <a:latin typeface="함초롬돋움"/>
                <a:ea typeface="+mj-ea"/>
                <a:cs typeface="함초롬돋움"/>
              </a:rPr>
              <a:t>CRITERIA</a:t>
            </a:r>
            <a:endParaRPr sz="1050">
              <a:latin typeface="함초롬돋움"/>
              <a:ea typeface="+mj-ea"/>
              <a:cs typeface="함초롬돋움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 idx="0"/>
          </p:nvPr>
        </p:nvSpPr>
        <p:spPr>
          <a:xfrm>
            <a:off x="596900" y="641858"/>
            <a:ext cx="4607560" cy="739267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 lvl="0">
              <a:lnSpc>
                <a:spcPct val="100000"/>
              </a:lnSpc>
              <a:spcBef>
                <a:spcPts val="100"/>
              </a:spcBef>
              <a:defRPr/>
            </a:pPr>
            <a:r>
              <a:rPr spc="-145"/>
              <a:t>아이디어</a:t>
            </a:r>
            <a:r>
              <a:rPr spc="-160"/>
              <a:t> </a:t>
            </a:r>
            <a:r>
              <a:rPr spc="-104"/>
              <a:t>다듬기:</a:t>
            </a:r>
            <a:r>
              <a:rPr spc="-160"/>
              <a:t> </a:t>
            </a:r>
            <a:r>
              <a:rPr spc="-145"/>
              <a:t>우선순위</a:t>
            </a:r>
            <a:r>
              <a:rPr spc="-155"/>
              <a:t> </a:t>
            </a:r>
            <a:r>
              <a:rPr spc="-145"/>
              <a:t>평가</a:t>
            </a:r>
            <a:r>
              <a:rPr spc="-160"/>
              <a:t> </a:t>
            </a:r>
            <a:r>
              <a:rPr spc="-25"/>
              <a:t>기준</a:t>
            </a:r>
            <a:endParaRPr spc="-25"/>
          </a:p>
        </p:txBody>
      </p:sp>
      <p:grpSp>
        <p:nvGrpSpPr>
          <p:cNvPr id="14" name=""/>
          <p:cNvGrpSpPr/>
          <p:nvPr/>
        </p:nvGrpSpPr>
        <p:grpSpPr>
          <a:xfrm rot="0">
            <a:off x="647700" y="2295525"/>
            <a:ext cx="10896600" cy="600075"/>
            <a:chOff x="927100" y="2415285"/>
            <a:chExt cx="10896600" cy="600075"/>
          </a:xfrm>
        </p:grpSpPr>
        <p:sp>
          <p:nvSpPr>
            <p:cNvPr id="2" name="object 2"/>
            <p:cNvSpPr/>
            <p:nvPr/>
          </p:nvSpPr>
          <p:spPr>
            <a:xfrm>
              <a:off x="927100" y="2415285"/>
              <a:ext cx="10896600" cy="600075"/>
            </a:xfrm>
            <a:custGeom>
              <a:avLst/>
              <a:gdLst/>
              <a:rect l="l" t="t" r="r" b="b"/>
              <a:pathLst>
                <a:path w="3505200" h="1638300">
                  <a:moveTo>
                    <a:pt x="3409965" y="1638299"/>
                  </a:moveTo>
                  <a:lnTo>
                    <a:pt x="95234" y="1638299"/>
                  </a:lnTo>
                  <a:lnTo>
                    <a:pt x="58164" y="1630815"/>
                  </a:lnTo>
                  <a:lnTo>
                    <a:pt x="27893" y="1610406"/>
                  </a:lnTo>
                  <a:lnTo>
                    <a:pt x="7483" y="1580135"/>
                  </a:lnTo>
                  <a:lnTo>
                    <a:pt x="0" y="1543065"/>
                  </a:lnTo>
                  <a:lnTo>
                    <a:pt x="0" y="95234"/>
                  </a:lnTo>
                  <a:lnTo>
                    <a:pt x="7483" y="58164"/>
                  </a:lnTo>
                  <a:lnTo>
                    <a:pt x="27893" y="27893"/>
                  </a:lnTo>
                  <a:lnTo>
                    <a:pt x="58164" y="7483"/>
                  </a:lnTo>
                  <a:lnTo>
                    <a:pt x="95234" y="0"/>
                  </a:lnTo>
                  <a:lnTo>
                    <a:pt x="3409965" y="0"/>
                  </a:lnTo>
                  <a:lnTo>
                    <a:pt x="3462801" y="16000"/>
                  </a:lnTo>
                  <a:lnTo>
                    <a:pt x="3497950" y="58789"/>
                  </a:lnTo>
                  <a:lnTo>
                    <a:pt x="3505199" y="95234"/>
                  </a:lnTo>
                  <a:lnTo>
                    <a:pt x="3505199" y="1543065"/>
                  </a:lnTo>
                  <a:lnTo>
                    <a:pt x="3497715" y="1580135"/>
                  </a:lnTo>
                  <a:lnTo>
                    <a:pt x="3477306" y="1610406"/>
                  </a:lnTo>
                  <a:lnTo>
                    <a:pt x="3447035" y="1630815"/>
                  </a:lnTo>
                  <a:lnTo>
                    <a:pt x="3409965" y="1638299"/>
                  </a:lnTo>
                  <a:close/>
                </a:path>
              </a:pathLst>
            </a:custGeom>
            <a:solidFill>
              <a:srgbClr val="f7fafc"/>
            </a:solidFill>
          </p:spPr>
          <p:txBody>
            <a:bodyPr wrap="square" lIns="0" tIns="0" rIns="0" bIns="0"/>
            <a:lstStyle/>
            <a:p>
              <a:pPr lvl="0">
                <a:defRPr/>
              </a:pPr>
              <a:endParaRPr lang="ko-KR" altLang="en-US"/>
            </a:p>
          </p:txBody>
        </p:sp>
        <p:sp>
          <p:nvSpPr>
            <p:cNvPr id="5" name="object 5"/>
            <p:cNvSpPr/>
            <p:nvPr/>
          </p:nvSpPr>
          <p:spPr>
            <a:xfrm>
              <a:off x="1155700" y="2567685"/>
              <a:ext cx="304800" cy="304800"/>
            </a:xfrm>
            <a:custGeom>
              <a:avLst/>
              <a:gdLst/>
              <a:rect l="l" t="t" r="r" b="b"/>
              <a:pathLst>
                <a:path w="304800" h="304800">
                  <a:moveTo>
                    <a:pt x="152399" y="304799"/>
                  </a:moveTo>
                  <a:lnTo>
                    <a:pt x="104229" y="297030"/>
                  </a:lnTo>
                  <a:lnTo>
                    <a:pt x="62394" y="275395"/>
                  </a:lnTo>
                  <a:lnTo>
                    <a:pt x="29404" y="242405"/>
                  </a:lnTo>
                  <a:lnTo>
                    <a:pt x="7769" y="200570"/>
                  </a:lnTo>
                  <a:lnTo>
                    <a:pt x="0" y="152399"/>
                  </a:lnTo>
                  <a:lnTo>
                    <a:pt x="7769" y="104229"/>
                  </a:lnTo>
                  <a:lnTo>
                    <a:pt x="29404" y="62394"/>
                  </a:lnTo>
                  <a:lnTo>
                    <a:pt x="62394" y="29404"/>
                  </a:lnTo>
                  <a:lnTo>
                    <a:pt x="104229" y="7769"/>
                  </a:lnTo>
                  <a:lnTo>
                    <a:pt x="152399" y="0"/>
                  </a:lnTo>
                  <a:lnTo>
                    <a:pt x="182270" y="2955"/>
                  </a:lnTo>
                  <a:lnTo>
                    <a:pt x="236951" y="25604"/>
                  </a:lnTo>
                  <a:lnTo>
                    <a:pt x="279195" y="67848"/>
                  </a:lnTo>
                  <a:lnTo>
                    <a:pt x="301844" y="122529"/>
                  </a:lnTo>
                  <a:lnTo>
                    <a:pt x="304799" y="152399"/>
                  </a:lnTo>
                  <a:lnTo>
                    <a:pt x="297030" y="200570"/>
                  </a:lnTo>
                  <a:lnTo>
                    <a:pt x="275395" y="242405"/>
                  </a:lnTo>
                  <a:lnTo>
                    <a:pt x="242405" y="275395"/>
                  </a:lnTo>
                  <a:lnTo>
                    <a:pt x="200570" y="297030"/>
                  </a:lnTo>
                  <a:lnTo>
                    <a:pt x="152399" y="304799"/>
                  </a:lnTo>
                  <a:close/>
                </a:path>
              </a:pathLst>
            </a:custGeom>
            <a:solidFill>
              <a:srgbClr val="2563eb"/>
            </a:solidFill>
          </p:spPr>
          <p:txBody>
            <a:bodyPr wrap="square" lIns="0" tIns="0" rIns="0" bIns="0"/>
            <a:lstStyle/>
            <a:p>
              <a:pPr lvl="0">
                <a:defRPr/>
              </a:pPr>
              <a:endParaRPr lang="ko-KR" altLang="en-US"/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1143000" y="2596260"/>
              <a:ext cx="2914015" cy="234061"/>
            </a:xfrm>
            <a:prstGeom prst="rect">
              <a:avLst/>
            </a:prstGeom>
          </p:spPr>
          <p:txBody>
            <a:bodyPr vert="horz" wrap="square" lIns="0" tIns="12700" rIns="0" bIns="0">
              <a:spAutoFit/>
            </a:bodyPr>
            <a:lstStyle/>
            <a:p>
              <a:pPr marL="120014" lvl="0">
                <a:lnSpc>
                  <a:spcPct val="100000"/>
                </a:lnSpc>
                <a:spcBef>
                  <a:spcPts val="100"/>
                </a:spcBef>
                <a:tabLst>
                  <a:tab pos="431165" algn="l"/>
                </a:tabLst>
                <a:defRPr/>
              </a:pPr>
              <a:r>
                <a:rPr sz="1200" b="1">
                  <a:solidFill>
                    <a:srgbClr val="ffffff"/>
                  </a:solidFill>
                  <a:latin typeface="함초롬돋움"/>
                  <a:ea typeface="+mj-ea"/>
                  <a:cs typeface="함초롬돋움"/>
                </a:rPr>
                <a:t>	</a:t>
              </a:r>
              <a:r>
                <a:rPr lang="en-US" altLang="ko-KR" sz="1500" b="1" spc="-25">
                  <a:solidFill>
                    <a:srgbClr val="0f172a"/>
                  </a:solidFill>
                  <a:latin typeface="함초롬돋움"/>
                  <a:ea typeface="+mj-ea"/>
                  <a:cs typeface="함초롬돋움"/>
                </a:rPr>
                <a:t>1</a:t>
              </a:r>
              <a:r>
                <a:rPr lang="ko-KR" altLang="en-US" sz="1500" b="1" spc="-25">
                  <a:solidFill>
                    <a:srgbClr val="0f172a"/>
                  </a:solidFill>
                  <a:latin typeface="함초롬돋움"/>
                  <a:ea typeface="+mj-ea"/>
                  <a:cs typeface="함초롬돋움"/>
                </a:rPr>
                <a:t>점</a:t>
              </a:r>
              <a:endParaRPr lang="ko-KR" altLang="en-US" sz="1500" b="1" spc="-25">
                <a:solidFill>
                  <a:srgbClr val="0f172a"/>
                </a:solidFill>
                <a:latin typeface="함초롬돋움"/>
                <a:ea typeface="+mj-ea"/>
                <a:cs typeface="함초롬돋움"/>
              </a:endParaRPr>
            </a:p>
          </p:txBody>
        </p:sp>
      </p:grpSp>
      <p:sp>
        <p:nvSpPr>
          <p:cNvPr id="13" name="가로 글상자 12"/>
          <p:cNvSpPr txBox="1"/>
          <p:nvPr/>
        </p:nvSpPr>
        <p:spPr>
          <a:xfrm>
            <a:off x="609600" y="1499107"/>
            <a:ext cx="9921240" cy="798195"/>
          </a:xfrm>
          <a:prstGeom prst="rect">
            <a:avLst/>
          </a:prstGeom>
        </p:spPr>
        <p:txBody>
          <a:bodyPr wrap="none">
            <a:spAutoFit/>
          </a:bodyPr>
          <a:p>
            <a:pPr marL="50800" marR="50800" lv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b="0" i="0" u="none" strike="noStrike" baseline="0" mc:Ignorable="hp" hp:hslEmbossed="0">
                <a:solidFill>
                  <a:srgbClr val="000000"/>
                </a:solidFill>
                <a:latin typeface="바탕"/>
                <a:ea typeface="바탕"/>
                <a:cs typeface="바탕"/>
              </a:rPr>
              <a:t>각 기준의 점수 범위는 </a:t>
            </a:r>
            <a:r>
              <a:rPr xmlns:mc="http://schemas.openxmlformats.org/markup-compatibility/2006" xmlns:hp="http://schemas.haansoft.com/office/presentation/8.0" lang="EN-US" b="0" i="0" u="none" strike="noStrike" baseline="0" mc:Ignorable="hp" hp:hslEmbossed="0">
                <a:solidFill>
                  <a:srgbClr val="000000"/>
                </a:solidFill>
                <a:latin typeface="바탕"/>
                <a:ea typeface="바탕"/>
                <a:cs typeface="바탕"/>
              </a:rPr>
              <a:t>1~5</a:t>
            </a:r>
            <a:r>
              <a:rPr xmlns:mc="http://schemas.openxmlformats.org/markup-compatibility/2006" xmlns:hp="http://schemas.haansoft.com/office/presentation/8.0" b="0" i="0" u="none" strike="noStrike" baseline="0" mc:Ignorable="hp" hp:hslEmbossed="0">
                <a:solidFill>
                  <a:srgbClr val="000000"/>
                </a:solidFill>
                <a:latin typeface="바탕"/>
                <a:ea typeface="바탕"/>
                <a:cs typeface="바탕"/>
              </a:rPr>
              <a:t>이며 점수가 커질수록 그 기준을 매우 만족한다는 의미를 나타낸다</a:t>
            </a:r>
            <a:r>
              <a:rPr xmlns:mc="http://schemas.openxmlformats.org/markup-compatibility/2006" xmlns:hp="http://schemas.haansoft.com/office/presentation/8.0" lang="EN-US" b="0" i="0" u="none" strike="noStrike" baseline="0" mc:Ignorable="hp" hp:hslEmbossed="0">
                <a:solidFill>
                  <a:srgbClr val="000000"/>
                </a:solidFill>
                <a:latin typeface="바탕"/>
                <a:ea typeface="바탕"/>
                <a:cs typeface="바탕"/>
              </a:rPr>
              <a:t>.</a:t>
            </a:r>
            <a:endParaRPr xmlns:mc="http://schemas.openxmlformats.org/markup-compatibility/2006" xmlns:hp="http://schemas.haansoft.com/office/presentation/8.0" lang="EN-US" b="0" i="0" u="none" strike="noStrike" baseline="0" mc:Ignorable="hp" hp:hslEmbossed="0">
              <a:solidFill>
                <a:srgbClr val="000000"/>
              </a:solidFill>
              <a:latin typeface="바탕"/>
              <a:ea typeface="바탕"/>
              <a:cs typeface="바탕"/>
            </a:endParaRPr>
          </a:p>
          <a:p>
            <a:pPr marL="50800" marR="50800" lv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  <p:grpSp>
        <p:nvGrpSpPr>
          <p:cNvPr id="15" name="그룹 14"/>
          <p:cNvGrpSpPr/>
          <p:nvPr/>
        </p:nvGrpSpPr>
        <p:grpSpPr>
          <a:xfrm rot="0">
            <a:off x="647700" y="3046095"/>
            <a:ext cx="10896600" cy="600075"/>
            <a:chOff x="927100" y="2415285"/>
            <a:chExt cx="10896600" cy="600075"/>
          </a:xfrm>
        </p:grpSpPr>
        <p:sp>
          <p:nvSpPr>
            <p:cNvPr id="16" name="object 2"/>
            <p:cNvSpPr/>
            <p:nvPr/>
          </p:nvSpPr>
          <p:spPr>
            <a:xfrm>
              <a:off x="927100" y="2415285"/>
              <a:ext cx="10896600" cy="600075"/>
            </a:xfrm>
            <a:custGeom>
              <a:avLst/>
              <a:gdLst/>
              <a:rect l="l" t="t" r="r" b="b"/>
              <a:pathLst>
                <a:path w="3505200" h="1638300">
                  <a:moveTo>
                    <a:pt x="3409965" y="1638299"/>
                  </a:moveTo>
                  <a:lnTo>
                    <a:pt x="95234" y="1638299"/>
                  </a:lnTo>
                  <a:lnTo>
                    <a:pt x="58164" y="1630815"/>
                  </a:lnTo>
                  <a:lnTo>
                    <a:pt x="27893" y="1610406"/>
                  </a:lnTo>
                  <a:lnTo>
                    <a:pt x="7483" y="1580135"/>
                  </a:lnTo>
                  <a:lnTo>
                    <a:pt x="0" y="1543065"/>
                  </a:lnTo>
                  <a:lnTo>
                    <a:pt x="0" y="95234"/>
                  </a:lnTo>
                  <a:lnTo>
                    <a:pt x="7483" y="58164"/>
                  </a:lnTo>
                  <a:lnTo>
                    <a:pt x="27893" y="27893"/>
                  </a:lnTo>
                  <a:lnTo>
                    <a:pt x="58164" y="7483"/>
                  </a:lnTo>
                  <a:lnTo>
                    <a:pt x="95234" y="0"/>
                  </a:lnTo>
                  <a:lnTo>
                    <a:pt x="3409965" y="0"/>
                  </a:lnTo>
                  <a:lnTo>
                    <a:pt x="3462801" y="16000"/>
                  </a:lnTo>
                  <a:lnTo>
                    <a:pt x="3497950" y="58789"/>
                  </a:lnTo>
                  <a:lnTo>
                    <a:pt x="3505199" y="95234"/>
                  </a:lnTo>
                  <a:lnTo>
                    <a:pt x="3505199" y="1543065"/>
                  </a:lnTo>
                  <a:lnTo>
                    <a:pt x="3497715" y="1580135"/>
                  </a:lnTo>
                  <a:lnTo>
                    <a:pt x="3477306" y="1610406"/>
                  </a:lnTo>
                  <a:lnTo>
                    <a:pt x="3447035" y="1630815"/>
                  </a:lnTo>
                  <a:lnTo>
                    <a:pt x="3409965" y="1638299"/>
                  </a:lnTo>
                  <a:close/>
                </a:path>
              </a:pathLst>
            </a:custGeom>
            <a:solidFill>
              <a:srgbClr val="f7fafc"/>
            </a:solidFill>
          </p:spPr>
          <p:txBody>
            <a:bodyPr wrap="square" lIns="0" tIns="0" rIns="0" bIns="0"/>
            <a:lstStyle/>
            <a:p>
              <a:pPr lvl="0">
                <a:defRPr/>
              </a:pPr>
              <a:endParaRPr lang="ko-KR" altLang="en-US"/>
            </a:p>
          </p:txBody>
        </p:sp>
        <p:sp>
          <p:nvSpPr>
            <p:cNvPr id="17" name="object 5"/>
            <p:cNvSpPr/>
            <p:nvPr/>
          </p:nvSpPr>
          <p:spPr>
            <a:xfrm>
              <a:off x="1155700" y="2567685"/>
              <a:ext cx="304800" cy="304800"/>
            </a:xfrm>
            <a:custGeom>
              <a:avLst/>
              <a:gdLst/>
              <a:rect l="l" t="t" r="r" b="b"/>
              <a:pathLst>
                <a:path w="304800" h="304800">
                  <a:moveTo>
                    <a:pt x="152399" y="304799"/>
                  </a:moveTo>
                  <a:lnTo>
                    <a:pt x="104229" y="297030"/>
                  </a:lnTo>
                  <a:lnTo>
                    <a:pt x="62394" y="275395"/>
                  </a:lnTo>
                  <a:lnTo>
                    <a:pt x="29404" y="242405"/>
                  </a:lnTo>
                  <a:lnTo>
                    <a:pt x="7769" y="200570"/>
                  </a:lnTo>
                  <a:lnTo>
                    <a:pt x="0" y="152399"/>
                  </a:lnTo>
                  <a:lnTo>
                    <a:pt x="7769" y="104229"/>
                  </a:lnTo>
                  <a:lnTo>
                    <a:pt x="29404" y="62394"/>
                  </a:lnTo>
                  <a:lnTo>
                    <a:pt x="62394" y="29404"/>
                  </a:lnTo>
                  <a:lnTo>
                    <a:pt x="104229" y="7769"/>
                  </a:lnTo>
                  <a:lnTo>
                    <a:pt x="152399" y="0"/>
                  </a:lnTo>
                  <a:lnTo>
                    <a:pt x="182270" y="2955"/>
                  </a:lnTo>
                  <a:lnTo>
                    <a:pt x="236951" y="25604"/>
                  </a:lnTo>
                  <a:lnTo>
                    <a:pt x="279195" y="67848"/>
                  </a:lnTo>
                  <a:lnTo>
                    <a:pt x="301844" y="122529"/>
                  </a:lnTo>
                  <a:lnTo>
                    <a:pt x="304799" y="152399"/>
                  </a:lnTo>
                  <a:lnTo>
                    <a:pt x="297030" y="200570"/>
                  </a:lnTo>
                  <a:lnTo>
                    <a:pt x="275395" y="242405"/>
                  </a:lnTo>
                  <a:lnTo>
                    <a:pt x="242405" y="275395"/>
                  </a:lnTo>
                  <a:lnTo>
                    <a:pt x="200570" y="297030"/>
                  </a:lnTo>
                  <a:lnTo>
                    <a:pt x="152399" y="304799"/>
                  </a:lnTo>
                  <a:close/>
                </a:path>
              </a:pathLst>
            </a:custGeom>
            <a:solidFill>
              <a:srgbClr val="2563eb"/>
            </a:solidFill>
          </p:spPr>
          <p:txBody>
            <a:bodyPr wrap="square" lIns="0" tIns="0" rIns="0" bIns="0"/>
            <a:lstStyle/>
            <a:p>
              <a:pPr lvl="0">
                <a:defRPr/>
              </a:pPr>
              <a:endParaRPr lang="ko-KR" altLang="en-US"/>
            </a:p>
          </p:txBody>
        </p:sp>
        <p:sp>
          <p:nvSpPr>
            <p:cNvPr id="18" name="object 10"/>
            <p:cNvSpPr txBox="1"/>
            <p:nvPr/>
          </p:nvSpPr>
          <p:spPr>
            <a:xfrm>
              <a:off x="1143000" y="2596260"/>
              <a:ext cx="2914015" cy="240030"/>
            </a:xfrm>
            <a:prstGeom prst="rect">
              <a:avLst/>
            </a:prstGeom>
          </p:spPr>
          <p:txBody>
            <a:bodyPr vert="horz" wrap="square" lIns="0" tIns="12700" rIns="0" bIns="0">
              <a:spAutoFit/>
            </a:bodyPr>
            <a:lstStyle/>
            <a:p>
              <a:pPr marL="120014" lvl="0">
                <a:lnSpc>
                  <a:spcPct val="100000"/>
                </a:lnSpc>
                <a:spcBef>
                  <a:spcPts val="100"/>
                </a:spcBef>
                <a:tabLst>
                  <a:tab pos="431165" algn="l"/>
                </a:tabLst>
                <a:defRPr/>
              </a:pPr>
              <a:r>
                <a:rPr sz="1200" b="1">
                  <a:solidFill>
                    <a:srgbClr val="ffffff"/>
                  </a:solidFill>
                  <a:latin typeface="함초롬돋움"/>
                  <a:ea typeface="+mj-ea"/>
                  <a:cs typeface="함초롬돋움"/>
                </a:rPr>
                <a:t>	</a:t>
              </a:r>
              <a:r>
                <a:rPr lang="en-US" altLang="ko-KR" sz="1500" b="1" spc="-25">
                  <a:solidFill>
                    <a:srgbClr val="0f172a"/>
                  </a:solidFill>
                  <a:latin typeface="함초롬돋움"/>
                  <a:ea typeface="+mj-ea"/>
                  <a:cs typeface="함초롬돋움"/>
                </a:rPr>
                <a:t>2</a:t>
              </a:r>
              <a:r>
                <a:rPr lang="ko-KR" altLang="en-US" sz="1500" b="1" spc="-25">
                  <a:solidFill>
                    <a:srgbClr val="0f172a"/>
                  </a:solidFill>
                  <a:latin typeface="함초롬돋움"/>
                  <a:ea typeface="+mj-ea"/>
                  <a:cs typeface="함초롬돋움"/>
                </a:rPr>
                <a:t>점</a:t>
              </a:r>
              <a:endParaRPr lang="ko-KR" altLang="en-US" sz="1500" b="1" spc="-25">
                <a:solidFill>
                  <a:srgbClr val="0f172a"/>
                </a:solidFill>
                <a:latin typeface="함초롬돋움"/>
                <a:ea typeface="+mj-ea"/>
                <a:cs typeface="함초롬돋움"/>
              </a:endParaRPr>
            </a:p>
          </p:txBody>
        </p:sp>
      </p:grpSp>
      <p:grpSp>
        <p:nvGrpSpPr>
          <p:cNvPr id="19" name="그룹 18"/>
          <p:cNvGrpSpPr/>
          <p:nvPr/>
        </p:nvGrpSpPr>
        <p:grpSpPr>
          <a:xfrm rot="0">
            <a:off x="647700" y="3764152"/>
            <a:ext cx="10896600" cy="600075"/>
            <a:chOff x="927100" y="2415285"/>
            <a:chExt cx="10896600" cy="600075"/>
          </a:xfrm>
        </p:grpSpPr>
        <p:sp>
          <p:nvSpPr>
            <p:cNvPr id="20" name="object 2"/>
            <p:cNvSpPr/>
            <p:nvPr/>
          </p:nvSpPr>
          <p:spPr>
            <a:xfrm>
              <a:off x="927100" y="2415285"/>
              <a:ext cx="10896600" cy="600075"/>
            </a:xfrm>
            <a:custGeom>
              <a:avLst/>
              <a:gdLst/>
              <a:rect l="l" t="t" r="r" b="b"/>
              <a:pathLst>
                <a:path w="3505200" h="1638300">
                  <a:moveTo>
                    <a:pt x="3409965" y="1638299"/>
                  </a:moveTo>
                  <a:lnTo>
                    <a:pt x="95234" y="1638299"/>
                  </a:lnTo>
                  <a:lnTo>
                    <a:pt x="58164" y="1630815"/>
                  </a:lnTo>
                  <a:lnTo>
                    <a:pt x="27893" y="1610406"/>
                  </a:lnTo>
                  <a:lnTo>
                    <a:pt x="7483" y="1580135"/>
                  </a:lnTo>
                  <a:lnTo>
                    <a:pt x="0" y="1543065"/>
                  </a:lnTo>
                  <a:lnTo>
                    <a:pt x="0" y="95234"/>
                  </a:lnTo>
                  <a:lnTo>
                    <a:pt x="7483" y="58164"/>
                  </a:lnTo>
                  <a:lnTo>
                    <a:pt x="27893" y="27893"/>
                  </a:lnTo>
                  <a:lnTo>
                    <a:pt x="58164" y="7483"/>
                  </a:lnTo>
                  <a:lnTo>
                    <a:pt x="95234" y="0"/>
                  </a:lnTo>
                  <a:lnTo>
                    <a:pt x="3409965" y="0"/>
                  </a:lnTo>
                  <a:lnTo>
                    <a:pt x="3462801" y="16000"/>
                  </a:lnTo>
                  <a:lnTo>
                    <a:pt x="3497950" y="58789"/>
                  </a:lnTo>
                  <a:lnTo>
                    <a:pt x="3505199" y="95234"/>
                  </a:lnTo>
                  <a:lnTo>
                    <a:pt x="3505199" y="1543065"/>
                  </a:lnTo>
                  <a:lnTo>
                    <a:pt x="3497715" y="1580135"/>
                  </a:lnTo>
                  <a:lnTo>
                    <a:pt x="3477306" y="1610406"/>
                  </a:lnTo>
                  <a:lnTo>
                    <a:pt x="3447035" y="1630815"/>
                  </a:lnTo>
                  <a:lnTo>
                    <a:pt x="3409965" y="1638299"/>
                  </a:lnTo>
                  <a:close/>
                </a:path>
              </a:pathLst>
            </a:custGeom>
            <a:solidFill>
              <a:srgbClr val="f7fafc"/>
            </a:solidFill>
          </p:spPr>
          <p:txBody>
            <a:bodyPr wrap="square" lIns="0" tIns="0" rIns="0" bIns="0"/>
            <a:lstStyle/>
            <a:p>
              <a:pPr lvl="0">
                <a:defRPr/>
              </a:pPr>
              <a:endParaRPr lang="ko-KR" altLang="en-US"/>
            </a:p>
          </p:txBody>
        </p:sp>
        <p:sp>
          <p:nvSpPr>
            <p:cNvPr id="21" name="object 5"/>
            <p:cNvSpPr/>
            <p:nvPr/>
          </p:nvSpPr>
          <p:spPr>
            <a:xfrm>
              <a:off x="1155700" y="2567685"/>
              <a:ext cx="304800" cy="304800"/>
            </a:xfrm>
            <a:custGeom>
              <a:avLst/>
              <a:gdLst/>
              <a:rect l="l" t="t" r="r" b="b"/>
              <a:pathLst>
                <a:path w="304800" h="304800">
                  <a:moveTo>
                    <a:pt x="152399" y="304799"/>
                  </a:moveTo>
                  <a:lnTo>
                    <a:pt x="104229" y="297030"/>
                  </a:lnTo>
                  <a:lnTo>
                    <a:pt x="62394" y="275395"/>
                  </a:lnTo>
                  <a:lnTo>
                    <a:pt x="29404" y="242405"/>
                  </a:lnTo>
                  <a:lnTo>
                    <a:pt x="7769" y="200570"/>
                  </a:lnTo>
                  <a:lnTo>
                    <a:pt x="0" y="152399"/>
                  </a:lnTo>
                  <a:lnTo>
                    <a:pt x="7769" y="104229"/>
                  </a:lnTo>
                  <a:lnTo>
                    <a:pt x="29404" y="62394"/>
                  </a:lnTo>
                  <a:lnTo>
                    <a:pt x="62394" y="29404"/>
                  </a:lnTo>
                  <a:lnTo>
                    <a:pt x="104229" y="7769"/>
                  </a:lnTo>
                  <a:lnTo>
                    <a:pt x="152399" y="0"/>
                  </a:lnTo>
                  <a:lnTo>
                    <a:pt x="182270" y="2955"/>
                  </a:lnTo>
                  <a:lnTo>
                    <a:pt x="236951" y="25604"/>
                  </a:lnTo>
                  <a:lnTo>
                    <a:pt x="279195" y="67848"/>
                  </a:lnTo>
                  <a:lnTo>
                    <a:pt x="301844" y="122529"/>
                  </a:lnTo>
                  <a:lnTo>
                    <a:pt x="304799" y="152399"/>
                  </a:lnTo>
                  <a:lnTo>
                    <a:pt x="297030" y="200570"/>
                  </a:lnTo>
                  <a:lnTo>
                    <a:pt x="275395" y="242405"/>
                  </a:lnTo>
                  <a:lnTo>
                    <a:pt x="242405" y="275395"/>
                  </a:lnTo>
                  <a:lnTo>
                    <a:pt x="200570" y="297030"/>
                  </a:lnTo>
                  <a:lnTo>
                    <a:pt x="152399" y="304799"/>
                  </a:lnTo>
                  <a:close/>
                </a:path>
              </a:pathLst>
            </a:custGeom>
            <a:solidFill>
              <a:srgbClr val="2563eb"/>
            </a:solidFill>
          </p:spPr>
          <p:txBody>
            <a:bodyPr wrap="square" lIns="0" tIns="0" rIns="0" bIns="0"/>
            <a:lstStyle/>
            <a:p>
              <a:pPr lvl="0">
                <a:defRPr/>
              </a:pPr>
              <a:endParaRPr lang="ko-KR" altLang="en-US"/>
            </a:p>
          </p:txBody>
        </p:sp>
        <p:sp>
          <p:nvSpPr>
            <p:cNvPr id="22" name="object 10"/>
            <p:cNvSpPr txBox="1"/>
            <p:nvPr/>
          </p:nvSpPr>
          <p:spPr>
            <a:xfrm>
              <a:off x="1143000" y="2596259"/>
              <a:ext cx="2914015" cy="236348"/>
            </a:xfrm>
            <a:prstGeom prst="rect">
              <a:avLst/>
            </a:prstGeom>
          </p:spPr>
          <p:txBody>
            <a:bodyPr vert="horz" wrap="square" lIns="0" tIns="12700" rIns="0" bIns="0">
              <a:spAutoFit/>
            </a:bodyPr>
            <a:lstStyle/>
            <a:p>
              <a:pPr marL="120014" lvl="0">
                <a:lnSpc>
                  <a:spcPct val="100000"/>
                </a:lnSpc>
                <a:spcBef>
                  <a:spcPts val="100"/>
                </a:spcBef>
                <a:tabLst>
                  <a:tab pos="431165" algn="l"/>
                </a:tabLst>
                <a:defRPr/>
              </a:pPr>
              <a:r>
                <a:rPr sz="1200" b="1">
                  <a:solidFill>
                    <a:srgbClr val="ffffff"/>
                  </a:solidFill>
                  <a:latin typeface="함초롬돋움"/>
                  <a:ea typeface="+mj-ea"/>
                  <a:cs typeface="함초롬돋움"/>
                </a:rPr>
                <a:t>	</a:t>
              </a:r>
              <a:r>
                <a:rPr lang="en-US" altLang="ko-KR" sz="1500" b="1" spc="-25">
                  <a:solidFill>
                    <a:srgbClr val="0f172a"/>
                  </a:solidFill>
                  <a:latin typeface="함초롬돋움"/>
                  <a:ea typeface="+mj-ea"/>
                  <a:cs typeface="함초롬돋움"/>
                </a:rPr>
                <a:t>3</a:t>
              </a:r>
              <a:r>
                <a:rPr lang="ko-KR" altLang="en-US" sz="1500" b="1" spc="-25">
                  <a:solidFill>
                    <a:srgbClr val="0f172a"/>
                  </a:solidFill>
                  <a:latin typeface="함초롬돋움"/>
                  <a:ea typeface="+mj-ea"/>
                  <a:cs typeface="함초롬돋움"/>
                </a:rPr>
                <a:t>점</a:t>
              </a:r>
              <a:endParaRPr lang="ko-KR" altLang="en-US" sz="1500" b="1" spc="-25">
                <a:solidFill>
                  <a:srgbClr val="0f172a"/>
                </a:solidFill>
                <a:latin typeface="함초롬돋움"/>
                <a:ea typeface="+mj-ea"/>
                <a:cs typeface="함초롬돋움"/>
              </a:endParaRPr>
            </a:p>
          </p:txBody>
        </p:sp>
      </p:grpSp>
      <p:grpSp>
        <p:nvGrpSpPr>
          <p:cNvPr id="23" name="그룹 22"/>
          <p:cNvGrpSpPr/>
          <p:nvPr/>
        </p:nvGrpSpPr>
        <p:grpSpPr>
          <a:xfrm rot="0">
            <a:off x="609600" y="4505325"/>
            <a:ext cx="10896600" cy="600075"/>
            <a:chOff x="927100" y="2415285"/>
            <a:chExt cx="10896600" cy="600075"/>
          </a:xfrm>
        </p:grpSpPr>
        <p:sp>
          <p:nvSpPr>
            <p:cNvPr id="24" name="object 2"/>
            <p:cNvSpPr/>
            <p:nvPr/>
          </p:nvSpPr>
          <p:spPr>
            <a:xfrm>
              <a:off x="927100" y="2415285"/>
              <a:ext cx="10896600" cy="600075"/>
            </a:xfrm>
            <a:custGeom>
              <a:avLst/>
              <a:gdLst/>
              <a:rect l="l" t="t" r="r" b="b"/>
              <a:pathLst>
                <a:path w="3505200" h="1638300">
                  <a:moveTo>
                    <a:pt x="3409965" y="1638299"/>
                  </a:moveTo>
                  <a:lnTo>
                    <a:pt x="95234" y="1638299"/>
                  </a:lnTo>
                  <a:lnTo>
                    <a:pt x="58164" y="1630815"/>
                  </a:lnTo>
                  <a:lnTo>
                    <a:pt x="27893" y="1610406"/>
                  </a:lnTo>
                  <a:lnTo>
                    <a:pt x="7483" y="1580135"/>
                  </a:lnTo>
                  <a:lnTo>
                    <a:pt x="0" y="1543065"/>
                  </a:lnTo>
                  <a:lnTo>
                    <a:pt x="0" y="95234"/>
                  </a:lnTo>
                  <a:lnTo>
                    <a:pt x="7483" y="58164"/>
                  </a:lnTo>
                  <a:lnTo>
                    <a:pt x="27893" y="27893"/>
                  </a:lnTo>
                  <a:lnTo>
                    <a:pt x="58164" y="7483"/>
                  </a:lnTo>
                  <a:lnTo>
                    <a:pt x="95234" y="0"/>
                  </a:lnTo>
                  <a:lnTo>
                    <a:pt x="3409965" y="0"/>
                  </a:lnTo>
                  <a:lnTo>
                    <a:pt x="3462801" y="16000"/>
                  </a:lnTo>
                  <a:lnTo>
                    <a:pt x="3497950" y="58789"/>
                  </a:lnTo>
                  <a:lnTo>
                    <a:pt x="3505199" y="95234"/>
                  </a:lnTo>
                  <a:lnTo>
                    <a:pt x="3505199" y="1543065"/>
                  </a:lnTo>
                  <a:lnTo>
                    <a:pt x="3497715" y="1580135"/>
                  </a:lnTo>
                  <a:lnTo>
                    <a:pt x="3477306" y="1610406"/>
                  </a:lnTo>
                  <a:lnTo>
                    <a:pt x="3447035" y="1630815"/>
                  </a:lnTo>
                  <a:lnTo>
                    <a:pt x="3409965" y="1638299"/>
                  </a:lnTo>
                  <a:close/>
                </a:path>
              </a:pathLst>
            </a:custGeom>
            <a:solidFill>
              <a:srgbClr val="f7fafc"/>
            </a:solidFill>
          </p:spPr>
          <p:txBody>
            <a:bodyPr wrap="square" lIns="0" tIns="0" rIns="0" bIns="0"/>
            <a:lstStyle/>
            <a:p>
              <a:pPr lvl="0">
                <a:defRPr/>
              </a:pPr>
              <a:endParaRPr lang="ko-KR" altLang="en-US"/>
            </a:p>
          </p:txBody>
        </p:sp>
        <p:sp>
          <p:nvSpPr>
            <p:cNvPr id="25" name="object 5"/>
            <p:cNvSpPr/>
            <p:nvPr/>
          </p:nvSpPr>
          <p:spPr>
            <a:xfrm>
              <a:off x="1155700" y="2567685"/>
              <a:ext cx="304800" cy="304800"/>
            </a:xfrm>
            <a:custGeom>
              <a:avLst/>
              <a:gdLst/>
              <a:rect l="l" t="t" r="r" b="b"/>
              <a:pathLst>
                <a:path w="304800" h="304800">
                  <a:moveTo>
                    <a:pt x="152399" y="304799"/>
                  </a:moveTo>
                  <a:lnTo>
                    <a:pt x="104229" y="297030"/>
                  </a:lnTo>
                  <a:lnTo>
                    <a:pt x="62394" y="275395"/>
                  </a:lnTo>
                  <a:lnTo>
                    <a:pt x="29404" y="242405"/>
                  </a:lnTo>
                  <a:lnTo>
                    <a:pt x="7769" y="200570"/>
                  </a:lnTo>
                  <a:lnTo>
                    <a:pt x="0" y="152399"/>
                  </a:lnTo>
                  <a:lnTo>
                    <a:pt x="7769" y="104229"/>
                  </a:lnTo>
                  <a:lnTo>
                    <a:pt x="29404" y="62394"/>
                  </a:lnTo>
                  <a:lnTo>
                    <a:pt x="62394" y="29404"/>
                  </a:lnTo>
                  <a:lnTo>
                    <a:pt x="104229" y="7769"/>
                  </a:lnTo>
                  <a:lnTo>
                    <a:pt x="152399" y="0"/>
                  </a:lnTo>
                  <a:lnTo>
                    <a:pt x="182270" y="2955"/>
                  </a:lnTo>
                  <a:lnTo>
                    <a:pt x="236951" y="25604"/>
                  </a:lnTo>
                  <a:lnTo>
                    <a:pt x="279195" y="67848"/>
                  </a:lnTo>
                  <a:lnTo>
                    <a:pt x="301844" y="122529"/>
                  </a:lnTo>
                  <a:lnTo>
                    <a:pt x="304799" y="152399"/>
                  </a:lnTo>
                  <a:lnTo>
                    <a:pt x="297030" y="200570"/>
                  </a:lnTo>
                  <a:lnTo>
                    <a:pt x="275395" y="242405"/>
                  </a:lnTo>
                  <a:lnTo>
                    <a:pt x="242405" y="275395"/>
                  </a:lnTo>
                  <a:lnTo>
                    <a:pt x="200570" y="297030"/>
                  </a:lnTo>
                  <a:lnTo>
                    <a:pt x="152399" y="304799"/>
                  </a:lnTo>
                  <a:close/>
                </a:path>
              </a:pathLst>
            </a:custGeom>
            <a:solidFill>
              <a:srgbClr val="2563eb"/>
            </a:solidFill>
          </p:spPr>
          <p:txBody>
            <a:bodyPr wrap="square" lIns="0" tIns="0" rIns="0" bIns="0"/>
            <a:lstStyle/>
            <a:p>
              <a:pPr lvl="0">
                <a:defRPr/>
              </a:pPr>
              <a:endParaRPr lang="ko-KR" altLang="en-US"/>
            </a:p>
          </p:txBody>
        </p:sp>
        <p:sp>
          <p:nvSpPr>
            <p:cNvPr id="26" name="object 10"/>
            <p:cNvSpPr txBox="1"/>
            <p:nvPr/>
          </p:nvSpPr>
          <p:spPr>
            <a:xfrm>
              <a:off x="1143000" y="2596260"/>
              <a:ext cx="2914015" cy="238125"/>
            </a:xfrm>
            <a:prstGeom prst="rect">
              <a:avLst/>
            </a:prstGeom>
          </p:spPr>
          <p:txBody>
            <a:bodyPr vert="horz" wrap="square" lIns="0" tIns="12700" rIns="0" bIns="0">
              <a:spAutoFit/>
            </a:bodyPr>
            <a:lstStyle/>
            <a:p>
              <a:pPr marL="120014" lvl="0">
                <a:lnSpc>
                  <a:spcPct val="100000"/>
                </a:lnSpc>
                <a:spcBef>
                  <a:spcPts val="100"/>
                </a:spcBef>
                <a:tabLst>
                  <a:tab pos="431165" algn="l"/>
                </a:tabLst>
                <a:defRPr/>
              </a:pPr>
              <a:r>
                <a:rPr sz="1200" b="1">
                  <a:solidFill>
                    <a:srgbClr val="ffffff"/>
                  </a:solidFill>
                  <a:latin typeface="함초롬돋움"/>
                  <a:ea typeface="+mj-ea"/>
                  <a:cs typeface="함초롬돋움"/>
                </a:rPr>
                <a:t>	</a:t>
              </a:r>
              <a:r>
                <a:rPr lang="en-US" altLang="ko-KR" sz="1500" b="1" spc="-25">
                  <a:solidFill>
                    <a:srgbClr val="0f172a"/>
                  </a:solidFill>
                  <a:latin typeface="함초롬돋움"/>
                  <a:ea typeface="+mj-ea"/>
                  <a:cs typeface="함초롬돋움"/>
                </a:rPr>
                <a:t>4</a:t>
              </a:r>
              <a:r>
                <a:rPr lang="ko-KR" altLang="en-US" sz="1500" b="1" spc="-25">
                  <a:solidFill>
                    <a:srgbClr val="0f172a"/>
                  </a:solidFill>
                  <a:latin typeface="함초롬돋움"/>
                  <a:ea typeface="+mj-ea"/>
                  <a:cs typeface="함초롬돋움"/>
                </a:rPr>
                <a:t>점</a:t>
              </a:r>
              <a:endParaRPr lang="ko-KR" altLang="en-US" sz="1500" b="1" spc="-25">
                <a:solidFill>
                  <a:srgbClr val="0f172a"/>
                </a:solidFill>
                <a:latin typeface="함초롬돋움"/>
                <a:ea typeface="+mj-ea"/>
                <a:cs typeface="함초롬돋움"/>
              </a:endParaRPr>
            </a:p>
          </p:txBody>
        </p:sp>
      </p:grpSp>
      <p:grpSp>
        <p:nvGrpSpPr>
          <p:cNvPr id="27" name="그룹 26"/>
          <p:cNvGrpSpPr/>
          <p:nvPr/>
        </p:nvGrpSpPr>
        <p:grpSpPr>
          <a:xfrm rot="0">
            <a:off x="609600" y="5257800"/>
            <a:ext cx="10896600" cy="600075"/>
            <a:chOff x="927100" y="2415285"/>
            <a:chExt cx="10896600" cy="600075"/>
          </a:xfrm>
        </p:grpSpPr>
        <p:sp>
          <p:nvSpPr>
            <p:cNvPr id="28" name="object 2"/>
            <p:cNvSpPr/>
            <p:nvPr/>
          </p:nvSpPr>
          <p:spPr>
            <a:xfrm>
              <a:off x="927100" y="2415285"/>
              <a:ext cx="10896600" cy="600075"/>
            </a:xfrm>
            <a:custGeom>
              <a:avLst/>
              <a:gdLst/>
              <a:rect l="l" t="t" r="r" b="b"/>
              <a:pathLst>
                <a:path w="3505200" h="1638300">
                  <a:moveTo>
                    <a:pt x="3409965" y="1638299"/>
                  </a:moveTo>
                  <a:lnTo>
                    <a:pt x="95234" y="1638299"/>
                  </a:lnTo>
                  <a:lnTo>
                    <a:pt x="58164" y="1630815"/>
                  </a:lnTo>
                  <a:lnTo>
                    <a:pt x="27893" y="1610406"/>
                  </a:lnTo>
                  <a:lnTo>
                    <a:pt x="7483" y="1580135"/>
                  </a:lnTo>
                  <a:lnTo>
                    <a:pt x="0" y="1543065"/>
                  </a:lnTo>
                  <a:lnTo>
                    <a:pt x="0" y="95234"/>
                  </a:lnTo>
                  <a:lnTo>
                    <a:pt x="7483" y="58164"/>
                  </a:lnTo>
                  <a:lnTo>
                    <a:pt x="27893" y="27893"/>
                  </a:lnTo>
                  <a:lnTo>
                    <a:pt x="58164" y="7483"/>
                  </a:lnTo>
                  <a:lnTo>
                    <a:pt x="95234" y="0"/>
                  </a:lnTo>
                  <a:lnTo>
                    <a:pt x="3409965" y="0"/>
                  </a:lnTo>
                  <a:lnTo>
                    <a:pt x="3462801" y="16000"/>
                  </a:lnTo>
                  <a:lnTo>
                    <a:pt x="3497950" y="58789"/>
                  </a:lnTo>
                  <a:lnTo>
                    <a:pt x="3505199" y="95234"/>
                  </a:lnTo>
                  <a:lnTo>
                    <a:pt x="3505199" y="1543065"/>
                  </a:lnTo>
                  <a:lnTo>
                    <a:pt x="3497715" y="1580135"/>
                  </a:lnTo>
                  <a:lnTo>
                    <a:pt x="3477306" y="1610406"/>
                  </a:lnTo>
                  <a:lnTo>
                    <a:pt x="3447035" y="1630815"/>
                  </a:lnTo>
                  <a:lnTo>
                    <a:pt x="3409965" y="1638299"/>
                  </a:lnTo>
                  <a:close/>
                </a:path>
              </a:pathLst>
            </a:custGeom>
            <a:solidFill>
              <a:srgbClr val="f7fafc"/>
            </a:solidFill>
          </p:spPr>
          <p:txBody>
            <a:bodyPr wrap="square" lIns="0" tIns="0" rIns="0" bIns="0"/>
            <a:lstStyle/>
            <a:p>
              <a:pPr lvl="0">
                <a:defRPr/>
              </a:pPr>
              <a:endParaRPr lang="ko-KR" altLang="en-US"/>
            </a:p>
          </p:txBody>
        </p:sp>
        <p:sp>
          <p:nvSpPr>
            <p:cNvPr id="29" name="object 5"/>
            <p:cNvSpPr/>
            <p:nvPr/>
          </p:nvSpPr>
          <p:spPr>
            <a:xfrm>
              <a:off x="1155700" y="2567685"/>
              <a:ext cx="304800" cy="304800"/>
            </a:xfrm>
            <a:custGeom>
              <a:avLst/>
              <a:gdLst/>
              <a:rect l="l" t="t" r="r" b="b"/>
              <a:pathLst>
                <a:path w="304800" h="304800">
                  <a:moveTo>
                    <a:pt x="152399" y="304799"/>
                  </a:moveTo>
                  <a:lnTo>
                    <a:pt x="104229" y="297030"/>
                  </a:lnTo>
                  <a:lnTo>
                    <a:pt x="62394" y="275395"/>
                  </a:lnTo>
                  <a:lnTo>
                    <a:pt x="29404" y="242405"/>
                  </a:lnTo>
                  <a:lnTo>
                    <a:pt x="7769" y="200570"/>
                  </a:lnTo>
                  <a:lnTo>
                    <a:pt x="0" y="152399"/>
                  </a:lnTo>
                  <a:lnTo>
                    <a:pt x="7769" y="104229"/>
                  </a:lnTo>
                  <a:lnTo>
                    <a:pt x="29404" y="62394"/>
                  </a:lnTo>
                  <a:lnTo>
                    <a:pt x="62394" y="29404"/>
                  </a:lnTo>
                  <a:lnTo>
                    <a:pt x="104229" y="7769"/>
                  </a:lnTo>
                  <a:lnTo>
                    <a:pt x="152399" y="0"/>
                  </a:lnTo>
                  <a:lnTo>
                    <a:pt x="182270" y="2955"/>
                  </a:lnTo>
                  <a:lnTo>
                    <a:pt x="236951" y="25604"/>
                  </a:lnTo>
                  <a:lnTo>
                    <a:pt x="279195" y="67848"/>
                  </a:lnTo>
                  <a:lnTo>
                    <a:pt x="301844" y="122529"/>
                  </a:lnTo>
                  <a:lnTo>
                    <a:pt x="304799" y="152399"/>
                  </a:lnTo>
                  <a:lnTo>
                    <a:pt x="297030" y="200570"/>
                  </a:lnTo>
                  <a:lnTo>
                    <a:pt x="275395" y="242405"/>
                  </a:lnTo>
                  <a:lnTo>
                    <a:pt x="242405" y="275395"/>
                  </a:lnTo>
                  <a:lnTo>
                    <a:pt x="200570" y="297030"/>
                  </a:lnTo>
                  <a:lnTo>
                    <a:pt x="152399" y="304799"/>
                  </a:lnTo>
                  <a:close/>
                </a:path>
              </a:pathLst>
            </a:custGeom>
            <a:solidFill>
              <a:srgbClr val="2563eb"/>
            </a:solidFill>
          </p:spPr>
          <p:txBody>
            <a:bodyPr wrap="square" lIns="0" tIns="0" rIns="0" bIns="0"/>
            <a:lstStyle/>
            <a:p>
              <a:pPr lvl="0">
                <a:defRPr/>
              </a:pPr>
              <a:endParaRPr lang="ko-KR" altLang="en-US"/>
            </a:p>
          </p:txBody>
        </p:sp>
        <p:sp>
          <p:nvSpPr>
            <p:cNvPr id="30" name="object 10"/>
            <p:cNvSpPr txBox="1"/>
            <p:nvPr/>
          </p:nvSpPr>
          <p:spPr>
            <a:xfrm>
              <a:off x="1143000" y="2596260"/>
              <a:ext cx="2914015" cy="238125"/>
            </a:xfrm>
            <a:prstGeom prst="rect">
              <a:avLst/>
            </a:prstGeom>
          </p:spPr>
          <p:txBody>
            <a:bodyPr vert="horz" wrap="square" lIns="0" tIns="12700" rIns="0" bIns="0">
              <a:spAutoFit/>
            </a:bodyPr>
            <a:lstStyle/>
            <a:p>
              <a:pPr marL="120014" lvl="0">
                <a:lnSpc>
                  <a:spcPct val="100000"/>
                </a:lnSpc>
                <a:spcBef>
                  <a:spcPts val="100"/>
                </a:spcBef>
                <a:tabLst>
                  <a:tab pos="431165" algn="l"/>
                </a:tabLst>
                <a:defRPr/>
              </a:pPr>
              <a:r>
                <a:rPr sz="1200" b="1">
                  <a:solidFill>
                    <a:srgbClr val="ffffff"/>
                  </a:solidFill>
                  <a:latin typeface="함초롬돋움"/>
                  <a:ea typeface="+mj-ea"/>
                  <a:cs typeface="함초롬돋움"/>
                </a:rPr>
                <a:t>	</a:t>
              </a:r>
              <a:r>
                <a:rPr lang="en-US" altLang="ko-KR" sz="1500" b="1" spc="-25">
                  <a:solidFill>
                    <a:srgbClr val="0f172a"/>
                  </a:solidFill>
                  <a:latin typeface="함초롬돋움"/>
                  <a:ea typeface="+mj-ea"/>
                  <a:cs typeface="함초롬돋움"/>
                </a:rPr>
                <a:t>5</a:t>
              </a:r>
              <a:r>
                <a:rPr lang="ko-KR" altLang="en-US" sz="1500" b="1" spc="-25">
                  <a:solidFill>
                    <a:srgbClr val="0f172a"/>
                  </a:solidFill>
                  <a:latin typeface="함초롬돋움"/>
                  <a:ea typeface="+mj-ea"/>
                  <a:cs typeface="함초롬돋움"/>
                </a:rPr>
                <a:t>점</a:t>
              </a:r>
              <a:endParaRPr lang="ko-KR" altLang="en-US" sz="1500" b="1" spc="-25">
                <a:solidFill>
                  <a:srgbClr val="0f172a"/>
                </a:solidFill>
                <a:latin typeface="함초롬돋움"/>
                <a:ea typeface="+mj-ea"/>
                <a:cs typeface="함초롬돋움"/>
              </a:endParaRPr>
            </a:p>
          </p:txBody>
        </p:sp>
      </p:grpSp>
      <p:sp>
        <p:nvSpPr>
          <p:cNvPr id="31" name="가로 글상자 30"/>
          <p:cNvSpPr txBox="1"/>
          <p:nvPr/>
        </p:nvSpPr>
        <p:spPr>
          <a:xfrm>
            <a:off x="1905000" y="2455290"/>
            <a:ext cx="12521565" cy="287910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300"/>
              <a:t>사용자 요구사항과의 연관성이 낮고, 구현 효과 및 경쟁력이 매우 낮은 기능</a:t>
            </a:r>
            <a:endParaRPr lang="ko-KR" altLang="en-US" sz="1300"/>
          </a:p>
        </p:txBody>
      </p:sp>
      <p:sp>
        <p:nvSpPr>
          <p:cNvPr id="33" name="가로 글상자 32"/>
          <p:cNvSpPr txBox="1"/>
          <p:nvPr/>
        </p:nvSpPr>
        <p:spPr>
          <a:xfrm>
            <a:off x="1905000" y="3733800"/>
            <a:ext cx="12521565" cy="674370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endParaRPr lang="ko-KR" altLang="en-US" sz="1300"/>
          </a:p>
          <a:p>
            <a:pPr lvl="0">
              <a:defRPr/>
            </a:pPr>
            <a:r>
              <a:rPr lang="ko-KR" altLang="en-US" sz="1300"/>
              <a:t>일정 확정 및 공유 과정에 필요한 기본적인 기능으로, 적절한 사용자 편의성과 구현 가능성을 갖춘 기능</a:t>
            </a:r>
            <a:endParaRPr lang="ko-KR" altLang="en-US" sz="1300"/>
          </a:p>
          <a:p>
            <a:pPr lvl="0">
              <a:defRPr/>
            </a:pPr>
            <a:endParaRPr lang="ko-KR" altLang="en-US" sz="1300"/>
          </a:p>
        </p:txBody>
      </p:sp>
      <p:sp>
        <p:nvSpPr>
          <p:cNvPr id="34" name="가로 글상자 33"/>
          <p:cNvSpPr txBox="1"/>
          <p:nvPr/>
        </p:nvSpPr>
        <p:spPr>
          <a:xfrm>
            <a:off x="1880235" y="3200400"/>
            <a:ext cx="12521565" cy="287910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300"/>
              <a:t>사용자 편의성 향상에 일부 도움이 되지만, 핵심 기능과의 연관성 및 경쟁력이 낮은 기능</a:t>
            </a:r>
            <a:endParaRPr lang="ko-KR" altLang="en-US" sz="1300"/>
          </a:p>
        </p:txBody>
      </p:sp>
      <p:sp>
        <p:nvSpPr>
          <p:cNvPr id="35" name="가로 글상자 34"/>
          <p:cNvSpPr txBox="1"/>
          <p:nvPr/>
        </p:nvSpPr>
        <p:spPr>
          <a:xfrm>
            <a:off x="1828800" y="4653660"/>
            <a:ext cx="8610600" cy="48793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300"/>
              <a:t>사용자의 일정 관리 편의성을 크게 향상시키며, 구현 가능성과 서비스 경쟁력이 높은 기능</a:t>
            </a:r>
            <a:endParaRPr lang="ko-KR" altLang="en-US" sz="1300"/>
          </a:p>
          <a:p>
            <a:pPr lvl="0">
              <a:defRPr/>
            </a:pPr>
            <a:endParaRPr lang="ko-KR" altLang="en-US" sz="1300"/>
          </a:p>
        </p:txBody>
      </p:sp>
      <p:sp>
        <p:nvSpPr>
          <p:cNvPr id="36" name="가로 글상자 35"/>
          <p:cNvSpPr txBox="1"/>
          <p:nvPr/>
        </p:nvSpPr>
        <p:spPr>
          <a:xfrm>
            <a:off x="1828800" y="5379465"/>
            <a:ext cx="9296400" cy="676529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300"/>
              <a:t>일정 조율 서비스의 목적 달성에 필수적이며, 사용자 요구사항 충족도와 구현 가능성, 경쟁력이 매우 높은 핵심 기능</a:t>
            </a:r>
            <a:endParaRPr lang="ko-KR" altLang="en-US" sz="1300"/>
          </a:p>
          <a:p>
            <a:pPr lvl="0">
              <a:defRPr/>
            </a:pPr>
            <a:endParaRPr lang="ko-KR" altLang="en-US" sz="1300"/>
          </a:p>
          <a:p>
            <a:pPr lvl="0">
              <a:defRPr/>
            </a:pPr>
            <a:endParaRPr lang="ko-KR" altLang="en-US" sz="1300"/>
          </a:p>
        </p:txBody>
      </p:sp>
    </p:spTree>
    <p:extLst>
      <p:ext uri="{BB962C8B-B14F-4D97-AF65-F5344CB8AC3E}">
        <p14:creationId xmlns:p14="http://schemas.microsoft.com/office/powerpoint/2010/main" val="1346908126"/>
      </p:ext>
    </p:extLst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762000" y="2492705"/>
          <a:ext cx="10535205" cy="247934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83160"/>
                <a:gridCol w="2277167"/>
                <a:gridCol w="1267056"/>
                <a:gridCol w="2077967"/>
                <a:gridCol w="1038225"/>
                <a:gridCol w="945815"/>
                <a:gridCol w="945815"/>
              </a:tblGrid>
              <a:tr h="533400">
                <a:tc>
                  <a:txBody>
                    <a:bodyPr vert="horz" lIns="0" tIns="118745" rIns="0" bIns="0" anchor="t" anchorCtr="0"/>
                    <a:lstStyle/>
                    <a:p>
                      <a:pPr marL="143510" lvl="0" algn="ctr">
                        <a:lnSpc>
                          <a:spcPct val="100000"/>
                        </a:lnSpc>
                        <a:spcBef>
                          <a:spcPts val="935"/>
                        </a:spcBef>
                        <a:defRPr/>
                      </a:pPr>
                      <a:r>
                        <a:rPr sz="1300" b="1" spc="-25">
                          <a:solidFill>
                            <a:srgbClr val="ffffff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영역</a:t>
                      </a:r>
                      <a:endParaRPr sz="13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0" marR="0" marT="118745" marB="0">
                    <a:solidFill>
                      <a:srgbClr val="0f172a"/>
                    </a:solidFill>
                  </a:tcPr>
                </a:tc>
                <a:tc>
                  <a:txBody>
                    <a:bodyPr vert="horz" lIns="0" tIns="118745" rIns="0" bIns="0" anchor="t" anchorCtr="0"/>
                    <a:lstStyle/>
                    <a:p>
                      <a:pPr marL="77470" lvl="0" algn="ctr">
                        <a:lnSpc>
                          <a:spcPct val="100000"/>
                        </a:lnSpc>
                        <a:spcBef>
                          <a:spcPts val="935"/>
                        </a:spcBef>
                        <a:defRPr/>
                      </a:pPr>
                      <a:r>
                        <a:rPr sz="1300" b="1" spc="-10">
                          <a:solidFill>
                            <a:srgbClr val="ffffff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아이디어명</a:t>
                      </a:r>
                      <a:endParaRPr sz="13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0" marR="0" marT="118745" marB="0">
                    <a:solidFill>
                      <a:srgbClr val="0f172a"/>
                    </a:solidFill>
                  </a:tcPr>
                </a:tc>
                <a:tc>
                  <a:txBody>
                    <a:bodyPr vert="horz" lIns="0" tIns="118745" rIns="0" bIns="0" anchor="t" anchorCtr="0"/>
                    <a:lstStyle/>
                    <a:p>
                      <a:pPr marR="25400" lvl="0" algn="ctr">
                        <a:lnSpc>
                          <a:spcPct val="100000"/>
                        </a:lnSpc>
                        <a:spcBef>
                          <a:spcPts val="935"/>
                        </a:spcBef>
                        <a:defRPr/>
                      </a:pPr>
                      <a:r>
                        <a:rPr lang="ko-KR" altLang="en-US" sz="1300" b="1" spc="-20">
                          <a:solidFill>
                            <a:srgbClr val="ffffff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우선순위</a:t>
                      </a:r>
                      <a:endParaRPr lang="ko-KR" altLang="en-US" sz="1300" b="1" spc="-20">
                        <a:solidFill>
                          <a:srgbClr val="ffffff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0" marR="0" marT="118745" marB="0">
                    <a:solidFill>
                      <a:srgbClr val="0f172a"/>
                    </a:solidFill>
                  </a:tcPr>
                </a:tc>
                <a:tc>
                  <a:txBody>
                    <a:bodyPr vert="horz" lIns="0" tIns="118745" rIns="0" bIns="0" anchor="t" anchorCtr="0"/>
                    <a:lstStyle/>
                    <a:p>
                      <a:pPr marR="25400" lvl="0" algn="ctr">
                        <a:lnSpc>
                          <a:spcPct val="100000"/>
                        </a:lnSpc>
                        <a:spcBef>
                          <a:spcPts val="935"/>
                        </a:spcBef>
                        <a:defRPr/>
                      </a:pPr>
                      <a:r>
                        <a:rPr lang="ko-KR" altLang="en-US" sz="1300" b="1" spc="-20">
                          <a:solidFill>
                            <a:srgbClr val="ffffff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사용자 요구사항 충족도</a:t>
                      </a:r>
                      <a:endParaRPr lang="ko-KR" altLang="en-US" sz="1300" b="1" spc="-20">
                        <a:solidFill>
                          <a:srgbClr val="ffffff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  <a:p>
                      <a:pPr marR="25400" lvl="0" algn="ctr">
                        <a:lnSpc>
                          <a:spcPct val="100000"/>
                        </a:lnSpc>
                        <a:spcBef>
                          <a:spcPts val="935"/>
                        </a:spcBef>
                        <a:defRPr/>
                      </a:pPr>
                      <a:endParaRPr lang="ko-KR" altLang="en-US" sz="1300" b="1" spc="-20">
                        <a:solidFill>
                          <a:srgbClr val="ffffff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0" marR="0" marT="118745" marB="0">
                    <a:solidFill>
                      <a:srgbClr val="0f172a"/>
                    </a:solidFill>
                  </a:tcPr>
                </a:tc>
                <a:tc>
                  <a:txBody>
                    <a:bodyPr vert="horz" lIns="0" tIns="118745" rIns="0" bIns="0" anchor="t" anchorCtr="0"/>
                    <a:lstStyle/>
                    <a:p>
                      <a:pPr marL="104139" lvl="0" algn="ctr">
                        <a:lnSpc>
                          <a:spcPct val="100000"/>
                        </a:lnSpc>
                        <a:spcBef>
                          <a:spcPts val="935"/>
                        </a:spcBef>
                        <a:defRPr/>
                      </a:pPr>
                      <a:r>
                        <a:rPr lang="ko-KR" altLang="en-US" sz="1300" b="1" spc="-10">
                          <a:solidFill>
                            <a:srgbClr val="ffffff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현실적 구현 가능성</a:t>
                      </a:r>
                      <a:endParaRPr lang="ko-KR" altLang="en-US" sz="1300" b="1" spc="-10">
                        <a:solidFill>
                          <a:srgbClr val="ffffff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  <a:p>
                      <a:pPr marL="104139" lvl="0" algn="ctr">
                        <a:lnSpc>
                          <a:spcPct val="100000"/>
                        </a:lnSpc>
                        <a:spcBef>
                          <a:spcPts val="935"/>
                        </a:spcBef>
                        <a:defRPr/>
                      </a:pPr>
                      <a:endParaRPr lang="ko-KR" altLang="en-US" sz="1300" b="1" spc="-10">
                        <a:solidFill>
                          <a:srgbClr val="ffffff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0" marR="0" marT="118745" marB="0">
                    <a:solidFill>
                      <a:srgbClr val="0f172a"/>
                    </a:solidFill>
                  </a:tcPr>
                </a:tc>
                <a:tc>
                  <a:txBody>
                    <a:bodyPr vert="horz" lIns="0" tIns="118745" rIns="0" bIns="0" anchor="t" anchorCtr="0"/>
                    <a:lstStyle/>
                    <a:p>
                      <a:pPr marL="55880" lvl="0" algn="ctr">
                        <a:lnSpc>
                          <a:spcPct val="100000"/>
                        </a:lnSpc>
                        <a:spcBef>
                          <a:spcPts val="935"/>
                        </a:spcBef>
                        <a:defRPr/>
                      </a:pPr>
                      <a:r>
                        <a:rPr sz="1300" b="1" spc="-25">
                          <a:solidFill>
                            <a:srgbClr val="ffffff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경쟁력</a:t>
                      </a:r>
                      <a:endParaRPr sz="13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0" marR="0" marT="118745" marB="0">
                    <a:solidFill>
                      <a:srgbClr val="0f172a"/>
                    </a:solidFill>
                  </a:tcPr>
                </a:tc>
                <a:tc>
                  <a:txBody>
                    <a:bodyPr vert="horz" lIns="0" tIns="118745" rIns="0" bIns="0" anchor="t" anchorCtr="0"/>
                    <a:lstStyle/>
                    <a:p>
                      <a:pPr marR="7620" lvl="0" algn="ctr">
                        <a:lnSpc>
                          <a:spcPct val="100000"/>
                        </a:lnSpc>
                        <a:spcBef>
                          <a:spcPts val="935"/>
                        </a:spcBef>
                        <a:defRPr/>
                      </a:pPr>
                      <a:r>
                        <a:rPr sz="1300" b="1" spc="-25">
                          <a:solidFill>
                            <a:srgbClr val="ffffff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합산</a:t>
                      </a:r>
                      <a:endParaRPr sz="13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0" marR="0" marT="118745" marB="0">
                    <a:solidFill>
                      <a:srgbClr val="0f172a"/>
                    </a:solidFill>
                  </a:tcPr>
                </a:tc>
              </a:tr>
              <a:tr h="548741">
                <a:tc rowSpan="3"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사용자 계정 및 프로필</a:t>
                      </a:r>
                      <a:endParaRPr xmlns:mc="http://schemas.openxmlformats.org/markup-compatibility/2006" xmlns:hp="http://schemas.haansoft.com/office/presentation/8.0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로그인</a:t>
                      </a:r>
                      <a:endParaRPr xmlns:mc="http://schemas.openxmlformats.org/markup-compatibility/2006" xmlns:hp="http://schemas.haansoft.com/office/presentation/8.0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2</a:t>
                      </a:r>
                      <a:endParaRPr xmlns:mc="http://schemas.openxmlformats.org/markup-compatibility/2006" xmlns:hp="http://schemas.haansoft.com/office/presentation/8.0" lang="EN-US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4</a:t>
                      </a:r>
                      <a:endParaRPr xmlns:mc="http://schemas.openxmlformats.org/markup-compatibility/2006" xmlns:hp="http://schemas.haansoft.com/office/presentation/8.0" lang="EN-US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5</a:t>
                      </a:r>
                      <a:endParaRPr xmlns:mc="http://schemas.openxmlformats.org/markup-compatibility/2006" xmlns:hp="http://schemas.haansoft.com/office/presentation/8.0" lang="EN-US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3</a:t>
                      </a:r>
                      <a:endParaRPr xmlns:mc="http://schemas.openxmlformats.org/markup-compatibility/2006" xmlns:hp="http://schemas.haansoft.com/office/presentation/8.0" lang="EN-US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12</a:t>
                      </a:r>
                      <a:endParaRPr xmlns:mc="http://schemas.openxmlformats.org/markup-compatibility/2006" xmlns:hp="http://schemas.haansoft.com/office/presentation/8.0" lang="EN-US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</a:tr>
              <a:tr h="548741"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로그아웃</a:t>
                      </a:r>
                      <a:endParaRPr xmlns:mc="http://schemas.openxmlformats.org/markup-compatibility/2006" xmlns:hp="http://schemas.haansoft.com/office/presentation/8.0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3</a:t>
                      </a:r>
                      <a:endParaRPr xmlns:mc="http://schemas.openxmlformats.org/markup-compatibility/2006" xmlns:hp="http://schemas.haansoft.com/office/presentation/8.0" lang="EN-US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4</a:t>
                      </a:r>
                      <a:endParaRPr xmlns:mc="http://schemas.openxmlformats.org/markup-compatibility/2006" xmlns:hp="http://schemas.haansoft.com/office/presentation/8.0" lang="EN-US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5</a:t>
                      </a:r>
                      <a:endParaRPr xmlns:mc="http://schemas.openxmlformats.org/markup-compatibility/2006" xmlns:hp="http://schemas.haansoft.com/office/presentation/8.0" lang="EN-US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3</a:t>
                      </a:r>
                      <a:endParaRPr xmlns:mc="http://schemas.openxmlformats.org/markup-compatibility/2006" xmlns:hp="http://schemas.haansoft.com/office/presentation/8.0" lang="EN-US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12</a:t>
                      </a:r>
                      <a:endParaRPr xmlns:mc="http://schemas.openxmlformats.org/markup-compatibility/2006" xmlns:hp="http://schemas.haansoft.com/office/presentation/8.0" lang="EN-US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548741"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프로필</a:t>
                      </a:r>
                      <a:endParaRPr xmlns:mc="http://schemas.openxmlformats.org/markup-compatibility/2006" xmlns:hp="http://schemas.haansoft.com/office/presentation/8.0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1</a:t>
                      </a:r>
                      <a:endParaRPr xmlns:mc="http://schemas.openxmlformats.org/markup-compatibility/2006" xmlns:hp="http://schemas.haansoft.com/office/presentation/8.0" lang="EN-US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4</a:t>
                      </a:r>
                      <a:endParaRPr xmlns:mc="http://schemas.openxmlformats.org/markup-compatibility/2006" xmlns:hp="http://schemas.haansoft.com/office/presentation/8.0" lang="EN-US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5</a:t>
                      </a:r>
                      <a:endParaRPr xmlns:mc="http://schemas.openxmlformats.org/markup-compatibility/2006" xmlns:hp="http://schemas.haansoft.com/office/presentation/8.0" lang="EN-US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4</a:t>
                      </a:r>
                      <a:endParaRPr xmlns:mc="http://schemas.openxmlformats.org/markup-compatibility/2006" xmlns:hp="http://schemas.haansoft.com/office/presentation/8.0" lang="EN-US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13</a:t>
                      </a:r>
                      <a:endParaRPr xmlns:mc="http://schemas.openxmlformats.org/markup-compatibility/2006" xmlns:hp="http://schemas.haansoft.com/office/presentation/8.0" lang="EN-US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3" name="object 3" descr=""/>
          <p:cNvSpPr txBox="1"/>
          <p:nvPr/>
        </p:nvSpPr>
        <p:spPr>
          <a:xfrm>
            <a:off x="596900" y="439165"/>
            <a:ext cx="117221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b="1">
                <a:solidFill>
                  <a:srgbClr val="EA580C"/>
                </a:solidFill>
                <a:latin typeface="함초롬돋움"/>
                <a:cs typeface="함초롬돋움"/>
              </a:rPr>
              <a:t>PRIORITY</a:t>
            </a:r>
            <a:r>
              <a:rPr dirty="0" sz="1050" spc="45" b="1">
                <a:solidFill>
                  <a:srgbClr val="EA580C"/>
                </a:solidFill>
                <a:latin typeface="함초롬돋움"/>
                <a:cs typeface="함초롬돋움"/>
              </a:rPr>
              <a:t> </a:t>
            </a:r>
            <a:r>
              <a:rPr dirty="0" sz="1050" spc="-10" b="1">
                <a:solidFill>
                  <a:srgbClr val="EA580C"/>
                </a:solidFill>
                <a:latin typeface="함초롬돋움"/>
                <a:cs typeface="함초롬돋움"/>
              </a:rPr>
              <a:t>RESULT</a:t>
            </a:r>
            <a:endParaRPr sz="1050">
              <a:latin typeface="함초롬돋움"/>
              <a:cs typeface="함초롬돋움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130"/>
              <a:t>아이디어</a:t>
            </a:r>
            <a:r>
              <a:rPr dirty="0" sz="2100" spc="-135"/>
              <a:t> </a:t>
            </a:r>
            <a:r>
              <a:rPr dirty="0" sz="2100" spc="-130"/>
              <a:t>우선순위 정량</a:t>
            </a:r>
            <a:r>
              <a:rPr dirty="0" sz="2100" spc="-135"/>
              <a:t> </a:t>
            </a:r>
            <a:r>
              <a:rPr dirty="0" sz="2100" spc="-130"/>
              <a:t>평가 </a:t>
            </a:r>
            <a:r>
              <a:rPr dirty="0" sz="2100" spc="-25"/>
              <a:t>결과</a:t>
            </a:r>
            <a:endParaRPr sz="2100"/>
          </a:p>
        </p:txBody>
      </p:sp>
      <p:sp>
        <p:nvSpPr>
          <p:cNvPr id="5" name="가로 글상자 4"/>
          <p:cNvSpPr txBox="1"/>
          <p:nvPr/>
        </p:nvSpPr>
        <p:spPr>
          <a:xfrm>
            <a:off x="533400" y="946785"/>
            <a:ext cx="6096000" cy="603885"/>
          </a:xfrm>
          <a:prstGeom prst="rect">
            <a:avLst/>
          </a:prstGeom>
        </p:spPr>
        <p:txBody>
          <a:bodyPr wrap="square">
            <a:spAutoFit/>
          </a:bodyPr>
          <a:p>
            <a:pPr marL="50800" marR="50800"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sz="1300" b="0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사용자 계정 및 프로필</a:t>
            </a:r>
            <a:r>
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-</a:t>
            </a:r>
            <a:r>
              <a:rPr xmlns:mc="http://schemas.openxmlformats.org/markup-compatibility/2006" xmlns:hp="http://schemas.haansoft.com/office/presentation/8.0" sz="1300" b="0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우선순위 결과</a:t>
            </a:r>
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50800" marR="50800"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300">
              <a:latin typeface="함초롬돋움"/>
              <a:ea typeface="함초롬돋움"/>
              <a:cs typeface="함초롬돋움"/>
            </a:endParaRPr>
          </a:p>
        </p:txBody>
      </p:sp>
    </p:spTree>
  </p:cSld>
  <p:clrMapOvr>
    <a:masterClrMapping/>
  </p:clrMapOvr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762000" y="2492705"/>
          <a:ext cx="10535205" cy="30280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83160"/>
                <a:gridCol w="2277167"/>
                <a:gridCol w="1267056"/>
                <a:gridCol w="2077967"/>
                <a:gridCol w="1038225"/>
                <a:gridCol w="945815"/>
                <a:gridCol w="945815"/>
              </a:tblGrid>
              <a:tr h="533400">
                <a:tc>
                  <a:txBody>
                    <a:bodyPr vert="horz" lIns="0" tIns="118745" rIns="0" bIns="0" anchor="t" anchorCtr="0"/>
                    <a:lstStyle/>
                    <a:p>
                      <a:pPr marL="143510" lvl="0" algn="ctr">
                        <a:lnSpc>
                          <a:spcPct val="100000"/>
                        </a:lnSpc>
                        <a:spcBef>
                          <a:spcPts val="935"/>
                        </a:spcBef>
                        <a:defRPr/>
                      </a:pPr>
                      <a:r>
                        <a:rPr sz="1300" b="1" spc="-25">
                          <a:solidFill>
                            <a:srgbClr val="ffffff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영역</a:t>
                      </a:r>
                      <a:endParaRPr sz="13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0" marR="0" marT="118745" marB="0">
                    <a:solidFill>
                      <a:srgbClr val="0f172a"/>
                    </a:solidFill>
                  </a:tcPr>
                </a:tc>
                <a:tc>
                  <a:txBody>
                    <a:bodyPr vert="horz" lIns="0" tIns="118745" rIns="0" bIns="0" anchor="t" anchorCtr="0"/>
                    <a:lstStyle/>
                    <a:p>
                      <a:pPr marL="77470" lvl="0" algn="ctr">
                        <a:lnSpc>
                          <a:spcPct val="100000"/>
                        </a:lnSpc>
                        <a:spcBef>
                          <a:spcPts val="935"/>
                        </a:spcBef>
                        <a:defRPr/>
                      </a:pPr>
                      <a:r>
                        <a:rPr sz="1300" b="1" spc="-10">
                          <a:solidFill>
                            <a:srgbClr val="ffffff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아이디어명</a:t>
                      </a:r>
                      <a:endParaRPr sz="13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0" marR="0" marT="118745" marB="0">
                    <a:solidFill>
                      <a:srgbClr val="0f172a"/>
                    </a:solidFill>
                  </a:tcPr>
                </a:tc>
                <a:tc>
                  <a:txBody>
                    <a:bodyPr vert="horz" lIns="0" tIns="118745" rIns="0" bIns="0" anchor="t" anchorCtr="0"/>
                    <a:lstStyle/>
                    <a:p>
                      <a:pPr marR="25400" lvl="0" algn="ctr">
                        <a:lnSpc>
                          <a:spcPct val="100000"/>
                        </a:lnSpc>
                        <a:spcBef>
                          <a:spcPts val="935"/>
                        </a:spcBef>
                        <a:defRPr/>
                      </a:pPr>
                      <a:r>
                        <a:rPr lang="ko-KR" altLang="en-US" sz="1300" b="1" spc="-20">
                          <a:solidFill>
                            <a:srgbClr val="ffffff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우선순위</a:t>
                      </a:r>
                      <a:endParaRPr lang="ko-KR" altLang="en-US" sz="1300" b="1" spc="-20">
                        <a:solidFill>
                          <a:srgbClr val="ffffff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0" marR="0" marT="118745" marB="0">
                    <a:solidFill>
                      <a:srgbClr val="0f172a"/>
                    </a:solidFill>
                  </a:tcPr>
                </a:tc>
                <a:tc>
                  <a:txBody>
                    <a:bodyPr vert="horz" lIns="0" tIns="118745" rIns="0" bIns="0" anchor="t" anchorCtr="0"/>
                    <a:lstStyle/>
                    <a:p>
                      <a:pPr marR="25400" lvl="0" algn="ctr">
                        <a:lnSpc>
                          <a:spcPct val="100000"/>
                        </a:lnSpc>
                        <a:spcBef>
                          <a:spcPts val="935"/>
                        </a:spcBef>
                        <a:defRPr/>
                      </a:pPr>
                      <a:r>
                        <a:rPr lang="ko-KR" altLang="en-US" sz="1300" b="1" spc="-20">
                          <a:solidFill>
                            <a:srgbClr val="ffffff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사용자 요구사항 충족도</a:t>
                      </a:r>
                      <a:endParaRPr lang="ko-KR" altLang="en-US" sz="1300" b="1" spc="-20">
                        <a:solidFill>
                          <a:srgbClr val="ffffff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  <a:p>
                      <a:pPr marR="25400" lvl="0" algn="ctr">
                        <a:lnSpc>
                          <a:spcPct val="100000"/>
                        </a:lnSpc>
                        <a:spcBef>
                          <a:spcPts val="935"/>
                        </a:spcBef>
                        <a:defRPr/>
                      </a:pPr>
                      <a:endParaRPr lang="ko-KR" altLang="en-US" sz="1300" b="1" spc="-20">
                        <a:solidFill>
                          <a:srgbClr val="ffffff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0" marR="0" marT="118745" marB="0">
                    <a:solidFill>
                      <a:srgbClr val="0f172a"/>
                    </a:solidFill>
                  </a:tcPr>
                </a:tc>
                <a:tc>
                  <a:txBody>
                    <a:bodyPr vert="horz" lIns="0" tIns="118745" rIns="0" bIns="0" anchor="t" anchorCtr="0"/>
                    <a:lstStyle/>
                    <a:p>
                      <a:pPr marL="104139" lvl="0" algn="ctr">
                        <a:lnSpc>
                          <a:spcPct val="100000"/>
                        </a:lnSpc>
                        <a:spcBef>
                          <a:spcPts val="935"/>
                        </a:spcBef>
                        <a:defRPr/>
                      </a:pPr>
                      <a:r>
                        <a:rPr lang="ko-KR" altLang="en-US" sz="1300" b="1" spc="-10">
                          <a:solidFill>
                            <a:srgbClr val="ffffff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현실적 구현 가능성</a:t>
                      </a:r>
                      <a:endParaRPr lang="ko-KR" altLang="en-US" sz="1300" b="1" spc="-10">
                        <a:solidFill>
                          <a:srgbClr val="ffffff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  <a:p>
                      <a:pPr marL="104139" lvl="0" algn="ctr">
                        <a:lnSpc>
                          <a:spcPct val="100000"/>
                        </a:lnSpc>
                        <a:spcBef>
                          <a:spcPts val="935"/>
                        </a:spcBef>
                        <a:defRPr/>
                      </a:pPr>
                      <a:endParaRPr lang="ko-KR" altLang="en-US" sz="1300" b="1" spc="-10">
                        <a:solidFill>
                          <a:srgbClr val="ffffff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0" marR="0" marT="118745" marB="0">
                    <a:solidFill>
                      <a:srgbClr val="0f172a"/>
                    </a:solidFill>
                  </a:tcPr>
                </a:tc>
                <a:tc>
                  <a:txBody>
                    <a:bodyPr vert="horz" lIns="0" tIns="118745" rIns="0" bIns="0" anchor="t" anchorCtr="0"/>
                    <a:lstStyle/>
                    <a:p>
                      <a:pPr marL="55880" lvl="0" algn="ctr">
                        <a:lnSpc>
                          <a:spcPct val="100000"/>
                        </a:lnSpc>
                        <a:spcBef>
                          <a:spcPts val="935"/>
                        </a:spcBef>
                        <a:defRPr/>
                      </a:pPr>
                      <a:r>
                        <a:rPr sz="1300" b="1" spc="-25">
                          <a:solidFill>
                            <a:srgbClr val="ffffff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경쟁력</a:t>
                      </a:r>
                      <a:endParaRPr sz="13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0" marR="0" marT="118745" marB="0">
                    <a:solidFill>
                      <a:srgbClr val="0f172a"/>
                    </a:solidFill>
                  </a:tcPr>
                </a:tc>
                <a:tc>
                  <a:txBody>
                    <a:bodyPr vert="horz" lIns="0" tIns="118745" rIns="0" bIns="0" anchor="t" anchorCtr="0"/>
                    <a:lstStyle/>
                    <a:p>
                      <a:pPr marR="7620" lvl="0" algn="ctr">
                        <a:lnSpc>
                          <a:spcPct val="100000"/>
                        </a:lnSpc>
                        <a:spcBef>
                          <a:spcPts val="935"/>
                        </a:spcBef>
                        <a:defRPr/>
                      </a:pPr>
                      <a:r>
                        <a:rPr sz="1300" b="1" spc="-25">
                          <a:solidFill>
                            <a:srgbClr val="ffffff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합산</a:t>
                      </a:r>
                      <a:endParaRPr sz="13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0" marR="0" marT="118745" marB="0">
                    <a:solidFill>
                      <a:srgbClr val="0f172a"/>
                    </a:solidFill>
                  </a:tcPr>
                </a:tc>
              </a:tr>
              <a:tr h="548741">
                <a:tc rowSpan="4"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핵심 일정 매치</a:t>
                      </a:r>
                      <a:endParaRPr xmlns:mc="http://schemas.openxmlformats.org/markup-compatibility/2006" xmlns:hp="http://schemas.haansoft.com/office/presentation/8.0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시간표 입력</a:t>
                      </a:r>
                      <a:endParaRPr xmlns:mc="http://schemas.openxmlformats.org/markup-compatibility/2006" xmlns:hp="http://schemas.haansoft.com/office/presentation/8.0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1</a:t>
                      </a:r>
                      <a:endParaRPr xmlns:mc="http://schemas.openxmlformats.org/markup-compatibility/2006" xmlns:hp="http://schemas.haansoft.com/office/presentation/8.0" lang="EN-US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5</a:t>
                      </a:r>
                      <a:endParaRPr xmlns:mc="http://schemas.openxmlformats.org/markup-compatibility/2006" xmlns:hp="http://schemas.haansoft.com/office/presentation/8.0" lang="EN-US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5</a:t>
                      </a:r>
                      <a:endParaRPr xmlns:mc="http://schemas.openxmlformats.org/markup-compatibility/2006" xmlns:hp="http://schemas.haansoft.com/office/presentation/8.0" lang="EN-US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4</a:t>
                      </a:r>
                      <a:endParaRPr xmlns:mc="http://schemas.openxmlformats.org/markup-compatibility/2006" xmlns:hp="http://schemas.haansoft.com/office/presentation/8.0" lang="EN-US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14</a:t>
                      </a:r>
                      <a:endParaRPr xmlns:mc="http://schemas.openxmlformats.org/markup-compatibility/2006" xmlns:hp="http://schemas.haansoft.com/office/presentation/8.0" lang="EN-US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</a:tr>
              <a:tr h="548741"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en-US" altLang="ko-KR"/>
                    </a:p>
                  </a:txBody>
                  <a:tcPr marL="91440" marR="91440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시간표 자동 매치</a:t>
                      </a:r>
                      <a:r>
                        <a:rPr xmlns:mc="http://schemas.openxmlformats.org/markup-compatibility/2006" xmlns:hp="http://schemas.haansoft.com/office/presentation/8.0" lang="EN-US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4</a:t>
                      </a:r>
                      <a:endParaRPr xmlns:mc="http://schemas.openxmlformats.org/markup-compatibility/2006" xmlns:hp="http://schemas.haansoft.com/office/presentation/8.0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3</a:t>
                      </a:r>
                      <a:endParaRPr xmlns:mc="http://schemas.openxmlformats.org/markup-compatibility/2006" xmlns:hp="http://schemas.haansoft.com/office/presentation/8.0" lang="EN-US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5</a:t>
                      </a:r>
                      <a:endParaRPr xmlns:mc="http://schemas.openxmlformats.org/markup-compatibility/2006" xmlns:hp="http://schemas.haansoft.com/office/presentation/8.0" lang="EN-US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3</a:t>
                      </a:r>
                      <a:endParaRPr xmlns:mc="http://schemas.openxmlformats.org/markup-compatibility/2006" xmlns:hp="http://schemas.haansoft.com/office/presentation/8.0" lang="EN-US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5</a:t>
                      </a:r>
                      <a:endParaRPr xmlns:mc="http://schemas.openxmlformats.org/markup-compatibility/2006" xmlns:hp="http://schemas.haansoft.com/office/presentation/8.0" lang="EN-US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13</a:t>
                      </a:r>
                      <a:endParaRPr xmlns:mc="http://schemas.openxmlformats.org/markup-compatibility/2006" xmlns:hp="http://schemas.haansoft.com/office/presentation/8.0" lang="EN-US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548741"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en-US" altLang="ko-KR"/>
                    </a:p>
                  </a:txBody>
                  <a:tcPr marL="91440" marR="91440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참석률 시각화</a:t>
                      </a:r>
                      <a:endParaRPr xmlns:mc="http://schemas.openxmlformats.org/markup-compatibility/2006" xmlns:hp="http://schemas.haansoft.com/office/presentation/8.0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4</a:t>
                      </a:r>
                      <a:endParaRPr xmlns:mc="http://schemas.openxmlformats.org/markup-compatibility/2006" xmlns:hp="http://schemas.haansoft.com/office/presentation/8.0" lang="EN-US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4</a:t>
                      </a:r>
                      <a:endParaRPr xmlns:mc="http://schemas.openxmlformats.org/markup-compatibility/2006" xmlns:hp="http://schemas.haansoft.com/office/presentation/8.0" lang="EN-US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5</a:t>
                      </a:r>
                      <a:endParaRPr xmlns:mc="http://schemas.openxmlformats.org/markup-compatibility/2006" xmlns:hp="http://schemas.haansoft.com/office/presentation/8.0" lang="EN-US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1</a:t>
                      </a:r>
                      <a:endParaRPr xmlns:mc="http://schemas.openxmlformats.org/markup-compatibility/2006" xmlns:hp="http://schemas.haansoft.com/office/presentation/8.0" lang="EN-US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10</a:t>
                      </a:r>
                      <a:endParaRPr xmlns:mc="http://schemas.openxmlformats.org/markup-compatibility/2006" xmlns:hp="http://schemas.haansoft.com/office/presentation/8.0" lang="EN-US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</a:tr>
              <a:tr h="548741"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en-US" altLang="ko-KR"/>
                    </a:p>
                  </a:txBody>
                  <a:tcPr marL="91440" marR="91440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차선책 안내</a:t>
                      </a:r>
                      <a:endParaRPr xmlns:mc="http://schemas.openxmlformats.org/markup-compatibility/2006" xmlns:hp="http://schemas.haansoft.com/office/presentation/8.0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2</a:t>
                      </a:r>
                      <a:endParaRPr xmlns:mc="http://schemas.openxmlformats.org/markup-compatibility/2006" xmlns:hp="http://schemas.haansoft.com/office/presentation/8.0" lang="EN-US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5</a:t>
                      </a:r>
                      <a:endParaRPr xmlns:mc="http://schemas.openxmlformats.org/markup-compatibility/2006" xmlns:hp="http://schemas.haansoft.com/office/presentation/8.0" lang="EN-US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4</a:t>
                      </a:r>
                      <a:endParaRPr xmlns:mc="http://schemas.openxmlformats.org/markup-compatibility/2006" xmlns:hp="http://schemas.haansoft.com/office/presentation/8.0" lang="EN-US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5</a:t>
                      </a:r>
                      <a:endParaRPr xmlns:mc="http://schemas.openxmlformats.org/markup-compatibility/2006" xmlns:hp="http://schemas.haansoft.com/office/presentation/8.0" lang="EN-US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1</a:t>
                      </a:r>
                      <a:r>
                        <a:rPr xmlns:mc="http://schemas.openxmlformats.org/markup-compatibility/2006" xmlns:hp="http://schemas.haansoft.com/office/presentation/8.0" lang="en-US" altLang="ko-KR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1</a:t>
                      </a:r>
                      <a:endParaRPr xmlns:mc="http://schemas.openxmlformats.org/markup-compatibility/2006" xmlns:hp="http://schemas.haansoft.com/office/presentation/8.0" lang="en-US" altLang="ko-KR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596900" y="439165"/>
            <a:ext cx="1172210" cy="18542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 lvl="0">
              <a:lnSpc>
                <a:spcPct val="100000"/>
              </a:lnSpc>
              <a:spcBef>
                <a:spcPts val="100"/>
              </a:spcBef>
              <a:defRPr/>
            </a:pPr>
            <a:r>
              <a:rPr sz="1050" b="1">
                <a:solidFill>
                  <a:srgbClr val="ea580c"/>
                </a:solidFill>
                <a:latin typeface="함초롬돋움"/>
                <a:ea typeface="+mj-ea"/>
                <a:cs typeface="함초롬돋움"/>
              </a:rPr>
              <a:t>PRIORITY</a:t>
            </a:r>
            <a:r>
              <a:rPr sz="1050" b="1" spc="45">
                <a:solidFill>
                  <a:srgbClr val="ea580c"/>
                </a:solidFill>
                <a:latin typeface="함초롬돋움"/>
                <a:ea typeface="+mj-ea"/>
                <a:cs typeface="함초롬돋움"/>
              </a:rPr>
              <a:t> </a:t>
            </a:r>
            <a:r>
              <a:rPr sz="1050" b="1" spc="-10">
                <a:solidFill>
                  <a:srgbClr val="ea580c"/>
                </a:solidFill>
                <a:latin typeface="함초롬돋움"/>
                <a:ea typeface="+mj-ea"/>
                <a:cs typeface="함초롬돋움"/>
              </a:rPr>
              <a:t>RESULT</a:t>
            </a:r>
            <a:endParaRPr sz="1050">
              <a:latin typeface="함초롬돋움"/>
              <a:ea typeface="+mj-ea"/>
              <a:cs typeface="함초롬돋움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 idx="0"/>
          </p:nvPr>
        </p:nvSpPr>
        <p:spPr>
          <a:xfrm>
            <a:off x="596900" y="641858"/>
            <a:ext cx="4607560" cy="329692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 lvl="0">
              <a:lnSpc>
                <a:spcPct val="100000"/>
              </a:lnSpc>
              <a:spcBef>
                <a:spcPts val="100"/>
              </a:spcBef>
              <a:defRPr/>
            </a:pPr>
            <a:r>
              <a:rPr sz="2100" spc="-130"/>
              <a:t>아이디어</a:t>
            </a:r>
            <a:r>
              <a:rPr sz="2100" spc="-135"/>
              <a:t> </a:t>
            </a:r>
            <a:r>
              <a:rPr sz="2100" spc="-130"/>
              <a:t>우선순위 정량</a:t>
            </a:r>
            <a:r>
              <a:rPr sz="2100" spc="-135"/>
              <a:t> </a:t>
            </a:r>
            <a:r>
              <a:rPr sz="2100" spc="-130"/>
              <a:t>평가 </a:t>
            </a:r>
            <a:r>
              <a:rPr sz="2100" spc="-25"/>
              <a:t>결과</a:t>
            </a:r>
            <a:endParaRPr sz="2100"/>
          </a:p>
        </p:txBody>
      </p:sp>
      <p:sp>
        <p:nvSpPr>
          <p:cNvPr id="5" name="가로 글상자 4"/>
          <p:cNvSpPr txBox="1"/>
          <p:nvPr/>
        </p:nvSpPr>
        <p:spPr>
          <a:xfrm>
            <a:off x="533400" y="990600"/>
            <a:ext cx="6096000" cy="603885"/>
          </a:xfrm>
          <a:prstGeom prst="rect">
            <a:avLst/>
          </a:prstGeom>
        </p:spPr>
        <p:txBody>
          <a:bodyPr wrap="square">
            <a:spAutoFit/>
          </a:bodyPr>
          <a:p>
            <a:pPr marL="50800" marR="50800"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ko-KR" altLang="en-US" sz="1300" b="0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핵심 일정 매치</a:t>
            </a:r>
            <a:r>
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-</a:t>
            </a:r>
            <a:r>
              <a:rPr xmlns:mc="http://schemas.openxmlformats.org/markup-compatibility/2006" xmlns:hp="http://schemas.haansoft.com/office/presentation/8.0" sz="1300" b="0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우선순위 결과</a:t>
            </a:r>
            <a:endParaRPr xmlns:mc="http://schemas.openxmlformats.org/markup-compatibility/2006" xmlns:hp="http://schemas.haansoft.com/office/presentation/8.0" sz="1300" b="0" i="0" u="none" strike="noStrike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50800" marR="50800"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300">
              <a:latin typeface="함초롬돋움"/>
              <a:ea typeface="함초롬돋움"/>
              <a:cs typeface="함초롬돋움"/>
            </a:endParaRPr>
          </a:p>
        </p:txBody>
      </p:sp>
    </p:spTree>
    <p:extLst>
      <p:ext uri="{BB962C8B-B14F-4D97-AF65-F5344CB8AC3E}">
        <p14:creationId xmlns:p14="http://schemas.microsoft.com/office/powerpoint/2010/main" val="2266619615"/>
      </p:ext>
    </p:extLst>
  </p:cSld>
  <p:clrMapOvr>
    <a:masterClrMapping/>
  </p:clrMapOvr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762000" y="2492705"/>
          <a:ext cx="10535205" cy="247934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83160"/>
                <a:gridCol w="2277167"/>
                <a:gridCol w="1267056"/>
                <a:gridCol w="2077967"/>
                <a:gridCol w="1038225"/>
                <a:gridCol w="945815"/>
                <a:gridCol w="945815"/>
              </a:tblGrid>
              <a:tr h="533400">
                <a:tc>
                  <a:txBody>
                    <a:bodyPr vert="horz" lIns="0" tIns="118745" rIns="0" bIns="0" anchor="t" anchorCtr="0"/>
                    <a:lstStyle/>
                    <a:p>
                      <a:pPr marL="143510" lvl="0" algn="ctr">
                        <a:lnSpc>
                          <a:spcPct val="100000"/>
                        </a:lnSpc>
                        <a:spcBef>
                          <a:spcPts val="935"/>
                        </a:spcBef>
                        <a:defRPr/>
                      </a:pPr>
                      <a:r>
                        <a:rPr sz="1300" b="1" spc="-25">
                          <a:solidFill>
                            <a:srgbClr val="ffffff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영역</a:t>
                      </a:r>
                      <a:endParaRPr sz="13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0" marR="0" marT="118745" marB="0">
                    <a:solidFill>
                      <a:srgbClr val="0f172a"/>
                    </a:solidFill>
                  </a:tcPr>
                </a:tc>
                <a:tc>
                  <a:txBody>
                    <a:bodyPr vert="horz" lIns="0" tIns="118745" rIns="0" bIns="0" anchor="t" anchorCtr="0"/>
                    <a:lstStyle/>
                    <a:p>
                      <a:pPr marL="77470" lvl="0" algn="ctr">
                        <a:lnSpc>
                          <a:spcPct val="100000"/>
                        </a:lnSpc>
                        <a:spcBef>
                          <a:spcPts val="935"/>
                        </a:spcBef>
                        <a:defRPr/>
                      </a:pPr>
                      <a:r>
                        <a:rPr sz="1300" b="1" spc="-10">
                          <a:solidFill>
                            <a:srgbClr val="ffffff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아이디어명</a:t>
                      </a:r>
                      <a:endParaRPr sz="13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0" marR="0" marT="118745" marB="0">
                    <a:solidFill>
                      <a:srgbClr val="0f172a"/>
                    </a:solidFill>
                  </a:tcPr>
                </a:tc>
                <a:tc>
                  <a:txBody>
                    <a:bodyPr vert="horz" lIns="0" tIns="118745" rIns="0" bIns="0" anchor="t" anchorCtr="0"/>
                    <a:lstStyle/>
                    <a:p>
                      <a:pPr marR="25400" lvl="0" algn="ctr">
                        <a:lnSpc>
                          <a:spcPct val="100000"/>
                        </a:lnSpc>
                        <a:spcBef>
                          <a:spcPts val="935"/>
                        </a:spcBef>
                        <a:defRPr/>
                      </a:pPr>
                      <a:r>
                        <a:rPr lang="ko-KR" altLang="en-US" sz="1300" b="1" spc="-20">
                          <a:solidFill>
                            <a:srgbClr val="ffffff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우선순위</a:t>
                      </a:r>
                      <a:endParaRPr lang="ko-KR" altLang="en-US" sz="1300" b="1" spc="-20">
                        <a:solidFill>
                          <a:srgbClr val="ffffff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0" marR="0" marT="118745" marB="0">
                    <a:solidFill>
                      <a:srgbClr val="0f172a"/>
                    </a:solidFill>
                  </a:tcPr>
                </a:tc>
                <a:tc>
                  <a:txBody>
                    <a:bodyPr vert="horz" lIns="0" tIns="118745" rIns="0" bIns="0" anchor="t" anchorCtr="0"/>
                    <a:lstStyle/>
                    <a:p>
                      <a:pPr marR="25400" lvl="0" algn="ctr">
                        <a:lnSpc>
                          <a:spcPct val="100000"/>
                        </a:lnSpc>
                        <a:spcBef>
                          <a:spcPts val="935"/>
                        </a:spcBef>
                        <a:defRPr/>
                      </a:pPr>
                      <a:r>
                        <a:rPr lang="ko-KR" altLang="en-US" sz="1300" b="1" spc="-20">
                          <a:solidFill>
                            <a:srgbClr val="ffffff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사용자 요구사항 충족도</a:t>
                      </a:r>
                      <a:endParaRPr lang="ko-KR" altLang="en-US" sz="1300" b="1" spc="-20">
                        <a:solidFill>
                          <a:srgbClr val="ffffff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  <a:p>
                      <a:pPr marR="25400" lvl="0" algn="ctr">
                        <a:lnSpc>
                          <a:spcPct val="100000"/>
                        </a:lnSpc>
                        <a:spcBef>
                          <a:spcPts val="935"/>
                        </a:spcBef>
                        <a:defRPr/>
                      </a:pPr>
                      <a:endParaRPr lang="ko-KR" altLang="en-US" sz="1300" b="1" spc="-20">
                        <a:solidFill>
                          <a:srgbClr val="ffffff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0" marR="0" marT="118745" marB="0">
                    <a:solidFill>
                      <a:srgbClr val="0f172a"/>
                    </a:solidFill>
                  </a:tcPr>
                </a:tc>
                <a:tc>
                  <a:txBody>
                    <a:bodyPr vert="horz" lIns="0" tIns="118745" rIns="0" bIns="0" anchor="t" anchorCtr="0"/>
                    <a:lstStyle/>
                    <a:p>
                      <a:pPr marL="104139" lvl="0" algn="ctr">
                        <a:lnSpc>
                          <a:spcPct val="100000"/>
                        </a:lnSpc>
                        <a:spcBef>
                          <a:spcPts val="935"/>
                        </a:spcBef>
                        <a:defRPr/>
                      </a:pPr>
                      <a:r>
                        <a:rPr lang="ko-KR" altLang="en-US" sz="1300" b="1" spc="-10">
                          <a:solidFill>
                            <a:srgbClr val="ffffff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현실적 구현 가능성</a:t>
                      </a:r>
                      <a:endParaRPr lang="ko-KR" altLang="en-US" sz="1300" b="1" spc="-10">
                        <a:solidFill>
                          <a:srgbClr val="ffffff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  <a:p>
                      <a:pPr marL="104139" lvl="0" algn="ctr">
                        <a:lnSpc>
                          <a:spcPct val="100000"/>
                        </a:lnSpc>
                        <a:spcBef>
                          <a:spcPts val="935"/>
                        </a:spcBef>
                        <a:defRPr/>
                      </a:pPr>
                      <a:endParaRPr lang="ko-KR" altLang="en-US" sz="1300" b="1" spc="-10">
                        <a:solidFill>
                          <a:srgbClr val="ffffff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0" marR="0" marT="118745" marB="0">
                    <a:solidFill>
                      <a:srgbClr val="0f172a"/>
                    </a:solidFill>
                  </a:tcPr>
                </a:tc>
                <a:tc>
                  <a:txBody>
                    <a:bodyPr vert="horz" lIns="0" tIns="118745" rIns="0" bIns="0" anchor="t" anchorCtr="0"/>
                    <a:lstStyle/>
                    <a:p>
                      <a:pPr marL="55880" lvl="0" algn="ctr">
                        <a:lnSpc>
                          <a:spcPct val="100000"/>
                        </a:lnSpc>
                        <a:spcBef>
                          <a:spcPts val="935"/>
                        </a:spcBef>
                        <a:defRPr/>
                      </a:pPr>
                      <a:r>
                        <a:rPr sz="1300" b="1" spc="-25">
                          <a:solidFill>
                            <a:srgbClr val="ffffff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경쟁력</a:t>
                      </a:r>
                      <a:endParaRPr sz="13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0" marR="0" marT="118745" marB="0">
                    <a:solidFill>
                      <a:srgbClr val="0f172a"/>
                    </a:solidFill>
                  </a:tcPr>
                </a:tc>
                <a:tc>
                  <a:txBody>
                    <a:bodyPr vert="horz" lIns="0" tIns="118745" rIns="0" bIns="0" anchor="t" anchorCtr="0"/>
                    <a:lstStyle/>
                    <a:p>
                      <a:pPr marR="7620" lvl="0" algn="ctr">
                        <a:lnSpc>
                          <a:spcPct val="100000"/>
                        </a:lnSpc>
                        <a:spcBef>
                          <a:spcPts val="935"/>
                        </a:spcBef>
                        <a:defRPr/>
                      </a:pPr>
                      <a:r>
                        <a:rPr sz="1300" b="1" spc="-25">
                          <a:solidFill>
                            <a:srgbClr val="ffffff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합산</a:t>
                      </a:r>
                      <a:endParaRPr sz="13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0" marR="0" marT="118745" marB="0">
                    <a:solidFill>
                      <a:srgbClr val="0f172a"/>
                    </a:solidFill>
                  </a:tcPr>
                </a:tc>
              </a:tr>
              <a:tr h="548741">
                <a:tc rowSpan="3"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그룹 소통 및 의사결정</a:t>
                      </a:r>
                      <a:endParaRPr xmlns:mc="http://schemas.openxmlformats.org/markup-compatibility/2006" xmlns:hp="http://schemas.haansoft.com/office/presentation/8.0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선호 시간</a:t>
                      </a:r>
                      <a:endParaRPr xmlns:mc="http://schemas.openxmlformats.org/markup-compatibility/2006" xmlns:hp="http://schemas.haansoft.com/office/presentation/8.0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1</a:t>
                      </a:r>
                      <a:endParaRPr xmlns:mc="http://schemas.openxmlformats.org/markup-compatibility/2006" xmlns:hp="http://schemas.haansoft.com/office/presentation/8.0" lang="EN-US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3</a:t>
                      </a:r>
                      <a:endParaRPr xmlns:mc="http://schemas.openxmlformats.org/markup-compatibility/2006" xmlns:hp="http://schemas.haansoft.com/office/presentation/8.0" lang="EN-US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4</a:t>
                      </a:r>
                      <a:endParaRPr xmlns:mc="http://schemas.openxmlformats.org/markup-compatibility/2006" xmlns:hp="http://schemas.haansoft.com/office/presentation/8.0" lang="EN-US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4</a:t>
                      </a:r>
                      <a:endParaRPr xmlns:mc="http://schemas.openxmlformats.org/markup-compatibility/2006" xmlns:hp="http://schemas.haansoft.com/office/presentation/8.0" lang="EN-US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11</a:t>
                      </a:r>
                      <a:endParaRPr xmlns:mc="http://schemas.openxmlformats.org/markup-compatibility/2006" xmlns:hp="http://schemas.haansoft.com/office/presentation/8.0" lang="EN-US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</a:tr>
              <a:tr h="548741"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메모</a:t>
                      </a:r>
                      <a:endParaRPr xmlns:mc="http://schemas.openxmlformats.org/markup-compatibility/2006" xmlns:hp="http://schemas.haansoft.com/office/presentation/8.0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2</a:t>
                      </a:r>
                      <a:endParaRPr xmlns:mc="http://schemas.openxmlformats.org/markup-compatibility/2006" xmlns:hp="http://schemas.haansoft.com/office/presentation/8.0" lang="EN-US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3</a:t>
                      </a:r>
                      <a:endParaRPr xmlns:mc="http://schemas.openxmlformats.org/markup-compatibility/2006" xmlns:hp="http://schemas.haansoft.com/office/presentation/8.0" lang="EN-US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4</a:t>
                      </a:r>
                      <a:endParaRPr xmlns:mc="http://schemas.openxmlformats.org/markup-compatibility/2006" xmlns:hp="http://schemas.haansoft.com/office/presentation/8.0" lang="EN-US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2</a:t>
                      </a:r>
                      <a:endParaRPr xmlns:mc="http://schemas.openxmlformats.org/markup-compatibility/2006" xmlns:hp="http://schemas.haansoft.com/office/presentation/8.0" lang="EN-US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9</a:t>
                      </a:r>
                      <a:endParaRPr xmlns:mc="http://schemas.openxmlformats.org/markup-compatibility/2006" xmlns:hp="http://schemas.haansoft.com/office/presentation/8.0" lang="EN-US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548741"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알림</a:t>
                      </a:r>
                      <a:endParaRPr xmlns:mc="http://schemas.openxmlformats.org/markup-compatibility/2006" xmlns:hp="http://schemas.haansoft.com/office/presentation/8.0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3</a:t>
                      </a:r>
                      <a:endParaRPr xmlns:mc="http://schemas.openxmlformats.org/markup-compatibility/2006" xmlns:hp="http://schemas.haansoft.com/office/presentation/8.0" lang="EN-US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3</a:t>
                      </a:r>
                      <a:endParaRPr xmlns:mc="http://schemas.openxmlformats.org/markup-compatibility/2006" xmlns:hp="http://schemas.haansoft.com/office/presentation/8.0" lang="EN-US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3</a:t>
                      </a:r>
                      <a:endParaRPr xmlns:mc="http://schemas.openxmlformats.org/markup-compatibility/2006" xmlns:hp="http://schemas.haansoft.com/office/presentation/8.0" lang="EN-US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2</a:t>
                      </a:r>
                      <a:endParaRPr xmlns:mc="http://schemas.openxmlformats.org/markup-compatibility/2006" xmlns:hp="http://schemas.haansoft.com/office/presentation/8.0" lang="EN-US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8</a:t>
                      </a:r>
                      <a:endParaRPr xmlns:mc="http://schemas.openxmlformats.org/markup-compatibility/2006" xmlns:hp="http://schemas.haansoft.com/office/presentation/8.0" lang="EN-US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596900" y="439165"/>
            <a:ext cx="1172210" cy="18542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 lvl="0">
              <a:lnSpc>
                <a:spcPct val="100000"/>
              </a:lnSpc>
              <a:spcBef>
                <a:spcPts val="100"/>
              </a:spcBef>
              <a:defRPr/>
            </a:pPr>
            <a:r>
              <a:rPr sz="1050" b="1">
                <a:solidFill>
                  <a:srgbClr val="ea580c"/>
                </a:solidFill>
                <a:latin typeface="함초롬돋움"/>
                <a:ea typeface="+mj-ea"/>
                <a:cs typeface="함초롬돋움"/>
              </a:rPr>
              <a:t>PRIORITY</a:t>
            </a:r>
            <a:r>
              <a:rPr sz="1050" b="1" spc="45">
                <a:solidFill>
                  <a:srgbClr val="ea580c"/>
                </a:solidFill>
                <a:latin typeface="함초롬돋움"/>
                <a:ea typeface="+mj-ea"/>
                <a:cs typeface="함초롬돋움"/>
              </a:rPr>
              <a:t> </a:t>
            </a:r>
            <a:r>
              <a:rPr sz="1050" b="1" spc="-10">
                <a:solidFill>
                  <a:srgbClr val="ea580c"/>
                </a:solidFill>
                <a:latin typeface="함초롬돋움"/>
                <a:ea typeface="+mj-ea"/>
                <a:cs typeface="함초롬돋움"/>
              </a:rPr>
              <a:t>RESULT</a:t>
            </a:r>
            <a:endParaRPr sz="1050">
              <a:latin typeface="함초롬돋움"/>
              <a:ea typeface="+mj-ea"/>
              <a:cs typeface="함초롬돋움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 idx="0"/>
          </p:nvPr>
        </p:nvSpPr>
        <p:spPr>
          <a:xfrm>
            <a:off x="596900" y="641858"/>
            <a:ext cx="4607560" cy="329692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 lvl="0">
              <a:lnSpc>
                <a:spcPct val="100000"/>
              </a:lnSpc>
              <a:spcBef>
                <a:spcPts val="100"/>
              </a:spcBef>
              <a:defRPr/>
            </a:pPr>
            <a:r>
              <a:rPr sz="2100" spc="-130"/>
              <a:t>아이디어</a:t>
            </a:r>
            <a:r>
              <a:rPr sz="2100" spc="-135"/>
              <a:t> </a:t>
            </a:r>
            <a:r>
              <a:rPr sz="2100" spc="-130"/>
              <a:t>우선순위 정량</a:t>
            </a:r>
            <a:r>
              <a:rPr sz="2100" spc="-135"/>
              <a:t> </a:t>
            </a:r>
            <a:r>
              <a:rPr sz="2100" spc="-130"/>
              <a:t>평가 </a:t>
            </a:r>
            <a:r>
              <a:rPr sz="2100" spc="-25"/>
              <a:t>결과</a:t>
            </a:r>
            <a:endParaRPr sz="2100"/>
          </a:p>
        </p:txBody>
      </p:sp>
      <p:sp>
        <p:nvSpPr>
          <p:cNvPr id="5" name="가로 글상자 4"/>
          <p:cNvSpPr txBox="1"/>
          <p:nvPr/>
        </p:nvSpPr>
        <p:spPr>
          <a:xfrm>
            <a:off x="533400" y="946785"/>
            <a:ext cx="6096000" cy="603885"/>
          </a:xfrm>
          <a:prstGeom prst="rect">
            <a:avLst/>
          </a:prstGeom>
        </p:spPr>
        <p:txBody>
          <a:bodyPr wrap="square">
            <a:spAutoFit/>
          </a:bodyPr>
          <a:p>
            <a:pPr marL="50800" marR="50800"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ko-KR" altLang="en-US" sz="1300" b="0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그룹 소통 및 의사결정</a:t>
            </a:r>
            <a:r>
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-</a:t>
            </a:r>
            <a:r>
              <a:rPr xmlns:mc="http://schemas.openxmlformats.org/markup-compatibility/2006" xmlns:hp="http://schemas.haansoft.com/office/presentation/8.0" sz="1300" b="0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우선순위 결과</a:t>
            </a:r>
            <a:endParaRPr xmlns:mc="http://schemas.openxmlformats.org/markup-compatibility/2006" xmlns:hp="http://schemas.haansoft.com/office/presentation/8.0" sz="1300" b="0" i="0" u="none" strike="noStrike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50800" marR="50800"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300">
              <a:latin typeface="함초롬돋움"/>
              <a:ea typeface="함초롬돋움"/>
              <a:cs typeface="함초롬돋움"/>
            </a:endParaRPr>
          </a:p>
        </p:txBody>
      </p:sp>
    </p:spTree>
    <p:extLst>
      <p:ext uri="{BB962C8B-B14F-4D97-AF65-F5344CB8AC3E}">
        <p14:creationId xmlns:p14="http://schemas.microsoft.com/office/powerpoint/2010/main" val="4135988825"/>
      </p:ext>
    </p:extLst>
  </p:cSld>
  <p:clrMapOvr>
    <a:masterClrMapping/>
  </p:clrMapOvr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762000" y="2492705"/>
          <a:ext cx="10536418" cy="266021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83160"/>
                <a:gridCol w="2278380"/>
                <a:gridCol w="1267056"/>
                <a:gridCol w="2077967"/>
                <a:gridCol w="1038225"/>
                <a:gridCol w="945815"/>
                <a:gridCol w="945815"/>
              </a:tblGrid>
              <a:tr h="479095">
                <a:tc>
                  <a:txBody>
                    <a:bodyPr vert="horz" lIns="0" tIns="118745" rIns="0" bIns="0" anchor="t" anchorCtr="0"/>
                    <a:lstStyle/>
                    <a:p>
                      <a:pPr marL="143510" lvl="0" algn="ctr">
                        <a:lnSpc>
                          <a:spcPct val="100000"/>
                        </a:lnSpc>
                        <a:spcBef>
                          <a:spcPts val="935"/>
                        </a:spcBef>
                        <a:defRPr/>
                      </a:pPr>
                      <a:r>
                        <a:rPr sz="1300" b="1" spc="-25">
                          <a:solidFill>
                            <a:srgbClr val="ffffff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영역</a:t>
                      </a:r>
                      <a:endParaRPr sz="13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0" marR="0" marT="118745" marB="0">
                    <a:solidFill>
                      <a:srgbClr val="0f172a"/>
                    </a:solidFill>
                  </a:tcPr>
                </a:tc>
                <a:tc>
                  <a:txBody>
                    <a:bodyPr vert="horz" lIns="0" tIns="118745" rIns="0" bIns="0" anchor="t" anchorCtr="0"/>
                    <a:lstStyle/>
                    <a:p>
                      <a:pPr marL="77470" lvl="0" algn="ctr">
                        <a:lnSpc>
                          <a:spcPct val="100000"/>
                        </a:lnSpc>
                        <a:spcBef>
                          <a:spcPts val="935"/>
                        </a:spcBef>
                        <a:defRPr/>
                      </a:pPr>
                      <a:r>
                        <a:rPr sz="1300" b="1" spc="-10">
                          <a:solidFill>
                            <a:srgbClr val="ffffff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아이디어명</a:t>
                      </a:r>
                      <a:endParaRPr sz="13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0" marR="0" marT="118745" marB="0">
                    <a:solidFill>
                      <a:srgbClr val="0f172a"/>
                    </a:solidFill>
                  </a:tcPr>
                </a:tc>
                <a:tc>
                  <a:txBody>
                    <a:bodyPr vert="horz" lIns="0" tIns="118745" rIns="0" bIns="0" anchor="t" anchorCtr="0"/>
                    <a:lstStyle/>
                    <a:p>
                      <a:pPr marR="25400" lvl="0" algn="ctr">
                        <a:lnSpc>
                          <a:spcPct val="100000"/>
                        </a:lnSpc>
                        <a:spcBef>
                          <a:spcPts val="935"/>
                        </a:spcBef>
                        <a:defRPr/>
                      </a:pPr>
                      <a:r>
                        <a:rPr lang="ko-KR" altLang="en-US" sz="1300" b="1" spc="-20">
                          <a:solidFill>
                            <a:srgbClr val="ffffff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우선순위</a:t>
                      </a:r>
                      <a:endParaRPr lang="ko-KR" altLang="en-US" sz="1300" b="1" spc="-20">
                        <a:solidFill>
                          <a:srgbClr val="ffffff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0" marR="0" marT="118745" marB="0">
                    <a:solidFill>
                      <a:srgbClr val="0f172a"/>
                    </a:solidFill>
                  </a:tcPr>
                </a:tc>
                <a:tc>
                  <a:txBody>
                    <a:bodyPr vert="horz" lIns="0" tIns="118745" rIns="0" bIns="0" anchor="t" anchorCtr="0"/>
                    <a:lstStyle/>
                    <a:p>
                      <a:pPr marR="25400" lvl="0" algn="ctr">
                        <a:lnSpc>
                          <a:spcPct val="100000"/>
                        </a:lnSpc>
                        <a:spcBef>
                          <a:spcPts val="935"/>
                        </a:spcBef>
                        <a:defRPr/>
                      </a:pPr>
                      <a:r>
                        <a:rPr lang="ko-KR" altLang="en-US" sz="1300" b="1" spc="-20">
                          <a:solidFill>
                            <a:srgbClr val="ffffff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사용자 요구사항 충족도</a:t>
                      </a:r>
                      <a:endParaRPr lang="ko-KR" altLang="en-US" sz="1300" b="1" spc="-20">
                        <a:solidFill>
                          <a:srgbClr val="ffffff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  <a:p>
                      <a:pPr marR="25400" lvl="0" algn="ctr">
                        <a:lnSpc>
                          <a:spcPct val="100000"/>
                        </a:lnSpc>
                        <a:spcBef>
                          <a:spcPts val="935"/>
                        </a:spcBef>
                        <a:defRPr/>
                      </a:pPr>
                      <a:endParaRPr lang="ko-KR" altLang="en-US" sz="1300" b="1" spc="-20">
                        <a:solidFill>
                          <a:srgbClr val="ffffff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0" marR="0" marT="118745" marB="0">
                    <a:solidFill>
                      <a:srgbClr val="0f172a"/>
                    </a:solidFill>
                  </a:tcPr>
                </a:tc>
                <a:tc>
                  <a:txBody>
                    <a:bodyPr vert="horz" lIns="0" tIns="118745" rIns="0" bIns="0" anchor="t" anchorCtr="0"/>
                    <a:lstStyle/>
                    <a:p>
                      <a:pPr marL="104139" lvl="0" algn="ctr">
                        <a:lnSpc>
                          <a:spcPct val="100000"/>
                        </a:lnSpc>
                        <a:spcBef>
                          <a:spcPts val="935"/>
                        </a:spcBef>
                        <a:defRPr/>
                      </a:pPr>
                      <a:r>
                        <a:rPr lang="ko-KR" altLang="en-US" sz="1300" b="1" spc="-10">
                          <a:solidFill>
                            <a:srgbClr val="ffffff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현실적 구현 가능성</a:t>
                      </a:r>
                      <a:endParaRPr lang="ko-KR" altLang="en-US" sz="1300" b="1" spc="-10">
                        <a:solidFill>
                          <a:srgbClr val="ffffff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  <a:p>
                      <a:pPr marL="104139" lvl="0" algn="ctr">
                        <a:lnSpc>
                          <a:spcPct val="100000"/>
                        </a:lnSpc>
                        <a:spcBef>
                          <a:spcPts val="935"/>
                        </a:spcBef>
                        <a:defRPr/>
                      </a:pPr>
                      <a:endParaRPr lang="ko-KR" altLang="en-US" sz="1300" b="1" spc="-10">
                        <a:solidFill>
                          <a:srgbClr val="ffffff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0" marR="0" marT="118745" marB="0">
                    <a:solidFill>
                      <a:srgbClr val="0f172a"/>
                    </a:solidFill>
                  </a:tcPr>
                </a:tc>
                <a:tc>
                  <a:txBody>
                    <a:bodyPr vert="horz" lIns="0" tIns="118745" rIns="0" bIns="0" anchor="t" anchorCtr="0"/>
                    <a:lstStyle/>
                    <a:p>
                      <a:pPr marL="55880" lvl="0" algn="ctr">
                        <a:lnSpc>
                          <a:spcPct val="100000"/>
                        </a:lnSpc>
                        <a:spcBef>
                          <a:spcPts val="935"/>
                        </a:spcBef>
                        <a:defRPr/>
                      </a:pPr>
                      <a:r>
                        <a:rPr sz="1300" b="1" spc="-25">
                          <a:solidFill>
                            <a:srgbClr val="ffffff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경쟁력</a:t>
                      </a:r>
                      <a:endParaRPr sz="13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0" marR="0" marT="118745" marB="0">
                    <a:solidFill>
                      <a:srgbClr val="0f172a"/>
                    </a:solidFill>
                  </a:tcPr>
                </a:tc>
                <a:tc>
                  <a:txBody>
                    <a:bodyPr vert="horz" lIns="0" tIns="118745" rIns="0" bIns="0" anchor="t" anchorCtr="0"/>
                    <a:lstStyle/>
                    <a:p>
                      <a:pPr marR="7620" lvl="0" algn="ctr">
                        <a:lnSpc>
                          <a:spcPct val="100000"/>
                        </a:lnSpc>
                        <a:spcBef>
                          <a:spcPts val="935"/>
                        </a:spcBef>
                        <a:defRPr/>
                      </a:pPr>
                      <a:r>
                        <a:rPr sz="1300" b="1" spc="-25">
                          <a:solidFill>
                            <a:srgbClr val="ffffff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합산</a:t>
                      </a:r>
                      <a:endParaRPr sz="13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0" marR="0" marT="118745" marB="0">
                    <a:solidFill>
                      <a:srgbClr val="0f172a"/>
                    </a:solidFill>
                  </a:tcPr>
                </a:tc>
              </a:tr>
              <a:tr h="548741">
                <a:tc rowSpan="3"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그룹 관리</a:t>
                      </a:r>
                      <a:endParaRPr xmlns:mc="http://schemas.openxmlformats.org/markup-compatibility/2006" xmlns:hp="http://schemas.haansoft.com/office/presentation/8.0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모임</a:t>
                      </a:r>
                      <a:endParaRPr xmlns:mc="http://schemas.openxmlformats.org/markup-compatibility/2006" xmlns:hp="http://schemas.haansoft.com/office/presentation/8.0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생성</a:t>
                      </a:r>
                      <a:r>
                        <a:rPr xmlns:mc="http://schemas.openxmlformats.org/markup-compatibility/2006" xmlns:hp="http://schemas.haansoft.com/office/presentation/8.0" lang="EN-US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/</a:t>
                      </a:r>
                      <a:r>
                        <a:rPr xmlns:mc="http://schemas.openxmlformats.org/markup-compatibility/2006" xmlns:hp="http://schemas.haansoft.com/office/presentation/8.0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수정</a:t>
                      </a:r>
                      <a:r>
                        <a:rPr xmlns:mc="http://schemas.openxmlformats.org/markup-compatibility/2006" xmlns:hp="http://schemas.haansoft.com/office/presentation/8.0" lang="EN-US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/</a:t>
                      </a:r>
                      <a:r>
                        <a:rPr xmlns:mc="http://schemas.openxmlformats.org/markup-compatibility/2006" xmlns:hp="http://schemas.haansoft.com/office/presentation/8.0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삭제</a:t>
                      </a:r>
                      <a:endParaRPr xmlns:mc="http://schemas.openxmlformats.org/markup-compatibility/2006" xmlns:hp="http://schemas.haansoft.com/office/presentation/8.0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1</a:t>
                      </a:r>
                      <a:endParaRPr xmlns:mc="http://schemas.openxmlformats.org/markup-compatibility/2006" xmlns:hp="http://schemas.haansoft.com/office/presentation/8.0" lang="EN-US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5</a:t>
                      </a:r>
                      <a:endParaRPr xmlns:mc="http://schemas.openxmlformats.org/markup-compatibility/2006" xmlns:hp="http://schemas.haansoft.com/office/presentation/8.0" lang="EN-US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5</a:t>
                      </a:r>
                      <a:endParaRPr xmlns:mc="http://schemas.openxmlformats.org/markup-compatibility/2006" xmlns:hp="http://schemas.haansoft.com/office/presentation/8.0" lang="EN-US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3</a:t>
                      </a:r>
                      <a:endParaRPr xmlns:mc="http://schemas.openxmlformats.org/markup-compatibility/2006" xmlns:hp="http://schemas.haansoft.com/office/presentation/8.0" lang="EN-US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13</a:t>
                      </a:r>
                      <a:endParaRPr xmlns:mc="http://schemas.openxmlformats.org/markup-compatibility/2006" xmlns:hp="http://schemas.haansoft.com/office/presentation/8.0" lang="EN-US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</a:tr>
              <a:tr h="548741"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초대 링크</a:t>
                      </a:r>
                      <a:r>
                        <a:rPr xmlns:mc="http://schemas.openxmlformats.org/markup-compatibility/2006" xmlns:hp="http://schemas.haansoft.com/office/presentation/8.0" lang="EN-US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/</a:t>
                      </a:r>
                      <a:r>
                        <a:rPr xmlns:mc="http://schemas.openxmlformats.org/markup-compatibility/2006" xmlns:hp="http://schemas.haansoft.com/office/presentation/8.0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코드 생성</a:t>
                      </a:r>
                      <a:endParaRPr xmlns:mc="http://schemas.openxmlformats.org/markup-compatibility/2006" xmlns:hp="http://schemas.haansoft.com/office/presentation/8.0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2</a:t>
                      </a:r>
                      <a:endParaRPr xmlns:mc="http://schemas.openxmlformats.org/markup-compatibility/2006" xmlns:hp="http://schemas.haansoft.com/office/presentation/8.0" lang="EN-US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5</a:t>
                      </a:r>
                      <a:endParaRPr xmlns:mc="http://schemas.openxmlformats.org/markup-compatibility/2006" xmlns:hp="http://schemas.haansoft.com/office/presentation/8.0" lang="EN-US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5</a:t>
                      </a:r>
                      <a:endParaRPr xmlns:mc="http://schemas.openxmlformats.org/markup-compatibility/2006" xmlns:hp="http://schemas.haansoft.com/office/presentation/8.0" lang="EN-US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3</a:t>
                      </a:r>
                      <a:endParaRPr xmlns:mc="http://schemas.openxmlformats.org/markup-compatibility/2006" xmlns:hp="http://schemas.haansoft.com/office/presentation/8.0" lang="EN-US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13</a:t>
                      </a:r>
                      <a:endParaRPr xmlns:mc="http://schemas.openxmlformats.org/markup-compatibility/2006" xmlns:hp="http://schemas.haansoft.com/office/presentation/8.0" lang="EN-US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548741"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모임 탈퇴</a:t>
                      </a:r>
                      <a:endParaRPr xmlns:mc="http://schemas.openxmlformats.org/markup-compatibility/2006" xmlns:hp="http://schemas.haansoft.com/office/presentation/8.0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3</a:t>
                      </a:r>
                      <a:endParaRPr xmlns:mc="http://schemas.openxmlformats.org/markup-compatibility/2006" xmlns:hp="http://schemas.haansoft.com/office/presentation/8.0" lang="EN-US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3</a:t>
                      </a:r>
                      <a:endParaRPr xmlns:mc="http://schemas.openxmlformats.org/markup-compatibility/2006" xmlns:hp="http://schemas.haansoft.com/office/presentation/8.0" lang="EN-US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5</a:t>
                      </a:r>
                      <a:endParaRPr xmlns:mc="http://schemas.openxmlformats.org/markup-compatibility/2006" xmlns:hp="http://schemas.haansoft.com/office/presentation/8.0" lang="EN-US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3</a:t>
                      </a:r>
                      <a:endParaRPr xmlns:mc="http://schemas.openxmlformats.org/markup-compatibility/2006" xmlns:hp="http://schemas.haansoft.com/office/presentation/8.0" lang="EN-US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11</a:t>
                      </a:r>
                      <a:endParaRPr xmlns:mc="http://schemas.openxmlformats.org/markup-compatibility/2006" xmlns:hp="http://schemas.haansoft.com/office/presentation/8.0" lang="EN-US" sz="13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596900" y="439165"/>
            <a:ext cx="1172210" cy="18542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 lvl="0">
              <a:lnSpc>
                <a:spcPct val="100000"/>
              </a:lnSpc>
              <a:spcBef>
                <a:spcPts val="100"/>
              </a:spcBef>
              <a:defRPr/>
            </a:pPr>
            <a:r>
              <a:rPr sz="1050" b="1">
                <a:solidFill>
                  <a:srgbClr val="ea580c"/>
                </a:solidFill>
                <a:latin typeface="함초롬돋움"/>
                <a:ea typeface="+mj-ea"/>
                <a:cs typeface="함초롬돋움"/>
              </a:rPr>
              <a:t>PRIORITY</a:t>
            </a:r>
            <a:r>
              <a:rPr sz="1050" b="1" spc="45">
                <a:solidFill>
                  <a:srgbClr val="ea580c"/>
                </a:solidFill>
                <a:latin typeface="함초롬돋움"/>
                <a:ea typeface="+mj-ea"/>
                <a:cs typeface="함초롬돋움"/>
              </a:rPr>
              <a:t> </a:t>
            </a:r>
            <a:r>
              <a:rPr sz="1050" b="1" spc="-10">
                <a:solidFill>
                  <a:srgbClr val="ea580c"/>
                </a:solidFill>
                <a:latin typeface="함초롬돋움"/>
                <a:ea typeface="+mj-ea"/>
                <a:cs typeface="함초롬돋움"/>
              </a:rPr>
              <a:t>RESULT</a:t>
            </a:r>
            <a:endParaRPr sz="1050">
              <a:latin typeface="함초롬돋움"/>
              <a:ea typeface="+mj-ea"/>
              <a:cs typeface="함초롬돋움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 idx="0"/>
          </p:nvPr>
        </p:nvSpPr>
        <p:spPr>
          <a:xfrm>
            <a:off x="596900" y="641858"/>
            <a:ext cx="4607560" cy="329692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 lvl="0">
              <a:lnSpc>
                <a:spcPct val="100000"/>
              </a:lnSpc>
              <a:spcBef>
                <a:spcPts val="100"/>
              </a:spcBef>
              <a:defRPr/>
            </a:pPr>
            <a:r>
              <a:rPr sz="2100" spc="-130"/>
              <a:t>아이디어</a:t>
            </a:r>
            <a:r>
              <a:rPr sz="2100" spc="-135"/>
              <a:t> </a:t>
            </a:r>
            <a:r>
              <a:rPr sz="2100" spc="-130"/>
              <a:t>우선순위 정량</a:t>
            </a:r>
            <a:r>
              <a:rPr sz="2100" spc="-135"/>
              <a:t> </a:t>
            </a:r>
            <a:r>
              <a:rPr sz="2100" spc="-130"/>
              <a:t>평가 </a:t>
            </a:r>
            <a:r>
              <a:rPr sz="2100" spc="-25"/>
              <a:t>결과</a:t>
            </a:r>
            <a:endParaRPr sz="2100"/>
          </a:p>
        </p:txBody>
      </p:sp>
      <p:sp>
        <p:nvSpPr>
          <p:cNvPr id="5" name="가로 글상자 4"/>
          <p:cNvSpPr txBox="1"/>
          <p:nvPr/>
        </p:nvSpPr>
        <p:spPr>
          <a:xfrm>
            <a:off x="533400" y="946785"/>
            <a:ext cx="6096000" cy="603885"/>
          </a:xfrm>
          <a:prstGeom prst="rect">
            <a:avLst/>
          </a:prstGeom>
        </p:spPr>
        <p:txBody>
          <a:bodyPr wrap="square">
            <a:spAutoFit/>
          </a:bodyPr>
          <a:p>
            <a:pPr marL="50800" marR="50800"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ko-KR" altLang="en-US" sz="1300" b="0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그룹관리</a:t>
            </a:r>
            <a:r>
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-</a:t>
            </a:r>
            <a:r>
              <a:rPr xmlns:mc="http://schemas.openxmlformats.org/markup-compatibility/2006" xmlns:hp="http://schemas.haansoft.com/office/presentation/8.0" sz="1300" b="0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우선순위 결과</a:t>
            </a:r>
            <a:endParaRPr xmlns:mc="http://schemas.openxmlformats.org/markup-compatibility/2006" xmlns:hp="http://schemas.haansoft.com/office/presentation/8.0" sz="1300" b="0" i="0" u="none" strike="noStrike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50800" marR="50800"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300">
              <a:latin typeface="함초롬돋움"/>
              <a:ea typeface="함초롬돋움"/>
              <a:cs typeface="함초롬돋움"/>
            </a:endParaRPr>
          </a:p>
        </p:txBody>
      </p:sp>
    </p:spTree>
    <p:extLst>
      <p:ext uri="{BB962C8B-B14F-4D97-AF65-F5344CB8AC3E}">
        <p14:creationId xmlns:p14="http://schemas.microsoft.com/office/powerpoint/2010/main" val="3804450479"/>
      </p:ext>
    </p:extLst>
  </p:cSld>
  <p:clrMapOvr>
    <a:masterClrMapping/>
  </p:clrMapOvr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2"/>
          <p:cNvSpPr/>
          <p:nvPr/>
        </p:nvSpPr>
        <p:spPr>
          <a:xfrm>
            <a:off x="990600" y="1428750"/>
            <a:ext cx="9848850" cy="1962150"/>
          </a:xfrm>
          <a:custGeom>
            <a:avLst/>
            <a:gdLst/>
            <a:rect l="l" t="t" r="r" b="b"/>
            <a:pathLst>
              <a:path w="5353050" h="1962150">
                <a:moveTo>
                  <a:pt x="5238754" y="1962149"/>
                </a:moveTo>
                <a:lnTo>
                  <a:pt x="114295" y="1962149"/>
                </a:lnTo>
                <a:lnTo>
                  <a:pt x="69806" y="1953168"/>
                </a:lnTo>
                <a:lnTo>
                  <a:pt x="33476" y="1928673"/>
                </a:lnTo>
                <a:lnTo>
                  <a:pt x="8981" y="1892343"/>
                </a:lnTo>
                <a:lnTo>
                  <a:pt x="0" y="1847854"/>
                </a:lnTo>
                <a:lnTo>
                  <a:pt x="0" y="114295"/>
                </a:lnTo>
                <a:lnTo>
                  <a:pt x="8981" y="69806"/>
                </a:lnTo>
                <a:lnTo>
                  <a:pt x="33476" y="33476"/>
                </a:lnTo>
                <a:lnTo>
                  <a:pt x="69806" y="8981"/>
                </a:lnTo>
                <a:lnTo>
                  <a:pt x="114295" y="0"/>
                </a:lnTo>
                <a:lnTo>
                  <a:pt x="5238754" y="0"/>
                </a:lnTo>
                <a:lnTo>
                  <a:pt x="5282493" y="8700"/>
                </a:lnTo>
                <a:lnTo>
                  <a:pt x="5319573" y="33476"/>
                </a:lnTo>
                <a:lnTo>
                  <a:pt x="5344349" y="70556"/>
                </a:lnTo>
                <a:lnTo>
                  <a:pt x="5353049" y="114295"/>
                </a:lnTo>
                <a:lnTo>
                  <a:pt x="5353049" y="1847854"/>
                </a:lnTo>
                <a:lnTo>
                  <a:pt x="5344068" y="1892343"/>
                </a:lnTo>
                <a:lnTo>
                  <a:pt x="5319573" y="1928673"/>
                </a:lnTo>
                <a:lnTo>
                  <a:pt x="5283243" y="1953168"/>
                </a:lnTo>
                <a:lnTo>
                  <a:pt x="5238754" y="1962149"/>
                </a:lnTo>
                <a:close/>
              </a:path>
            </a:pathLst>
          </a:custGeom>
          <a:solidFill>
            <a:srgbClr val="f7fafc"/>
          </a:solidFill>
        </p:spPr>
        <p:txBody>
          <a:bodyPr wrap="square" lIns="0" tIns="0" rIns="0" bIns="0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object 6" descr=""/>
          <p:cNvSpPr txBox="1"/>
          <p:nvPr/>
        </p:nvSpPr>
        <p:spPr>
          <a:xfrm>
            <a:off x="596900" y="439165"/>
            <a:ext cx="117919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 b="1">
                <a:solidFill>
                  <a:srgbClr val="EA580C"/>
                </a:solidFill>
                <a:latin typeface="함초롬돋움"/>
                <a:cs typeface="함초롬돋움"/>
              </a:rPr>
              <a:t>FINAL</a:t>
            </a:r>
            <a:r>
              <a:rPr dirty="0" sz="1050" spc="-65" b="1">
                <a:solidFill>
                  <a:srgbClr val="EA580C"/>
                </a:solidFill>
                <a:latin typeface="함초롬돋움"/>
                <a:cs typeface="함초롬돋움"/>
              </a:rPr>
              <a:t> </a:t>
            </a:r>
            <a:r>
              <a:rPr dirty="0" sz="1050" spc="-10" b="1">
                <a:solidFill>
                  <a:srgbClr val="EA580C"/>
                </a:solidFill>
                <a:latin typeface="함초롬돋움"/>
                <a:cs typeface="함초롬돋움"/>
              </a:rPr>
              <a:t>SELECTION</a:t>
            </a:r>
            <a:endParaRPr sz="1050">
              <a:latin typeface="함초롬돋움"/>
              <a:cs typeface="함초롬돋움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50" spc="-140"/>
              <a:t>아이디어</a:t>
            </a:r>
            <a:r>
              <a:rPr dirty="0" sz="2250" spc="-150"/>
              <a:t> </a:t>
            </a:r>
            <a:r>
              <a:rPr dirty="0" sz="2250" spc="-135"/>
              <a:t>최종</a:t>
            </a:r>
            <a:r>
              <a:rPr dirty="0" sz="2250" spc="-150"/>
              <a:t> </a:t>
            </a:r>
            <a:r>
              <a:rPr dirty="0" sz="2250" spc="-135"/>
              <a:t>선택</a:t>
            </a:r>
            <a:r>
              <a:rPr dirty="0" sz="2250" spc="-150"/>
              <a:t> </a:t>
            </a:r>
            <a:r>
              <a:rPr dirty="0" sz="2250" spc="-40"/>
              <a:t>(팀원</a:t>
            </a:r>
            <a:r>
              <a:rPr dirty="0" sz="2250" spc="-150"/>
              <a:t> </a:t>
            </a:r>
            <a:r>
              <a:rPr dirty="0" sz="2250" spc="-135"/>
              <a:t>투표</a:t>
            </a:r>
            <a:r>
              <a:rPr dirty="0" sz="2250" spc="-150"/>
              <a:t> </a:t>
            </a:r>
            <a:r>
              <a:rPr dirty="0" sz="2250" spc="-25"/>
              <a:t>결과)</a:t>
            </a:r>
            <a:endParaRPr sz="2250"/>
          </a:p>
        </p:txBody>
      </p:sp>
      <p:sp>
        <p:nvSpPr>
          <p:cNvPr id="8" name="가로 글상자 7"/>
          <p:cNvSpPr txBox="1"/>
          <p:nvPr/>
        </p:nvSpPr>
        <p:spPr>
          <a:xfrm>
            <a:off x="845820" y="1211580"/>
            <a:ext cx="236220" cy="36766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endParaRPr lang="ko-KR" altLang="en-US"/>
          </a:p>
        </p:txBody>
      </p:sp>
      <p:sp>
        <p:nvSpPr>
          <p:cNvPr id="12" name="가로 글상자 11"/>
          <p:cNvSpPr txBox="1"/>
          <p:nvPr/>
        </p:nvSpPr>
        <p:spPr>
          <a:xfrm>
            <a:off x="1312052" y="1828800"/>
            <a:ext cx="9736948" cy="1036320"/>
          </a:xfrm>
          <a:prstGeom prst="rect">
            <a:avLst/>
          </a:prstGeom>
        </p:spPr>
        <p:txBody>
          <a:bodyPr wrap="square">
            <a:spAutoFit/>
          </a:bodyPr>
          <a:p>
            <a:pPr marL="254000" lvl="2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sz="1300" b="1" i="0" u="none" strike="noStrike" baseline="0" mc:Ignorable="hp" hp:hslEmbossed="0">
                <a:solidFill>
                  <a:srgbClr val="000000"/>
                </a:solidFill>
                <a:latin typeface="바탕"/>
                <a:ea typeface="바탕"/>
                <a:cs typeface="바탕"/>
              </a:rPr>
              <a:t>투표 방식</a:t>
            </a:r>
            <a:endParaRPr xmlns:mc="http://schemas.openxmlformats.org/markup-compatibility/2006" xmlns:hp="http://schemas.haansoft.com/office/presentation/8.0" sz="1300" b="1" i="0" u="none" strike="noStrike" baseline="0" mc:Ignorable="hp" hp:hslEmbossed="0">
              <a:solidFill>
                <a:srgbClr val="000000"/>
              </a:solidFill>
              <a:latin typeface="바탕"/>
              <a:ea typeface="바탕"/>
              <a:cs typeface="바탕"/>
            </a:endParaRPr>
          </a:p>
          <a:p>
            <a:pPr marL="190500" lvl="2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en-US" altLang="ko-KR" sz="1300" b="0" i="0" u="none" strike="noStrike" baseline="0" mc:Ignorable="hp" hp:hslEmbossed="0">
                <a:solidFill>
                  <a:srgbClr val="000000"/>
                </a:solidFill>
                <a:latin typeface="바탕"/>
                <a:ea typeface="바탕"/>
                <a:cs typeface="바탕"/>
              </a:rPr>
              <a:t>-</a:t>
            </a:r>
            <a:r>
              <a:rPr xmlns:mc="http://schemas.openxmlformats.org/markup-compatibility/2006" xmlns:hp="http://schemas.haansoft.com/office/presentation/8.0" sz="1300" b="0" i="0" u="none" strike="noStrike" baseline="0" mc:Ignorable="hp" hp:hslEmbossed="0">
                <a:solidFill>
                  <a:srgbClr val="000000"/>
                </a:solidFill>
                <a:latin typeface="바탕"/>
                <a:ea typeface="바탕"/>
                <a:cs typeface="바탕"/>
              </a:rPr>
              <a:t>각 팀원에게 총 </a:t>
            </a:r>
            <a:r>
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<a:solidFill>
                  <a:srgbClr val="000000"/>
                </a:solidFill>
                <a:latin typeface="바탕"/>
                <a:ea typeface="바탕"/>
                <a:cs typeface="바탕"/>
              </a:rPr>
              <a:t>20</a:t>
            </a:r>
            <a:r>
              <a:rPr xmlns:mc="http://schemas.openxmlformats.org/markup-compatibility/2006" xmlns:hp="http://schemas.haansoft.com/office/presentation/8.0" sz="1300" b="0" i="0" u="none" strike="noStrike" baseline="0" mc:Ignorable="hp" hp:hslEmbossed="0">
                <a:solidFill>
                  <a:srgbClr val="000000"/>
                </a:solidFill>
                <a:latin typeface="바탕"/>
                <a:ea typeface="바탕"/>
                <a:cs typeface="바탕"/>
              </a:rPr>
              <a:t>표를 부여</a:t>
            </a:r>
            <a:r>
              <a:rPr xmlns:mc="http://schemas.openxmlformats.org/markup-compatibility/2006" xmlns:hp="http://schemas.haansoft.com/office/presentation/8.0" lang="ko-KR" altLang="en-US" sz="1300" b="0" i="0" u="none" strike="noStrike" baseline="0" mc:Ignorable="hp" hp:hslEmbossed="0">
                <a:solidFill>
                  <a:srgbClr val="000000"/>
                </a:solidFill>
                <a:latin typeface="바탕"/>
                <a:ea typeface="바탕"/>
                <a:cs typeface="바탕"/>
              </a:rPr>
              <a:t>하며</a:t>
            </a:r>
            <a:r>
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<a:solidFill>
                  <a:srgbClr val="000000"/>
                </a:solidFill>
                <a:latin typeface="바탕"/>
                <a:ea typeface="바탕"/>
                <a:cs typeface="바탕"/>
              </a:rPr>
              <a:t> </a:t>
            </a:r>
            <a:r>
              <a:rPr xmlns:mc="http://schemas.openxmlformats.org/markup-compatibility/2006" xmlns:hp="http://schemas.haansoft.com/office/presentation/8.0" sz="1300" b="0" i="0" u="none" strike="noStrike" baseline="0" mc:Ignorable="hp" hp:hslEmbossed="0">
                <a:solidFill>
                  <a:srgbClr val="000000"/>
                </a:solidFill>
                <a:latin typeface="바탕"/>
                <a:ea typeface="바탕"/>
                <a:cs typeface="바탕"/>
              </a:rPr>
              <a:t>팀원은 주어진 투표수를 사용하여 선호하는 아이디어를 선</a:t>
            </a:r>
            <a:r>
              <a:rPr xmlns:mc="http://schemas.openxmlformats.org/markup-compatibility/2006" xmlns:hp="http://schemas.haansoft.com/office/presentation/8.0" lang="ko-KR" altLang="en-US" sz="1300" b="0" i="0" u="none" strike="noStrike" baseline="0" mc:Ignorable="hp" hp:hslEmbossed="0">
                <a:solidFill>
                  <a:srgbClr val="000000"/>
                </a:solidFill>
                <a:latin typeface="바탕"/>
                <a:ea typeface="바탕"/>
                <a:cs typeface="바탕"/>
              </a:rPr>
              <a:t>택</a:t>
            </a:r>
            <a:endParaRPr xmlns:mc="http://schemas.openxmlformats.org/markup-compatibility/2006" xmlns:hp="http://schemas.haansoft.com/office/presentation/8.0" lang="ko-KR" altLang="en-US" sz="1300" b="0" i="0" u="none" strike="noStrike" baseline="0" mc:Ignorable="hp" hp:hslEmbossed="0">
              <a:solidFill>
                <a:srgbClr val="000000"/>
              </a:solidFill>
              <a:latin typeface="바탕"/>
              <a:ea typeface="바탕"/>
              <a:cs typeface="바탕"/>
            </a:endParaRPr>
          </a:p>
          <a:p>
            <a:pPr marL="190500" lvl="2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en-US" altLang="ko-KR" sz="1300" b="0" i="0" u="none" strike="noStrike" baseline="0" mc:Ignorable="hp" hp:hslEmbossed="0">
                <a:solidFill>
                  <a:srgbClr val="000000"/>
                </a:solidFill>
                <a:latin typeface="바탕"/>
                <a:ea typeface="바탕"/>
                <a:cs typeface="바탕"/>
              </a:rPr>
              <a:t>-</a:t>
            </a:r>
            <a:r>
              <a:rPr xmlns:mc="http://schemas.openxmlformats.org/markup-compatibility/2006" xmlns:hp="http://schemas.haansoft.com/office/presentation/8.0" sz="1300" b="0" i="0" u="none" strike="noStrike" baseline="0" mc:Ignorable="hp" hp:hslEmbossed="0">
                <a:solidFill>
                  <a:srgbClr val="000000"/>
                </a:solidFill>
                <a:latin typeface="바탕"/>
                <a:ea typeface="바탕"/>
                <a:cs typeface="바탕"/>
              </a:rPr>
              <a:t>투표수를 다수의 아이디어에 </a:t>
            </a:r>
            <a:r>
              <a:rPr xmlns:mc="http://schemas.openxmlformats.org/markup-compatibility/2006" xmlns:hp="http://schemas.haansoft.com/office/presentation/8.0" lang="ko-KR" altLang="en-US" sz="1300" b="0" i="0" u="none" strike="noStrike" baseline="0" mc:Ignorable="hp" hp:hslEmbossed="0">
                <a:solidFill>
                  <a:srgbClr val="000000"/>
                </a:solidFill>
                <a:latin typeface="바탕"/>
                <a:ea typeface="바탕"/>
                <a:cs typeface="바탕"/>
              </a:rPr>
              <a:t>최대 </a:t>
            </a:r>
            <a:r>
              <a:rPr xmlns:mc="http://schemas.openxmlformats.org/markup-compatibility/2006" xmlns:hp="http://schemas.haansoft.com/office/presentation/8.0" lang="en-US" altLang="ko-KR" sz="1300" b="0" i="0" u="none" strike="noStrike" baseline="0" mc:Ignorable="hp" hp:hslEmbossed="0">
                <a:solidFill>
                  <a:srgbClr val="000000"/>
                </a:solidFill>
                <a:latin typeface="바탕"/>
                <a:ea typeface="바탕"/>
                <a:cs typeface="바탕"/>
              </a:rPr>
              <a:t>2</a:t>
            </a:r>
            <a:r>
              <a:rPr xmlns:mc="http://schemas.openxmlformats.org/markup-compatibility/2006" xmlns:hp="http://schemas.haansoft.com/office/presentation/8.0" lang="ko-KR" altLang="en-US" sz="1300" b="0" i="0" u="none" strike="noStrike" baseline="0" mc:Ignorable="hp" hp:hslEmbossed="0">
                <a:solidFill>
                  <a:srgbClr val="000000"/>
                </a:solidFill>
                <a:latin typeface="바탕"/>
                <a:ea typeface="바탕"/>
                <a:cs typeface="바탕"/>
              </a:rPr>
              <a:t>표까지 </a:t>
            </a:r>
            <a:r>
              <a:rPr xmlns:mc="http://schemas.openxmlformats.org/markup-compatibility/2006" xmlns:hp="http://schemas.haansoft.com/office/presentation/8.0" sz="1300" b="0" i="0" u="none" strike="noStrike" baseline="0" mc:Ignorable="hp" hp:hslEmbossed="0">
                <a:solidFill>
                  <a:srgbClr val="000000"/>
                </a:solidFill>
                <a:latin typeface="바탕"/>
                <a:ea typeface="바탕"/>
                <a:cs typeface="바탕"/>
              </a:rPr>
              <a:t>분배</a:t>
            </a:r>
            <a:r>
              <a:rPr xmlns:mc="http://schemas.openxmlformats.org/markup-compatibility/2006" xmlns:hp="http://schemas.haansoft.com/office/presentation/8.0" lang="ko-KR" altLang="en-US" sz="1300" b="0" i="0" u="none" strike="noStrike" baseline="0" mc:Ignorable="hp" hp:hslEmbossed="0">
                <a:solidFill>
                  <a:srgbClr val="000000"/>
                </a:solidFill>
                <a:latin typeface="바탕"/>
                <a:ea typeface="바탕"/>
                <a:cs typeface="바탕"/>
              </a:rPr>
              <a:t>할 수 있음</a:t>
            </a:r>
            <a:r>
              <a:rPr xmlns:mc="http://schemas.openxmlformats.org/markup-compatibility/2006" xmlns:hp="http://schemas.haansoft.com/office/presentation/8.0" lang="en-US" altLang="ko-KR" sz="1300" b="0" i="0" u="none" strike="noStrike" baseline="0" mc:Ignorable="hp" hp:hslEmbossed="0">
                <a:solidFill>
                  <a:srgbClr val="000000"/>
                </a:solidFill>
                <a:latin typeface="바탕"/>
                <a:ea typeface="바탕"/>
                <a:cs typeface="바탕"/>
              </a:rPr>
              <a:t>.</a:t>
            </a:r>
            <a:endParaRPr xmlns:mc="http://schemas.openxmlformats.org/markup-compatibility/2006" xmlns:hp="http://schemas.haansoft.com/office/presentation/8.0" lang="en-US" altLang="ko-KR" sz="1300" b="0" i="0" u="none" strike="noStrike" baseline="0" mc:Ignorable="hp" hp:hslEmbossed="0">
              <a:solidFill>
                <a:srgbClr val="000000"/>
              </a:solidFill>
              <a:latin typeface="바탕"/>
              <a:ea typeface="바탕"/>
              <a:cs typeface="바탕"/>
            </a:endParaRPr>
          </a:p>
        </p:txBody>
      </p:sp>
      <p:sp>
        <p:nvSpPr>
          <p:cNvPr id="13" name="object 2"/>
          <p:cNvSpPr/>
          <p:nvPr/>
        </p:nvSpPr>
        <p:spPr>
          <a:xfrm>
            <a:off x="926323" y="3829050"/>
            <a:ext cx="9848850" cy="1962150"/>
          </a:xfrm>
          <a:custGeom>
            <a:avLst/>
            <a:gdLst/>
            <a:rect l="l" t="t" r="r" b="b"/>
            <a:pathLst>
              <a:path w="5353050" h="1962150">
                <a:moveTo>
                  <a:pt x="5238754" y="1962149"/>
                </a:moveTo>
                <a:lnTo>
                  <a:pt x="114295" y="1962149"/>
                </a:lnTo>
                <a:lnTo>
                  <a:pt x="69806" y="1953168"/>
                </a:lnTo>
                <a:lnTo>
                  <a:pt x="33476" y="1928673"/>
                </a:lnTo>
                <a:lnTo>
                  <a:pt x="8981" y="1892343"/>
                </a:lnTo>
                <a:lnTo>
                  <a:pt x="0" y="1847854"/>
                </a:lnTo>
                <a:lnTo>
                  <a:pt x="0" y="114295"/>
                </a:lnTo>
                <a:lnTo>
                  <a:pt x="8981" y="69806"/>
                </a:lnTo>
                <a:lnTo>
                  <a:pt x="33476" y="33476"/>
                </a:lnTo>
                <a:lnTo>
                  <a:pt x="69806" y="8981"/>
                </a:lnTo>
                <a:lnTo>
                  <a:pt x="114295" y="0"/>
                </a:lnTo>
                <a:lnTo>
                  <a:pt x="5238754" y="0"/>
                </a:lnTo>
                <a:lnTo>
                  <a:pt x="5282493" y="8700"/>
                </a:lnTo>
                <a:lnTo>
                  <a:pt x="5319573" y="33476"/>
                </a:lnTo>
                <a:lnTo>
                  <a:pt x="5344349" y="70556"/>
                </a:lnTo>
                <a:lnTo>
                  <a:pt x="5353049" y="114295"/>
                </a:lnTo>
                <a:lnTo>
                  <a:pt x="5353049" y="1847854"/>
                </a:lnTo>
                <a:lnTo>
                  <a:pt x="5344068" y="1892343"/>
                </a:lnTo>
                <a:lnTo>
                  <a:pt x="5319573" y="1928673"/>
                </a:lnTo>
                <a:lnTo>
                  <a:pt x="5283243" y="1953168"/>
                </a:lnTo>
                <a:lnTo>
                  <a:pt x="5238754" y="1962149"/>
                </a:lnTo>
                <a:close/>
              </a:path>
            </a:pathLst>
          </a:custGeom>
          <a:solidFill>
            <a:srgbClr val="f7fafc"/>
          </a:solidFill>
        </p:spPr>
        <p:txBody>
          <a:bodyPr wrap="square" lIns="0" tIns="0" rIns="0" bIns="0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가로 글상자 8"/>
          <p:cNvSpPr txBox="1"/>
          <p:nvPr/>
        </p:nvSpPr>
        <p:spPr>
          <a:xfrm>
            <a:off x="1295400" y="4267200"/>
            <a:ext cx="9736948" cy="1036320"/>
          </a:xfrm>
          <a:prstGeom prst="rect">
            <a:avLst/>
          </a:prstGeom>
        </p:spPr>
        <p:txBody>
          <a:bodyPr wrap="square">
            <a:spAutoFit/>
          </a:bodyPr>
          <a:p>
            <a:pPr marL="254000" lvl="2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sz="1300" b="1" i="0" u="none" strike="noStrike" baseline="0" mc:Ignorable="hp" hp:hslEmbossed="0">
                <a:solidFill>
                  <a:srgbClr val="000000"/>
                </a:solidFill>
                <a:latin typeface="바탕"/>
                <a:ea typeface="바탕"/>
                <a:cs typeface="바탕"/>
              </a:rPr>
              <a:t>투표 결과</a:t>
            </a:r>
            <a:endParaRPr xmlns:mc="http://schemas.openxmlformats.org/markup-compatibility/2006" xmlns:hp="http://schemas.haansoft.com/office/presentation/8.0" sz="1300" b="1" i="0" u="none" strike="noStrike" baseline="0" mc:Ignorable="hp" hp:hslEmbossed="0">
              <a:solidFill>
                <a:srgbClr val="000000"/>
              </a:solidFill>
              <a:latin typeface="바탕"/>
              <a:ea typeface="바탕"/>
              <a:cs typeface="바탕"/>
            </a:endParaRPr>
          </a:p>
          <a:p>
            <a:pPr marL="190500" lvl="3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en-US" altLang="ko-KR" sz="1300" b="0" i="0" u="none" strike="noStrike" baseline="0" mc:Ignorable="hp" hp:hslEmbossed="0">
                <a:solidFill>
                  <a:srgbClr val="000000"/>
                </a:solidFill>
                <a:latin typeface="바탕"/>
                <a:ea typeface="바탕"/>
                <a:cs typeface="바탕"/>
              </a:rPr>
              <a:t>-</a:t>
            </a:r>
            <a:r>
              <a:rPr xmlns:mc="http://schemas.openxmlformats.org/markup-compatibility/2006" xmlns:hp="http://schemas.haansoft.com/office/presentation/8.0" sz="1300" b="0" i="0" u="none" strike="noStrike" baseline="0" mc:Ignorable="hp" hp:hslEmbossed="0">
                <a:solidFill>
                  <a:srgbClr val="000000"/>
                </a:solidFill>
                <a:latin typeface="바탕"/>
                <a:ea typeface="바탕"/>
                <a:cs typeface="바탕"/>
              </a:rPr>
              <a:t>각 아이디어는 팀원들의 투표를 통해 선정</a:t>
            </a:r>
            <a:endParaRPr xmlns:mc="http://schemas.openxmlformats.org/markup-compatibility/2006" xmlns:hp="http://schemas.haansoft.com/office/presentation/8.0" sz="1300" b="0" i="0" u="none" strike="noStrike" baseline="0" mc:Ignorable="hp" hp:hslEmbossed="0">
              <a:solidFill>
                <a:srgbClr val="000000"/>
              </a:solidFill>
              <a:latin typeface="바탕"/>
              <a:ea typeface="바탕"/>
              <a:cs typeface="바탕"/>
            </a:endParaRPr>
          </a:p>
          <a:p>
            <a:pPr marL="190500" lvl="3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en-US" altLang="ko-KR" sz="1300" b="0" i="0" u="none" strike="noStrike" baseline="0" mc:Ignorable="hp" hp:hslEmbossed="0">
                <a:solidFill>
                  <a:srgbClr val="000000"/>
                </a:solidFill>
                <a:latin typeface="바탕"/>
                <a:ea typeface="바탕"/>
                <a:cs typeface="바탕"/>
              </a:rPr>
              <a:t>-</a:t>
            </a:r>
            <a:r>
              <a:rPr xmlns:mc="http://schemas.openxmlformats.org/markup-compatibility/2006" xmlns:hp="http://schemas.haansoft.com/office/presentation/8.0" sz="1300" b="0" i="0" u="none" strike="noStrike" baseline="0" mc:Ignorable="hp" hp:hslEmbossed="0">
                <a:solidFill>
                  <a:srgbClr val="000000"/>
                </a:solidFill>
                <a:latin typeface="바탕"/>
                <a:ea typeface="바탕"/>
                <a:cs typeface="바탕"/>
              </a:rPr>
              <a:t>아이디어 다듬기를 통해 측정한 아이디어 우선순위 또한 고려할 수 있도록 투표 결과에 명시하였다</a:t>
            </a:r>
            <a:r>
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<a:solidFill>
                  <a:srgbClr val="000000"/>
                </a:solidFill>
                <a:latin typeface="바탕"/>
                <a:ea typeface="바탕"/>
              </a:rPr>
              <a:t>. </a:t>
            </a:r>
            <a:endParaRPr lang="ko-KR" altLang="en-US" sz="1300"/>
          </a:p>
        </p:txBody>
      </p:sp>
      <p:sp>
        <p:nvSpPr>
          <p:cNvPr id="14" name="타원 13"/>
          <p:cNvSpPr/>
          <p:nvPr/>
        </p:nvSpPr>
        <p:spPr>
          <a:xfrm>
            <a:off x="1143000" y="1905000"/>
            <a:ext cx="304800" cy="304800"/>
          </a:xfrm>
          <a:prstGeom prst="ellipse">
            <a:avLst/>
          </a:prstGeom>
          <a:solidFill>
            <a:srgbClr val="42c7f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en-US" altLang="ko-KR"/>
              <a:t>1</a:t>
            </a:r>
            <a:endParaRPr lang="en-US" altLang="ko-KR"/>
          </a:p>
        </p:txBody>
      </p:sp>
      <p:sp>
        <p:nvSpPr>
          <p:cNvPr id="15" name="타원 14"/>
          <p:cNvSpPr/>
          <p:nvPr/>
        </p:nvSpPr>
        <p:spPr>
          <a:xfrm>
            <a:off x="1143000" y="4343400"/>
            <a:ext cx="304800" cy="304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en-US" altLang="ko-KR"/>
              <a:t>2</a:t>
            </a:r>
            <a:endParaRPr lang="en-US" altLang="ko-KR"/>
          </a:p>
        </p:txBody>
      </p:sp>
    </p:spTree>
  </p:cSld>
  <p:clrMapOvr>
    <a:masterClrMapping/>
  </p:clrMapOvr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96900" y="439165"/>
            <a:ext cx="1172210" cy="170435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 lvl="0">
              <a:lnSpc>
                <a:spcPct val="100000"/>
              </a:lnSpc>
              <a:spcBef>
                <a:spcPts val="100"/>
              </a:spcBef>
              <a:defRPr/>
            </a:pPr>
            <a:r>
              <a:rPr sz="1050" b="1" spc="-10">
                <a:solidFill>
                  <a:srgbClr val="ea580c"/>
                </a:solidFill>
                <a:latin typeface="함초롬돋움"/>
                <a:ea typeface="+mj-ea"/>
                <a:cs typeface="함초롬돋움"/>
              </a:rPr>
              <a:t>FINAL</a:t>
            </a:r>
            <a:r>
              <a:rPr sz="1050" b="1" spc="-65">
                <a:solidFill>
                  <a:srgbClr val="ea580c"/>
                </a:solidFill>
                <a:latin typeface="함초롬돋움"/>
                <a:ea typeface="+mj-ea"/>
                <a:cs typeface="함초롬돋움"/>
              </a:rPr>
              <a:t> </a:t>
            </a:r>
            <a:r>
              <a:rPr sz="1050" b="1" spc="-10">
                <a:solidFill>
                  <a:srgbClr val="ea580c"/>
                </a:solidFill>
                <a:latin typeface="함초롬돋움"/>
                <a:ea typeface="+mj-ea"/>
                <a:cs typeface="함초롬돋움"/>
              </a:rPr>
              <a:t>SELECTION</a:t>
            </a:r>
            <a:endParaRPr sz="1050">
              <a:latin typeface="함초롬돋움"/>
              <a:ea typeface="+mj-ea"/>
              <a:cs typeface="함초롬돋움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 idx="0"/>
          </p:nvPr>
        </p:nvSpPr>
        <p:spPr>
          <a:xfrm>
            <a:off x="596900" y="641858"/>
            <a:ext cx="4607560" cy="329692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 lvl="0">
              <a:lnSpc>
                <a:spcPct val="100000"/>
              </a:lnSpc>
              <a:spcBef>
                <a:spcPts val="100"/>
              </a:spcBef>
              <a:defRPr/>
            </a:pPr>
            <a:r>
              <a:rPr sz="2100" spc="-140"/>
              <a:t>아이디어</a:t>
            </a:r>
            <a:r>
              <a:rPr sz="2100" spc="-150"/>
              <a:t> </a:t>
            </a:r>
            <a:r>
              <a:rPr sz="2100" spc="-135"/>
              <a:t>최종</a:t>
            </a:r>
            <a:r>
              <a:rPr sz="2100" spc="-150"/>
              <a:t> </a:t>
            </a:r>
            <a:r>
              <a:rPr sz="2100" spc="-135"/>
              <a:t>선택</a:t>
            </a:r>
            <a:r>
              <a:rPr sz="2100" spc="-150"/>
              <a:t> </a:t>
            </a:r>
            <a:r>
              <a:rPr sz="2100" spc="-40"/>
              <a:t>(팀원</a:t>
            </a:r>
            <a:r>
              <a:rPr sz="2100" spc="-150"/>
              <a:t> </a:t>
            </a:r>
            <a:r>
              <a:rPr sz="2100" spc="-135"/>
              <a:t>투표</a:t>
            </a:r>
            <a:r>
              <a:rPr sz="2100" spc="-150"/>
              <a:t> </a:t>
            </a:r>
            <a:r>
              <a:rPr sz="2100" spc="-25"/>
              <a:t>결과)</a:t>
            </a:r>
            <a:endParaRPr sz="2100"/>
          </a:p>
        </p:txBody>
      </p:sp>
      <p:sp>
        <p:nvSpPr>
          <p:cNvPr id="5" name="가로 글상자 4"/>
          <p:cNvSpPr txBox="1"/>
          <p:nvPr/>
        </p:nvSpPr>
        <p:spPr>
          <a:xfrm>
            <a:off x="533400" y="946785"/>
            <a:ext cx="6096000" cy="603885"/>
          </a:xfrm>
          <a:prstGeom prst="rect">
            <a:avLst/>
          </a:prstGeom>
        </p:spPr>
        <p:txBody>
          <a:bodyPr wrap="square">
            <a:spAutoFit/>
          </a:bodyPr>
          <a:p>
            <a:pPr marL="50800" marR="50800"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ko-KR" altLang="en-US" sz="1300" b="0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사용자 계정 및 프로필 팀원 투표결과 </a:t>
            </a:r>
            <a:r>
              <a:rPr xmlns:mc="http://schemas.openxmlformats.org/markup-compatibility/2006" xmlns:hp="http://schemas.haansoft.com/office/presentation/8.0" lang="en-US" altLang="ko-KR" sz="1300" b="0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+</a:t>
            </a:r>
            <a:r>
              <a:rPr xmlns:mc="http://schemas.openxmlformats.org/markup-compatibility/2006" xmlns:hp="http://schemas.haansoft.com/office/presentation/8.0" lang="ko-KR" altLang="en-US" sz="1300" b="0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우선순위 </a:t>
            </a:r>
            <a:r>
              <a:rPr xmlns:mc="http://schemas.openxmlformats.org/markup-compatibility/2006" xmlns:hp="http://schemas.haansoft.com/office/presentation/8.0" lang="en-US" altLang="ko-KR" sz="1300" b="0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-&gt;</a:t>
            </a:r>
            <a:r>
              <a:rPr xmlns:mc="http://schemas.openxmlformats.org/markup-compatibility/2006" xmlns:hp="http://schemas.haansoft.com/office/presentation/8.0" lang="ko-KR" altLang="en-US" sz="1300" b="0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 최종선택</a:t>
            </a:r>
            <a:endParaRPr xmlns:mc="http://schemas.openxmlformats.org/markup-compatibility/2006" xmlns:hp="http://schemas.haansoft.com/office/presentation/8.0" lang="ko-KR" altLang="en-US" sz="1300" b="0" i="0" u="none" strike="noStrike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50800" marR="50800"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300">
              <a:latin typeface="함초롬돋움"/>
              <a:ea typeface="함초롬돋움"/>
              <a:cs typeface="함초롬돋움"/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685799" y="2432527"/>
          <a:ext cx="10820401" cy="2693548"/>
        </p:xfrm>
        <a:graphic>
          <a:graphicData uri="http://schemas.openxmlformats.org/drawingml/2006/table">
            <a:tbl>
              <a:tblPr firstRow="1" bandRow="1">
                <a:tableStyleId>{E5CB3F8B-0EC7-48AE-BC60-692C14E0C4D4}</a:tableStyleId>
              </a:tblPr>
              <a:tblGrid>
                <a:gridCol w="1183480"/>
                <a:gridCol w="1221053"/>
                <a:gridCol w="1202266"/>
                <a:gridCol w="1202266"/>
                <a:gridCol w="1202266"/>
                <a:gridCol w="1202266"/>
                <a:gridCol w="1202266"/>
                <a:gridCol w="1202266"/>
                <a:gridCol w="1202266"/>
              </a:tblGrid>
              <a:tr h="345836">
                <a:tc rowSpan="2"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000" i="0" u="none" strike="noStrike" baseline="0" mc:Ignorable="hp" hp:hslEmbossed="0">
                          <a:solidFill>
                            <a:schemeClr val="lt1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아이디어명</a:t>
                      </a:r>
                      <a:endParaRPr xmlns:mc="http://schemas.openxmlformats.org/markup-compatibility/2006" xmlns:hp="http://schemas.haansoft.com/office/presentation/8.0" sz="1000" i="0" u="none" strike="noStrike" baseline="0" mc:Ignorable="hp" hp:hslEmbossed="0">
                        <a:solidFill>
                          <a:schemeClr val="lt1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gridSpan="5"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000" i="0" u="none" strike="noStrike" baseline="0" mc:Ignorable="hp" hp:hslEmbossed="0">
                          <a:solidFill>
                            <a:schemeClr val="lt1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투표</a:t>
                      </a:r>
                      <a:endParaRPr xmlns:mc="http://schemas.openxmlformats.org/markup-compatibility/2006" xmlns:hp="http://schemas.haansoft.com/office/presentation/8.0" sz="1000" i="0" u="none" strike="noStrike" baseline="0" mc:Ignorable="hp" hp:hslEmbossed="0">
                        <a:solidFill>
                          <a:schemeClr val="lt1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rowSpan="2"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000" i="0" u="none" strike="noStrike" baseline="0" mc:Ignorable="hp" hp:hslEmbossed="0">
                          <a:solidFill>
                            <a:schemeClr val="lt1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투표 결과</a:t>
                      </a:r>
                      <a:endParaRPr xmlns:mc="http://schemas.openxmlformats.org/markup-compatibility/2006" xmlns:hp="http://schemas.haansoft.com/office/presentation/8.0" sz="1000" i="0" u="none" strike="noStrike" baseline="0" mc:Ignorable="hp" hp:hslEmbossed="0">
                        <a:solidFill>
                          <a:schemeClr val="lt1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rowSpan="2"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000" i="0" u="none" strike="noStrike" baseline="0" mc:Ignorable="hp" hp:hslEmbossed="0">
                          <a:solidFill>
                            <a:schemeClr val="lt1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우선순위</a:t>
                      </a:r>
                      <a:endParaRPr xmlns:mc="http://schemas.openxmlformats.org/markup-compatibility/2006" xmlns:hp="http://schemas.haansoft.com/office/presentation/8.0" sz="1000" i="0" u="none" strike="noStrike" baseline="0" mc:Ignorable="hp" hp:hslEmbossed="0">
                        <a:solidFill>
                          <a:schemeClr val="lt1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rowSpan="2"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000" i="0" u="none" strike="noStrike" baseline="0" mc:Ignorable="hp" hp:hslEmbossed="0">
                          <a:solidFill>
                            <a:schemeClr val="lt1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최종선택</a:t>
                      </a:r>
                      <a:endParaRPr xmlns:mc="http://schemas.openxmlformats.org/markup-compatibility/2006" xmlns:hp="http://schemas.haansoft.com/office/presentation/8.0" sz="1000" i="0" u="none" strike="noStrike" baseline="0" mc:Ignorable="hp" hp:hslEmbossed="0">
                        <a:solidFill>
                          <a:schemeClr val="lt1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400207"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000" b="1" i="0" u="none" strike="noStrike" baseline="0" mc:Ignorable="hp" hp:hslEmbossed="0">
                          <a:solidFill>
                            <a:schemeClr val="dk1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한규진</a:t>
                      </a:r>
                      <a:endParaRPr xmlns:mc="http://schemas.openxmlformats.org/markup-compatibility/2006" xmlns:hp="http://schemas.haansoft.com/office/presentation/8.0" sz="1000" b="1" i="0" u="none" strike="noStrike" baseline="0" mc:Ignorable="hp" hp:hslEmbossed="0">
                        <a:solidFill>
                          <a:schemeClr val="dk1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000" b="1" i="0" u="none" strike="noStrike" baseline="0" mc:Ignorable="hp" hp:hslEmbossed="0">
                          <a:solidFill>
                            <a:schemeClr val="dk1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송하성</a:t>
                      </a:r>
                      <a:endParaRPr xmlns:mc="http://schemas.openxmlformats.org/markup-compatibility/2006" xmlns:hp="http://schemas.haansoft.com/office/presentation/8.0" sz="1000" b="1" i="0" u="none" strike="noStrike" baseline="0" mc:Ignorable="hp" hp:hslEmbossed="0">
                        <a:solidFill>
                          <a:schemeClr val="dk1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000" b="1" i="0" u="none" strike="noStrike" baseline="0" mc:Ignorable="hp" hp:hslEmbossed="0">
                          <a:solidFill>
                            <a:schemeClr val="dk1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전기헌</a:t>
                      </a:r>
                      <a:endParaRPr xmlns:mc="http://schemas.openxmlformats.org/markup-compatibility/2006" xmlns:hp="http://schemas.haansoft.com/office/presentation/8.0" sz="1000" b="1" i="0" u="none" strike="noStrike" baseline="0" mc:Ignorable="hp" hp:hslEmbossed="0">
                        <a:solidFill>
                          <a:schemeClr val="dk1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000" b="1" i="0" u="none" strike="noStrike" baseline="0" mc:Ignorable="hp" hp:hslEmbossed="0">
                          <a:solidFill>
                            <a:schemeClr val="dk1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이다인</a:t>
                      </a:r>
                      <a:endParaRPr xmlns:mc="http://schemas.openxmlformats.org/markup-compatibility/2006" xmlns:hp="http://schemas.haansoft.com/office/presentation/8.0" sz="1000" b="1" i="0" u="none" strike="noStrike" baseline="0" mc:Ignorable="hp" hp:hslEmbossed="0">
                        <a:solidFill>
                          <a:schemeClr val="dk1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000" b="1" i="0" u="none" strike="noStrike" baseline="0" mc:Ignorable="hp" hp:hslEmbossed="0">
                          <a:solidFill>
                            <a:schemeClr val="dk1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현고은</a:t>
                      </a:r>
                      <a:endParaRPr xmlns:mc="http://schemas.openxmlformats.org/markup-compatibility/2006" xmlns:hp="http://schemas.haansoft.com/office/presentation/8.0" sz="1000" b="1" i="0" u="none" strike="noStrike" baseline="0" mc:Ignorable="hp" hp:hslEmbossed="0">
                        <a:solidFill>
                          <a:schemeClr val="dk1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649168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0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소셜로그인</a:t>
                      </a:r>
                      <a:endParaRPr xmlns:mc="http://schemas.openxmlformats.org/markup-compatibility/2006" xmlns:hp="http://schemas.haansoft.com/office/presentation/8.0" sz="10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1</a:t>
                      </a:r>
                      <a:endParaRPr xmlns:mc="http://schemas.openxmlformats.org/markup-compatibility/2006" xmlns:hp="http://schemas.haansoft.com/office/presentation/8.0" lang="EN-US" sz="10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1</a:t>
                      </a:r>
                      <a:endParaRPr xmlns:mc="http://schemas.openxmlformats.org/markup-compatibility/2006" xmlns:hp="http://schemas.haansoft.com/office/presentation/8.0" lang="EN-US" sz="10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2</a:t>
                      </a:r>
                      <a:endParaRPr xmlns:mc="http://schemas.openxmlformats.org/markup-compatibility/2006" xmlns:hp="http://schemas.haansoft.com/office/presentation/8.0" lang="EN-US" sz="10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2</a:t>
                      </a:r>
                      <a:endParaRPr xmlns:mc="http://schemas.openxmlformats.org/markup-compatibility/2006" xmlns:hp="http://schemas.haansoft.com/office/presentation/8.0" lang="EN-US" sz="10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1</a:t>
                      </a:r>
                      <a:endParaRPr xmlns:mc="http://schemas.openxmlformats.org/markup-compatibility/2006" xmlns:hp="http://schemas.haansoft.com/office/presentation/8.0" lang="EN-US" sz="10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7</a:t>
                      </a:r>
                      <a:endParaRPr xmlns:mc="http://schemas.openxmlformats.org/markup-compatibility/2006" xmlns:hp="http://schemas.haansoft.com/office/presentation/8.0" lang="EN-US" sz="10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2</a:t>
                      </a:r>
                      <a:endParaRPr xmlns:mc="http://schemas.openxmlformats.org/markup-compatibility/2006" xmlns:hp="http://schemas.haansoft.com/office/presentation/8.0" lang="EN-US" sz="10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o</a:t>
                      </a:r>
                      <a:endParaRPr xmlns:mc="http://schemas.openxmlformats.org/markup-compatibility/2006" xmlns:hp="http://schemas.haansoft.com/office/presentation/8.0" lang="EN-US" sz="10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649168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0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로그아웃</a:t>
                      </a:r>
                      <a:endParaRPr xmlns:mc="http://schemas.openxmlformats.org/markup-compatibility/2006" xmlns:hp="http://schemas.haansoft.com/office/presentation/8.0" sz="10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1</a:t>
                      </a:r>
                      <a:endParaRPr xmlns:mc="http://schemas.openxmlformats.org/markup-compatibility/2006" xmlns:hp="http://schemas.haansoft.com/office/presentation/8.0" lang="EN-US" sz="10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1</a:t>
                      </a:r>
                      <a:endParaRPr xmlns:mc="http://schemas.openxmlformats.org/markup-compatibility/2006" xmlns:hp="http://schemas.haansoft.com/office/presentation/8.0" lang="EN-US" sz="10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1</a:t>
                      </a:r>
                      <a:endParaRPr xmlns:mc="http://schemas.openxmlformats.org/markup-compatibility/2006" xmlns:hp="http://schemas.haansoft.com/office/presentation/8.0" lang="EN-US" sz="10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1</a:t>
                      </a:r>
                      <a:endParaRPr xmlns:mc="http://schemas.openxmlformats.org/markup-compatibility/2006" xmlns:hp="http://schemas.haansoft.com/office/presentation/8.0" lang="EN-US" sz="10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1</a:t>
                      </a:r>
                      <a:endParaRPr xmlns:mc="http://schemas.openxmlformats.org/markup-compatibility/2006" xmlns:hp="http://schemas.haansoft.com/office/presentation/8.0" lang="EN-US" sz="10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5</a:t>
                      </a:r>
                      <a:endParaRPr xmlns:mc="http://schemas.openxmlformats.org/markup-compatibility/2006" xmlns:hp="http://schemas.haansoft.com/office/presentation/8.0" lang="EN-US" sz="10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3</a:t>
                      </a:r>
                      <a:endParaRPr xmlns:mc="http://schemas.openxmlformats.org/markup-compatibility/2006" xmlns:hp="http://schemas.haansoft.com/office/presentation/8.0" lang="EN-US" sz="10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o</a:t>
                      </a:r>
                      <a:endParaRPr xmlns:mc="http://schemas.openxmlformats.org/markup-compatibility/2006" xmlns:hp="http://schemas.haansoft.com/office/presentation/8.0" lang="EN-US" sz="10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649168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0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프로필</a:t>
                      </a:r>
                      <a:endParaRPr xmlns:mc="http://schemas.openxmlformats.org/markup-compatibility/2006" xmlns:hp="http://schemas.haansoft.com/office/presentation/8.0" sz="10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2</a:t>
                      </a:r>
                      <a:endParaRPr xmlns:mc="http://schemas.openxmlformats.org/markup-compatibility/2006" xmlns:hp="http://schemas.haansoft.com/office/presentation/8.0" lang="EN-US" sz="10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2</a:t>
                      </a:r>
                      <a:endParaRPr xmlns:mc="http://schemas.openxmlformats.org/markup-compatibility/2006" xmlns:hp="http://schemas.haansoft.com/office/presentation/8.0" lang="EN-US" sz="10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2</a:t>
                      </a:r>
                      <a:endParaRPr xmlns:mc="http://schemas.openxmlformats.org/markup-compatibility/2006" xmlns:hp="http://schemas.haansoft.com/office/presentation/8.0" lang="EN-US" sz="10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2</a:t>
                      </a:r>
                      <a:endParaRPr xmlns:mc="http://schemas.openxmlformats.org/markup-compatibility/2006" xmlns:hp="http://schemas.haansoft.com/office/presentation/8.0" lang="EN-US" sz="10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2</a:t>
                      </a:r>
                      <a:endParaRPr xmlns:mc="http://schemas.openxmlformats.org/markup-compatibility/2006" xmlns:hp="http://schemas.haansoft.com/office/presentation/8.0" lang="EN-US" sz="10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10</a:t>
                      </a:r>
                      <a:endParaRPr xmlns:mc="http://schemas.openxmlformats.org/markup-compatibility/2006" xmlns:hp="http://schemas.haansoft.com/office/presentation/8.0" lang="EN-US" sz="10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1</a:t>
                      </a:r>
                      <a:endParaRPr xmlns:mc="http://schemas.openxmlformats.org/markup-compatibility/2006" xmlns:hp="http://schemas.haansoft.com/office/presentation/8.0" lang="EN-US" sz="10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1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o</a:t>
                      </a:r>
                      <a:endParaRPr xmlns:mc="http://schemas.openxmlformats.org/markup-compatibility/2006" xmlns:hp="http://schemas.haansoft.com/office/presentation/8.0" lang="EN-US" sz="1000" b="1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6300491"/>
      </p:ext>
    </p:extLst>
  </p:cSld>
  <p:clrMapOvr>
    <a:masterClrMapping/>
  </p:clrMapOvr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96900" y="439165"/>
            <a:ext cx="1172210" cy="170435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 lvl="0">
              <a:lnSpc>
                <a:spcPct val="100000"/>
              </a:lnSpc>
              <a:spcBef>
                <a:spcPts val="100"/>
              </a:spcBef>
              <a:defRPr/>
            </a:pPr>
            <a:r>
              <a:rPr sz="1050" b="1" spc="-10">
                <a:solidFill>
                  <a:srgbClr val="ea580c"/>
                </a:solidFill>
                <a:latin typeface="함초롬돋움"/>
                <a:ea typeface="+mj-ea"/>
                <a:cs typeface="함초롬돋움"/>
              </a:rPr>
              <a:t>FINAL</a:t>
            </a:r>
            <a:r>
              <a:rPr sz="1050" b="1" spc="-65">
                <a:solidFill>
                  <a:srgbClr val="ea580c"/>
                </a:solidFill>
                <a:latin typeface="함초롬돋움"/>
                <a:ea typeface="+mj-ea"/>
                <a:cs typeface="함초롬돋움"/>
              </a:rPr>
              <a:t> </a:t>
            </a:r>
            <a:r>
              <a:rPr sz="1050" b="1" spc="-10">
                <a:solidFill>
                  <a:srgbClr val="ea580c"/>
                </a:solidFill>
                <a:latin typeface="함초롬돋움"/>
                <a:ea typeface="+mj-ea"/>
                <a:cs typeface="함초롬돋움"/>
              </a:rPr>
              <a:t>SELECTION</a:t>
            </a:r>
            <a:endParaRPr sz="1050">
              <a:latin typeface="함초롬돋움"/>
              <a:ea typeface="+mj-ea"/>
              <a:cs typeface="함초롬돋움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 idx="0"/>
          </p:nvPr>
        </p:nvSpPr>
        <p:spPr>
          <a:xfrm>
            <a:off x="596900" y="641858"/>
            <a:ext cx="4607560" cy="329692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 lvl="0">
              <a:lnSpc>
                <a:spcPct val="100000"/>
              </a:lnSpc>
              <a:spcBef>
                <a:spcPts val="100"/>
              </a:spcBef>
              <a:defRPr/>
            </a:pPr>
            <a:r>
              <a:rPr sz="2100" spc="-140"/>
              <a:t>아이디어</a:t>
            </a:r>
            <a:r>
              <a:rPr sz="2100" spc="-150"/>
              <a:t> </a:t>
            </a:r>
            <a:r>
              <a:rPr sz="2100" spc="-135"/>
              <a:t>최종</a:t>
            </a:r>
            <a:r>
              <a:rPr sz="2100" spc="-150"/>
              <a:t> </a:t>
            </a:r>
            <a:r>
              <a:rPr sz="2100" spc="-135"/>
              <a:t>선택</a:t>
            </a:r>
            <a:r>
              <a:rPr sz="2100" spc="-150"/>
              <a:t> </a:t>
            </a:r>
            <a:r>
              <a:rPr sz="2100" spc="-40"/>
              <a:t>(팀원</a:t>
            </a:r>
            <a:r>
              <a:rPr sz="2100" spc="-150"/>
              <a:t> </a:t>
            </a:r>
            <a:r>
              <a:rPr sz="2100" spc="-135"/>
              <a:t>투표</a:t>
            </a:r>
            <a:r>
              <a:rPr sz="2100" spc="-150"/>
              <a:t> </a:t>
            </a:r>
            <a:r>
              <a:rPr sz="2100" spc="-25"/>
              <a:t>결과)</a:t>
            </a:r>
            <a:endParaRPr sz="2100"/>
          </a:p>
        </p:txBody>
      </p:sp>
      <p:sp>
        <p:nvSpPr>
          <p:cNvPr id="5" name="가로 글상자 4"/>
          <p:cNvSpPr txBox="1"/>
          <p:nvPr/>
        </p:nvSpPr>
        <p:spPr>
          <a:xfrm>
            <a:off x="533400" y="946785"/>
            <a:ext cx="6096000" cy="603885"/>
          </a:xfrm>
          <a:prstGeom prst="rect">
            <a:avLst/>
          </a:prstGeom>
        </p:spPr>
        <p:txBody>
          <a:bodyPr wrap="square">
            <a:spAutoFit/>
          </a:bodyPr>
          <a:p>
            <a:pPr marL="50800" marR="50800"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ko-KR" altLang="en-US" sz="1300" b="0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핵심 일정 매치</a:t>
            </a:r>
            <a:r>
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-</a:t>
            </a:r>
            <a:r>
              <a:rPr xmlns:mc="http://schemas.openxmlformats.org/markup-compatibility/2006" xmlns:hp="http://schemas.haansoft.com/office/presentation/8.0" lang="ko-KR" altLang="en-US" sz="1300" b="0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팀원 투표결과 </a:t>
            </a:r>
            <a:r>
              <a:rPr xmlns:mc="http://schemas.openxmlformats.org/markup-compatibility/2006" xmlns:hp="http://schemas.haansoft.com/office/presentation/8.0" lang="en-US" altLang="ko-KR" sz="1300" b="0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+</a:t>
            </a:r>
            <a:r>
              <a:rPr xmlns:mc="http://schemas.openxmlformats.org/markup-compatibility/2006" xmlns:hp="http://schemas.haansoft.com/office/presentation/8.0" lang="ko-KR" altLang="en-US" sz="1300" b="0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우선순위 </a:t>
            </a:r>
            <a:r>
              <a:rPr xmlns:mc="http://schemas.openxmlformats.org/markup-compatibility/2006" xmlns:hp="http://schemas.haansoft.com/office/presentation/8.0" lang="en-US" altLang="ko-KR" sz="1300" b="0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-&gt;</a:t>
            </a:r>
            <a:r>
              <a:rPr xmlns:mc="http://schemas.openxmlformats.org/markup-compatibility/2006" xmlns:hp="http://schemas.haansoft.com/office/presentation/8.0" lang="ko-KR" altLang="en-US" sz="1300" b="0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 최종선택</a:t>
            </a:r>
            <a:endParaRPr xmlns:mc="http://schemas.openxmlformats.org/markup-compatibility/2006" xmlns:hp="http://schemas.haansoft.com/office/presentation/8.0" lang="ko-KR" altLang="en-US" sz="1300" b="0" i="0" u="none" strike="noStrike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50800" marR="50800"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300">
              <a:latin typeface="함초롬돋움"/>
              <a:ea typeface="함초롬돋움"/>
              <a:cs typeface="함초롬돋움"/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685799" y="2432527"/>
          <a:ext cx="10828656" cy="3563538"/>
        </p:xfrm>
        <a:graphic>
          <a:graphicData uri="http://schemas.openxmlformats.org/drawingml/2006/table">
            <a:tbl>
              <a:tblPr firstRow="1" bandRow="1">
                <a:tableStyleId>{E5CB3F8B-0EC7-48AE-BC60-692C14E0C4D4}</a:tableStyleId>
              </a:tblPr>
              <a:tblGrid>
                <a:gridCol w="1183005"/>
                <a:gridCol w="1221105"/>
                <a:gridCol w="1211580"/>
                <a:gridCol w="1202055"/>
                <a:gridCol w="1202055"/>
                <a:gridCol w="1202055"/>
                <a:gridCol w="1202266"/>
                <a:gridCol w="1202266"/>
                <a:gridCol w="1202266"/>
              </a:tblGrid>
              <a:tr h="345836">
                <a:tc rowSpan="2"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300" b="0" i="0" u="none" strike="noStrike" baseline="0" mc:Ignorable="hp" hp:hslEmbossed="0">
                          <a:solidFill>
                            <a:schemeClr val="lt1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아이디어명</a:t>
                      </a:r>
                      <a:endParaRPr xmlns:mc="http://schemas.openxmlformats.org/markup-compatibility/2006" xmlns:hp="http://schemas.haansoft.com/office/presentation/8.0" sz="1300" b="0" i="0" u="none" strike="noStrike" baseline="0" mc:Ignorable="hp" hp:hslEmbossed="0">
                        <a:solidFill>
                          <a:schemeClr val="lt1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gridSpan="5"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300" b="0" i="0" u="none" strike="noStrike" baseline="0" mc:Ignorable="hp" hp:hslEmbossed="0">
                          <a:solidFill>
                            <a:schemeClr val="lt1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투표</a:t>
                      </a:r>
                      <a:endParaRPr xmlns:mc="http://schemas.openxmlformats.org/markup-compatibility/2006" xmlns:hp="http://schemas.haansoft.com/office/presentation/8.0" sz="1300" b="0" i="0" u="none" strike="noStrike" baseline="0" mc:Ignorable="hp" hp:hslEmbossed="0">
                        <a:solidFill>
                          <a:schemeClr val="lt1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rowSpan="2"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300" b="0" i="0" u="none" strike="noStrike" baseline="0" mc:Ignorable="hp" hp:hslEmbossed="0">
                          <a:solidFill>
                            <a:schemeClr val="lt1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투표 결과</a:t>
                      </a:r>
                      <a:endParaRPr xmlns:mc="http://schemas.openxmlformats.org/markup-compatibility/2006" xmlns:hp="http://schemas.haansoft.com/office/presentation/8.0" sz="1300" b="0" i="0" u="none" strike="noStrike" baseline="0" mc:Ignorable="hp" hp:hslEmbossed="0">
                        <a:solidFill>
                          <a:schemeClr val="lt1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rowSpan="2"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300" b="0" i="0" u="none" strike="noStrike" baseline="0" mc:Ignorable="hp" hp:hslEmbossed="0">
                          <a:solidFill>
                            <a:schemeClr val="lt1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우선순위</a:t>
                      </a:r>
                      <a:endParaRPr xmlns:mc="http://schemas.openxmlformats.org/markup-compatibility/2006" xmlns:hp="http://schemas.haansoft.com/office/presentation/8.0" sz="1300" b="0" i="0" u="none" strike="noStrike" baseline="0" mc:Ignorable="hp" hp:hslEmbossed="0">
                        <a:solidFill>
                          <a:schemeClr val="lt1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rowSpan="2"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300" b="0" i="0" u="none" strike="noStrike" baseline="0" mc:Ignorable="hp" hp:hslEmbossed="0">
                          <a:solidFill>
                            <a:schemeClr val="lt1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최종선택</a:t>
                      </a:r>
                      <a:endParaRPr xmlns:mc="http://schemas.openxmlformats.org/markup-compatibility/2006" xmlns:hp="http://schemas.haansoft.com/office/presentation/8.0" sz="1300" b="0" i="0" u="none" strike="noStrike" baseline="0" mc:Ignorable="hp" hp:hslEmbossed="0">
                        <a:solidFill>
                          <a:schemeClr val="lt1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400207"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300" b="0" i="0" u="none" strike="noStrike" baseline="0" mc:Ignorable="hp" hp:hslEmbossed="0">
                          <a:solidFill>
                            <a:schemeClr val="dk1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한규진</a:t>
                      </a:r>
                      <a:endParaRPr xmlns:mc="http://schemas.openxmlformats.org/markup-compatibility/2006" xmlns:hp="http://schemas.haansoft.com/office/presentation/8.0" sz="1300" b="0" i="0" u="none" strike="noStrike" baseline="0" mc:Ignorable="hp" hp:hslEmbossed="0">
                        <a:solidFill>
                          <a:schemeClr val="dk1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300" b="0" i="0" u="none" strike="noStrike" baseline="0" mc:Ignorable="hp" hp:hslEmbossed="0">
                          <a:solidFill>
                            <a:schemeClr val="dk1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송하성</a:t>
                      </a:r>
                      <a:endParaRPr xmlns:mc="http://schemas.openxmlformats.org/markup-compatibility/2006" xmlns:hp="http://schemas.haansoft.com/office/presentation/8.0" sz="1300" b="0" i="0" u="none" strike="noStrike" baseline="0" mc:Ignorable="hp" hp:hslEmbossed="0">
                        <a:solidFill>
                          <a:schemeClr val="dk1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300" b="0" i="0" u="none" strike="noStrike" baseline="0" mc:Ignorable="hp" hp:hslEmbossed="0">
                          <a:solidFill>
                            <a:schemeClr val="dk1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전기헌</a:t>
                      </a:r>
                      <a:endParaRPr xmlns:mc="http://schemas.openxmlformats.org/markup-compatibility/2006" xmlns:hp="http://schemas.haansoft.com/office/presentation/8.0" sz="1300" b="0" i="0" u="none" strike="noStrike" baseline="0" mc:Ignorable="hp" hp:hslEmbossed="0">
                        <a:solidFill>
                          <a:schemeClr val="dk1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300" b="0" i="0" u="none" strike="noStrike" baseline="0" mc:Ignorable="hp" hp:hslEmbossed="0">
                          <a:solidFill>
                            <a:schemeClr val="dk1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이다인</a:t>
                      </a:r>
                      <a:endParaRPr xmlns:mc="http://schemas.openxmlformats.org/markup-compatibility/2006" xmlns:hp="http://schemas.haansoft.com/office/presentation/8.0" sz="1300" b="0" i="0" u="none" strike="noStrike" baseline="0" mc:Ignorable="hp" hp:hslEmbossed="0">
                        <a:solidFill>
                          <a:schemeClr val="dk1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300" b="0" i="0" u="none" strike="noStrike" baseline="0" mc:Ignorable="hp" hp:hslEmbossed="0">
                          <a:solidFill>
                            <a:schemeClr val="dk1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현고은</a:t>
                      </a:r>
                      <a:endParaRPr xmlns:mc="http://schemas.openxmlformats.org/markup-compatibility/2006" xmlns:hp="http://schemas.haansoft.com/office/presentation/8.0" sz="1300" b="0" i="0" u="none" strike="noStrike" baseline="0" mc:Ignorable="hp" hp:hslEmbossed="0">
                        <a:solidFill>
                          <a:schemeClr val="dk1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649168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시간표 입력</a:t>
                      </a:r>
                      <a:endParaRPr xmlns:mc="http://schemas.openxmlformats.org/markup-compatibility/2006" xmlns:hp="http://schemas.haansoft.com/office/presentation/8.0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2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2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2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2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2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10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1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o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649168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시간표 </a:t>
                      </a:r>
                      <a:endParaRPr xmlns:mc="http://schemas.openxmlformats.org/markup-compatibility/2006" xmlns:hp="http://schemas.haansoft.com/office/presentation/8.0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자동매치</a:t>
                      </a:r>
                      <a:endParaRPr xmlns:mc="http://schemas.openxmlformats.org/markup-compatibility/2006" xmlns:hp="http://schemas.haansoft.com/office/presentation/8.0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2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1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2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1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2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8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3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o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649168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참석률</a:t>
                      </a:r>
                      <a:endParaRPr xmlns:mc="http://schemas.openxmlformats.org/markup-compatibility/2006" xmlns:hp="http://schemas.haansoft.com/office/presentation/8.0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시각화</a:t>
                      </a:r>
                      <a:endParaRPr xmlns:mc="http://schemas.openxmlformats.org/markup-compatibility/2006" xmlns:hp="http://schemas.haansoft.com/office/presentation/8.0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1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1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1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2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2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7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4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o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649168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차선책 안내</a:t>
                      </a:r>
                      <a:endParaRPr xmlns:mc="http://schemas.openxmlformats.org/markup-compatibility/2006" xmlns:hp="http://schemas.haansoft.com/office/presentation/8.0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1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2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1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1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1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6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2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o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7445585"/>
      </p:ext>
    </p:extLst>
  </p:cSld>
  <p:clrMapOvr>
    <a:masterClrMapping/>
  </p:clrMapOvr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96900" y="439165"/>
            <a:ext cx="1172210" cy="170435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 lvl="0">
              <a:lnSpc>
                <a:spcPct val="100000"/>
              </a:lnSpc>
              <a:spcBef>
                <a:spcPts val="100"/>
              </a:spcBef>
              <a:defRPr/>
            </a:pPr>
            <a:r>
              <a:rPr sz="1050" b="1" spc="-10">
                <a:solidFill>
                  <a:srgbClr val="ea580c"/>
                </a:solidFill>
                <a:latin typeface="함초롬돋움"/>
                <a:ea typeface="+mj-ea"/>
                <a:cs typeface="함초롬돋움"/>
              </a:rPr>
              <a:t>FINAL</a:t>
            </a:r>
            <a:r>
              <a:rPr sz="1050" b="1" spc="-65">
                <a:solidFill>
                  <a:srgbClr val="ea580c"/>
                </a:solidFill>
                <a:latin typeface="함초롬돋움"/>
                <a:ea typeface="+mj-ea"/>
                <a:cs typeface="함초롬돋움"/>
              </a:rPr>
              <a:t> </a:t>
            </a:r>
            <a:r>
              <a:rPr sz="1050" b="1" spc="-10">
                <a:solidFill>
                  <a:srgbClr val="ea580c"/>
                </a:solidFill>
                <a:latin typeface="함초롬돋움"/>
                <a:ea typeface="+mj-ea"/>
                <a:cs typeface="함초롬돋움"/>
              </a:rPr>
              <a:t>SELECTION</a:t>
            </a:r>
            <a:endParaRPr sz="1050">
              <a:latin typeface="함초롬돋움"/>
              <a:ea typeface="+mj-ea"/>
              <a:cs typeface="함초롬돋움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 idx="0"/>
          </p:nvPr>
        </p:nvSpPr>
        <p:spPr>
          <a:xfrm>
            <a:off x="596900" y="641858"/>
            <a:ext cx="4607560" cy="329692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 lvl="0">
              <a:lnSpc>
                <a:spcPct val="100000"/>
              </a:lnSpc>
              <a:spcBef>
                <a:spcPts val="100"/>
              </a:spcBef>
              <a:defRPr/>
            </a:pPr>
            <a:r>
              <a:rPr sz="2100" spc="-140"/>
              <a:t>아이디어</a:t>
            </a:r>
            <a:r>
              <a:rPr sz="2100" spc="-150"/>
              <a:t> </a:t>
            </a:r>
            <a:r>
              <a:rPr sz="2100" spc="-135"/>
              <a:t>최종</a:t>
            </a:r>
            <a:r>
              <a:rPr sz="2100" spc="-150"/>
              <a:t> </a:t>
            </a:r>
            <a:r>
              <a:rPr sz="2100" spc="-135"/>
              <a:t>선택</a:t>
            </a:r>
            <a:r>
              <a:rPr sz="2100" spc="-150"/>
              <a:t> </a:t>
            </a:r>
            <a:r>
              <a:rPr sz="2100" spc="-40"/>
              <a:t>(팀원</a:t>
            </a:r>
            <a:r>
              <a:rPr sz="2100" spc="-150"/>
              <a:t> </a:t>
            </a:r>
            <a:r>
              <a:rPr sz="2100" spc="-135"/>
              <a:t>투표</a:t>
            </a:r>
            <a:r>
              <a:rPr sz="2100" spc="-150"/>
              <a:t> </a:t>
            </a:r>
            <a:r>
              <a:rPr sz="2100" spc="-25"/>
              <a:t>결과)</a:t>
            </a:r>
            <a:endParaRPr sz="2100"/>
          </a:p>
        </p:txBody>
      </p:sp>
      <p:sp>
        <p:nvSpPr>
          <p:cNvPr id="5" name="가로 글상자 4"/>
          <p:cNvSpPr txBox="1"/>
          <p:nvPr/>
        </p:nvSpPr>
        <p:spPr>
          <a:xfrm>
            <a:off x="533400" y="946785"/>
            <a:ext cx="6096000" cy="603885"/>
          </a:xfrm>
          <a:prstGeom prst="rect">
            <a:avLst/>
          </a:prstGeom>
        </p:spPr>
        <p:txBody>
          <a:bodyPr wrap="square">
            <a:spAutoFit/>
          </a:bodyPr>
          <a:p>
            <a:pPr marL="50800" marR="50800"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ko-KR" altLang="en-US" sz="1300" b="0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그룹 소통 및 의사결정</a:t>
            </a:r>
            <a:r>
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-</a:t>
            </a:r>
            <a:r>
              <a:rPr xmlns:mc="http://schemas.openxmlformats.org/markup-compatibility/2006" xmlns:hp="http://schemas.haansoft.com/office/presentation/8.0" lang="ko-KR" altLang="en-US" sz="1300" b="0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팀원 투표결과 </a:t>
            </a:r>
            <a:r>
              <a:rPr xmlns:mc="http://schemas.openxmlformats.org/markup-compatibility/2006" xmlns:hp="http://schemas.haansoft.com/office/presentation/8.0" lang="en-US" altLang="ko-KR" sz="1300" b="0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+</a:t>
            </a:r>
            <a:r>
              <a:rPr xmlns:mc="http://schemas.openxmlformats.org/markup-compatibility/2006" xmlns:hp="http://schemas.haansoft.com/office/presentation/8.0" lang="ko-KR" altLang="en-US" sz="1300" b="0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우선순위 </a:t>
            </a:r>
            <a:r>
              <a:rPr xmlns:mc="http://schemas.openxmlformats.org/markup-compatibility/2006" xmlns:hp="http://schemas.haansoft.com/office/presentation/8.0" lang="en-US" altLang="ko-KR" sz="1300" b="0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-&gt;</a:t>
            </a:r>
            <a:r>
              <a:rPr xmlns:mc="http://schemas.openxmlformats.org/markup-compatibility/2006" xmlns:hp="http://schemas.haansoft.com/office/presentation/8.0" lang="ko-KR" altLang="en-US" sz="1300" b="0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 최종선택</a:t>
            </a:r>
            <a:endParaRPr xmlns:mc="http://schemas.openxmlformats.org/markup-compatibility/2006" xmlns:hp="http://schemas.haansoft.com/office/presentation/8.0" lang="ko-KR" altLang="en-US" sz="1300" b="0" i="0" u="none" strike="noStrike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50800" marR="50800"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300">
              <a:latin typeface="함초롬돋움"/>
              <a:ea typeface="함초롬돋움"/>
              <a:cs typeface="함초롬돋움"/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685799" y="2432527"/>
          <a:ext cx="10819131" cy="2872023"/>
        </p:xfrm>
        <a:graphic>
          <a:graphicData uri="http://schemas.openxmlformats.org/drawingml/2006/table">
            <a:tbl>
              <a:tblPr firstRow="1" bandRow="1">
                <a:tableStyleId>{E5CB3F8B-0EC7-48AE-BC60-692C14E0C4D4}</a:tableStyleId>
              </a:tblPr>
              <a:tblGrid>
                <a:gridCol w="1183005"/>
                <a:gridCol w="1221105"/>
                <a:gridCol w="1202055"/>
                <a:gridCol w="1202055"/>
                <a:gridCol w="1202055"/>
                <a:gridCol w="1202055"/>
                <a:gridCol w="1202266"/>
                <a:gridCol w="1202266"/>
                <a:gridCol w="1202266"/>
              </a:tblGrid>
              <a:tr h="345836">
                <a:tc rowSpan="2"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300" b="0" i="0" u="none" strike="noStrike" baseline="0" mc:Ignorable="hp" hp:hslEmbossed="0">
                          <a:solidFill>
                            <a:schemeClr val="lt1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아이디어명</a:t>
                      </a:r>
                      <a:endParaRPr xmlns:mc="http://schemas.openxmlformats.org/markup-compatibility/2006" xmlns:hp="http://schemas.haansoft.com/office/presentation/8.0" sz="1300" b="0" i="0" u="none" strike="noStrike" baseline="0" mc:Ignorable="hp" hp:hslEmbossed="0">
                        <a:solidFill>
                          <a:schemeClr val="lt1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gridSpan="5"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300" b="0" i="0" u="none" strike="noStrike" baseline="0" mc:Ignorable="hp" hp:hslEmbossed="0">
                          <a:solidFill>
                            <a:schemeClr val="lt1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투표</a:t>
                      </a:r>
                      <a:endParaRPr xmlns:mc="http://schemas.openxmlformats.org/markup-compatibility/2006" xmlns:hp="http://schemas.haansoft.com/office/presentation/8.0" sz="1300" b="0" i="0" u="none" strike="noStrike" baseline="0" mc:Ignorable="hp" hp:hslEmbossed="0">
                        <a:solidFill>
                          <a:schemeClr val="lt1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rowSpan="2"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300" b="0" i="0" u="none" strike="noStrike" baseline="0" mc:Ignorable="hp" hp:hslEmbossed="0">
                          <a:solidFill>
                            <a:schemeClr val="lt1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투표 결과</a:t>
                      </a:r>
                      <a:endParaRPr xmlns:mc="http://schemas.openxmlformats.org/markup-compatibility/2006" xmlns:hp="http://schemas.haansoft.com/office/presentation/8.0" sz="1300" b="0" i="0" u="none" strike="noStrike" baseline="0" mc:Ignorable="hp" hp:hslEmbossed="0">
                        <a:solidFill>
                          <a:schemeClr val="lt1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rowSpan="2"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300" b="0" i="0" u="none" strike="noStrike" baseline="0" mc:Ignorable="hp" hp:hslEmbossed="0">
                          <a:solidFill>
                            <a:schemeClr val="lt1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우선순위</a:t>
                      </a:r>
                      <a:endParaRPr xmlns:mc="http://schemas.openxmlformats.org/markup-compatibility/2006" xmlns:hp="http://schemas.haansoft.com/office/presentation/8.0" sz="1300" b="0" i="0" u="none" strike="noStrike" baseline="0" mc:Ignorable="hp" hp:hslEmbossed="0">
                        <a:solidFill>
                          <a:schemeClr val="lt1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rowSpan="2"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300" b="0" i="0" u="none" strike="noStrike" baseline="0" mc:Ignorable="hp" hp:hslEmbossed="0">
                          <a:solidFill>
                            <a:schemeClr val="lt1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최종선택</a:t>
                      </a:r>
                      <a:endParaRPr xmlns:mc="http://schemas.openxmlformats.org/markup-compatibility/2006" xmlns:hp="http://schemas.haansoft.com/office/presentation/8.0" sz="1300" b="0" i="0" u="none" strike="noStrike" baseline="0" mc:Ignorable="hp" hp:hslEmbossed="0">
                        <a:solidFill>
                          <a:schemeClr val="lt1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438307"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300" b="0" i="0" u="none" strike="noStrike" baseline="0" mc:Ignorable="hp" hp:hslEmbossed="0">
                          <a:solidFill>
                            <a:schemeClr val="dk1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한규진</a:t>
                      </a:r>
                      <a:endParaRPr xmlns:mc="http://schemas.openxmlformats.org/markup-compatibility/2006" xmlns:hp="http://schemas.haansoft.com/office/presentation/8.0" sz="1300" b="0" i="0" u="none" strike="noStrike" baseline="0" mc:Ignorable="hp" hp:hslEmbossed="0">
                        <a:solidFill>
                          <a:schemeClr val="dk1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300" b="0" i="0" u="none" strike="noStrike" baseline="0" mc:Ignorable="hp" hp:hslEmbossed="0">
                          <a:solidFill>
                            <a:schemeClr val="dk1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송하성</a:t>
                      </a:r>
                      <a:endParaRPr xmlns:mc="http://schemas.openxmlformats.org/markup-compatibility/2006" xmlns:hp="http://schemas.haansoft.com/office/presentation/8.0" sz="1300" b="0" i="0" u="none" strike="noStrike" baseline="0" mc:Ignorable="hp" hp:hslEmbossed="0">
                        <a:solidFill>
                          <a:schemeClr val="dk1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300" b="0" i="0" u="none" strike="noStrike" baseline="0" mc:Ignorable="hp" hp:hslEmbossed="0">
                          <a:solidFill>
                            <a:schemeClr val="dk1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전기헌</a:t>
                      </a:r>
                      <a:endParaRPr xmlns:mc="http://schemas.openxmlformats.org/markup-compatibility/2006" xmlns:hp="http://schemas.haansoft.com/office/presentation/8.0" sz="1300" b="0" i="0" u="none" strike="noStrike" baseline="0" mc:Ignorable="hp" hp:hslEmbossed="0">
                        <a:solidFill>
                          <a:schemeClr val="dk1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300" b="0" i="0" u="none" strike="noStrike" baseline="0" mc:Ignorable="hp" hp:hslEmbossed="0">
                          <a:solidFill>
                            <a:schemeClr val="dk1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이다인</a:t>
                      </a:r>
                      <a:endParaRPr xmlns:mc="http://schemas.openxmlformats.org/markup-compatibility/2006" xmlns:hp="http://schemas.haansoft.com/office/presentation/8.0" sz="1300" b="0" i="0" u="none" strike="noStrike" baseline="0" mc:Ignorable="hp" hp:hslEmbossed="0">
                        <a:solidFill>
                          <a:schemeClr val="dk1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300" b="0" i="0" u="none" strike="noStrike" baseline="0" mc:Ignorable="hp" hp:hslEmbossed="0">
                          <a:solidFill>
                            <a:schemeClr val="dk1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현고은</a:t>
                      </a:r>
                      <a:endParaRPr xmlns:mc="http://schemas.openxmlformats.org/markup-compatibility/2006" xmlns:hp="http://schemas.haansoft.com/office/presentation/8.0" sz="1300" b="0" i="0" u="none" strike="noStrike" baseline="0" mc:Ignorable="hp" hp:hslEmbossed="0">
                        <a:solidFill>
                          <a:schemeClr val="dk1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649168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선호시간 투표</a:t>
                      </a:r>
                      <a:endParaRPr xmlns:mc="http://schemas.openxmlformats.org/markup-compatibility/2006" xmlns:hp="http://schemas.haansoft.com/office/presentation/8.0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en-US" altLang="ko-KR" sz="1300">
                          <a:solidFill>
                            <a:schemeClr val="dk1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-</a:t>
                      </a:r>
                      <a:endParaRPr lang="en-US" altLang="ko-KR" sz="1300">
                        <a:solidFill>
                          <a:schemeClr val="dk1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chemeClr val="dk1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1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chemeClr val="dk1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chemeClr val="dk1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1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chemeClr val="dk1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chemeClr val="dk1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1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chemeClr val="dk1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chemeClr val="dk1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1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chemeClr val="dk1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4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1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o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649168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메모</a:t>
                      </a:r>
                      <a:endParaRPr xmlns:mc="http://schemas.openxmlformats.org/markup-compatibility/2006" xmlns:hp="http://schemas.haansoft.com/office/presentation/8.0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1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1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en-US" altLang="ko-KR" sz="1300">
                          <a:latin typeface="함초롬돋움"/>
                          <a:ea typeface="함초롬돋움"/>
                          <a:cs typeface="함초롬돋움"/>
                        </a:rPr>
                        <a:t>-</a:t>
                      </a:r>
                      <a:endParaRPr lang="en-US" altLang="ko-KR" sz="13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1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en-US" altLang="ko-KR" sz="1300">
                          <a:latin typeface="함초롬돋움"/>
                          <a:ea typeface="함초롬돋움"/>
                          <a:cs typeface="함초롬돋움"/>
                        </a:rPr>
                        <a:t>-</a:t>
                      </a:r>
                      <a:endParaRPr lang="en-US" altLang="ko-KR" sz="13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3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2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o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649168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알림</a:t>
                      </a:r>
                      <a:endParaRPr xmlns:mc="http://schemas.openxmlformats.org/markup-compatibility/2006" xmlns:hp="http://schemas.haansoft.com/office/presentation/8.0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1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1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en-US" altLang="ko-KR" sz="1300">
                          <a:latin typeface="함초롬돋움"/>
                          <a:ea typeface="함초롬돋움"/>
                          <a:cs typeface="함초롬돋움"/>
                        </a:rPr>
                        <a:t>-</a:t>
                      </a:r>
                      <a:endParaRPr lang="en-US" altLang="ko-KR" sz="13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en-US" altLang="ko-KR" sz="1300">
                          <a:latin typeface="함초롬돋움"/>
                          <a:ea typeface="함초롬돋움"/>
                          <a:cs typeface="함초롬돋움"/>
                        </a:rPr>
                        <a:t>-</a:t>
                      </a:r>
                      <a:endParaRPr lang="en-US" altLang="ko-KR" sz="13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1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3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3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o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1273145"/>
      </p:ext>
    </p:extLst>
  </p:cSld>
  <p:clrMapOvr>
    <a:masterClrMapping/>
  </p:clrMapOvr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96900" y="439165"/>
            <a:ext cx="1172210" cy="170435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 lvl="0">
              <a:lnSpc>
                <a:spcPct val="100000"/>
              </a:lnSpc>
              <a:spcBef>
                <a:spcPts val="100"/>
              </a:spcBef>
              <a:defRPr/>
            </a:pPr>
            <a:r>
              <a:rPr sz="1050" b="1" spc="-10">
                <a:solidFill>
                  <a:srgbClr val="ea580c"/>
                </a:solidFill>
                <a:latin typeface="함초롬돋움"/>
                <a:ea typeface="+mj-ea"/>
                <a:cs typeface="함초롬돋움"/>
              </a:rPr>
              <a:t>FINAL</a:t>
            </a:r>
            <a:r>
              <a:rPr sz="1050" b="1" spc="-65">
                <a:solidFill>
                  <a:srgbClr val="ea580c"/>
                </a:solidFill>
                <a:latin typeface="함초롬돋움"/>
                <a:ea typeface="+mj-ea"/>
                <a:cs typeface="함초롬돋움"/>
              </a:rPr>
              <a:t> </a:t>
            </a:r>
            <a:r>
              <a:rPr sz="1050" b="1" spc="-10">
                <a:solidFill>
                  <a:srgbClr val="ea580c"/>
                </a:solidFill>
                <a:latin typeface="함초롬돋움"/>
                <a:ea typeface="+mj-ea"/>
                <a:cs typeface="함초롬돋움"/>
              </a:rPr>
              <a:t>SELECTION</a:t>
            </a:r>
            <a:endParaRPr sz="1050">
              <a:latin typeface="함초롬돋움"/>
              <a:ea typeface="+mj-ea"/>
              <a:cs typeface="함초롬돋움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 idx="0"/>
          </p:nvPr>
        </p:nvSpPr>
        <p:spPr>
          <a:xfrm>
            <a:off x="596900" y="641858"/>
            <a:ext cx="4607560" cy="329692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 lvl="0">
              <a:lnSpc>
                <a:spcPct val="100000"/>
              </a:lnSpc>
              <a:spcBef>
                <a:spcPts val="100"/>
              </a:spcBef>
              <a:defRPr/>
            </a:pPr>
            <a:r>
              <a:rPr sz="2100" spc="-140"/>
              <a:t>아이디어</a:t>
            </a:r>
            <a:r>
              <a:rPr sz="2100" spc="-150"/>
              <a:t> </a:t>
            </a:r>
            <a:r>
              <a:rPr sz="2100" spc="-135"/>
              <a:t>최종</a:t>
            </a:r>
            <a:r>
              <a:rPr sz="2100" spc="-150"/>
              <a:t> </a:t>
            </a:r>
            <a:r>
              <a:rPr sz="2100" spc="-135"/>
              <a:t>선택</a:t>
            </a:r>
            <a:r>
              <a:rPr sz="2100" spc="-150"/>
              <a:t> </a:t>
            </a:r>
            <a:r>
              <a:rPr sz="2100" spc="-40"/>
              <a:t>(팀원</a:t>
            </a:r>
            <a:r>
              <a:rPr sz="2100" spc="-150"/>
              <a:t> </a:t>
            </a:r>
            <a:r>
              <a:rPr sz="2100" spc="-135"/>
              <a:t>투표</a:t>
            </a:r>
            <a:r>
              <a:rPr sz="2100" spc="-150"/>
              <a:t> </a:t>
            </a:r>
            <a:r>
              <a:rPr sz="2100" spc="-25"/>
              <a:t>결과)</a:t>
            </a:r>
            <a:endParaRPr sz="2100"/>
          </a:p>
        </p:txBody>
      </p:sp>
      <p:sp>
        <p:nvSpPr>
          <p:cNvPr id="5" name="가로 글상자 4"/>
          <p:cNvSpPr txBox="1"/>
          <p:nvPr/>
        </p:nvSpPr>
        <p:spPr>
          <a:xfrm>
            <a:off x="533400" y="1003808"/>
            <a:ext cx="6096000" cy="604012"/>
          </a:xfrm>
          <a:prstGeom prst="rect">
            <a:avLst/>
          </a:prstGeom>
        </p:spPr>
        <p:txBody>
          <a:bodyPr wrap="square">
            <a:spAutoFit/>
          </a:bodyPr>
          <a:p>
            <a:pPr marL="50800" marR="50800"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ko-KR" altLang="en-US" sz="1300" b="0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그룹 관리</a:t>
            </a:r>
            <a:r>
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-</a:t>
            </a:r>
            <a:r>
              <a:rPr xmlns:mc="http://schemas.openxmlformats.org/markup-compatibility/2006" xmlns:hp="http://schemas.haansoft.com/office/presentation/8.0" lang="ko-KR" altLang="en-US" sz="1300" b="0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팀원 투표결과 </a:t>
            </a:r>
            <a:r>
              <a:rPr xmlns:mc="http://schemas.openxmlformats.org/markup-compatibility/2006" xmlns:hp="http://schemas.haansoft.com/office/presentation/8.0" lang="en-US" altLang="ko-KR" sz="1300" b="0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+</a:t>
            </a:r>
            <a:r>
              <a:rPr xmlns:mc="http://schemas.openxmlformats.org/markup-compatibility/2006" xmlns:hp="http://schemas.haansoft.com/office/presentation/8.0" lang="ko-KR" altLang="en-US" sz="1300" b="0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우선순위 </a:t>
            </a:r>
            <a:r>
              <a:rPr xmlns:mc="http://schemas.openxmlformats.org/markup-compatibility/2006" xmlns:hp="http://schemas.haansoft.com/office/presentation/8.0" lang="en-US" altLang="ko-KR" sz="1300" b="0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-&gt;</a:t>
            </a:r>
            <a:r>
              <a:rPr xmlns:mc="http://schemas.openxmlformats.org/markup-compatibility/2006" xmlns:hp="http://schemas.haansoft.com/office/presentation/8.0" lang="ko-KR" altLang="en-US" sz="1300" b="0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 최종선택</a:t>
            </a:r>
            <a:endParaRPr xmlns:mc="http://schemas.openxmlformats.org/markup-compatibility/2006" xmlns:hp="http://schemas.haansoft.com/office/presentation/8.0" lang="ko-KR" altLang="en-US" sz="1300" b="0" i="0" u="none" strike="noStrike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50800" marR="50800"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300">
              <a:latin typeface="함초롬돋움"/>
              <a:ea typeface="함초롬돋움"/>
              <a:cs typeface="함초롬돋움"/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685799" y="2432527"/>
          <a:ext cx="10828656" cy="2914370"/>
        </p:xfrm>
        <a:graphic>
          <a:graphicData uri="http://schemas.openxmlformats.org/drawingml/2006/table">
            <a:tbl>
              <a:tblPr firstRow="1" bandRow="1">
                <a:tableStyleId>{E5CB3F8B-0EC7-48AE-BC60-692C14E0C4D4}</a:tableStyleId>
              </a:tblPr>
              <a:tblGrid>
                <a:gridCol w="1600200"/>
                <a:gridCol w="803909"/>
                <a:gridCol w="1211580"/>
                <a:gridCol w="1202055"/>
                <a:gridCol w="1202055"/>
                <a:gridCol w="1202055"/>
                <a:gridCol w="1202266"/>
                <a:gridCol w="1202266"/>
                <a:gridCol w="1202266"/>
              </a:tblGrid>
              <a:tr h="345836">
                <a:tc rowSpan="2"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300" b="0" i="0" u="none" strike="noStrike" baseline="0" mc:Ignorable="hp" hp:hslEmbossed="0">
                          <a:solidFill>
                            <a:schemeClr val="lt1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아이디어명</a:t>
                      </a:r>
                      <a:endParaRPr xmlns:mc="http://schemas.openxmlformats.org/markup-compatibility/2006" xmlns:hp="http://schemas.haansoft.com/office/presentation/8.0" sz="1300" b="0" i="0" u="none" strike="noStrike" baseline="0" mc:Ignorable="hp" hp:hslEmbossed="0">
                        <a:solidFill>
                          <a:schemeClr val="lt1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gridSpan="5"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300" b="0" i="0" u="none" strike="noStrike" baseline="0" mc:Ignorable="hp" hp:hslEmbossed="0">
                          <a:solidFill>
                            <a:schemeClr val="lt1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투표</a:t>
                      </a:r>
                      <a:endParaRPr xmlns:mc="http://schemas.openxmlformats.org/markup-compatibility/2006" xmlns:hp="http://schemas.haansoft.com/office/presentation/8.0" sz="1300" b="0" i="0" u="none" strike="noStrike" baseline="0" mc:Ignorable="hp" hp:hslEmbossed="0">
                        <a:solidFill>
                          <a:schemeClr val="lt1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rowSpan="2"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300" b="0" i="0" u="none" strike="noStrike" baseline="0" mc:Ignorable="hp" hp:hslEmbossed="0">
                          <a:solidFill>
                            <a:schemeClr val="lt1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투표 결과</a:t>
                      </a:r>
                      <a:endParaRPr xmlns:mc="http://schemas.openxmlformats.org/markup-compatibility/2006" xmlns:hp="http://schemas.haansoft.com/office/presentation/8.0" sz="1300" b="0" i="0" u="none" strike="noStrike" baseline="0" mc:Ignorable="hp" hp:hslEmbossed="0">
                        <a:solidFill>
                          <a:schemeClr val="lt1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rowSpan="2"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300" b="0" i="0" u="none" strike="noStrike" baseline="0" mc:Ignorable="hp" hp:hslEmbossed="0">
                          <a:solidFill>
                            <a:schemeClr val="lt1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우선순위</a:t>
                      </a:r>
                      <a:endParaRPr xmlns:mc="http://schemas.openxmlformats.org/markup-compatibility/2006" xmlns:hp="http://schemas.haansoft.com/office/presentation/8.0" sz="1300" b="0" i="0" u="none" strike="noStrike" baseline="0" mc:Ignorable="hp" hp:hslEmbossed="0">
                        <a:solidFill>
                          <a:schemeClr val="lt1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rowSpan="2"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300" b="0" i="0" u="none" strike="noStrike" baseline="0" mc:Ignorable="hp" hp:hslEmbossed="0">
                          <a:solidFill>
                            <a:schemeClr val="lt1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최종선택</a:t>
                      </a:r>
                      <a:endParaRPr xmlns:mc="http://schemas.openxmlformats.org/markup-compatibility/2006" xmlns:hp="http://schemas.haansoft.com/office/presentation/8.0" sz="1300" b="0" i="0" u="none" strike="noStrike" baseline="0" mc:Ignorable="hp" hp:hslEmbossed="0">
                        <a:solidFill>
                          <a:schemeClr val="lt1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400207"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300" b="0" i="0" u="none" strike="noStrike" baseline="0" mc:Ignorable="hp" hp:hslEmbossed="0">
                          <a:solidFill>
                            <a:schemeClr val="dk1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한규진</a:t>
                      </a:r>
                      <a:endParaRPr xmlns:mc="http://schemas.openxmlformats.org/markup-compatibility/2006" xmlns:hp="http://schemas.haansoft.com/office/presentation/8.0" sz="1300" b="0" i="0" u="none" strike="noStrike" baseline="0" mc:Ignorable="hp" hp:hslEmbossed="0">
                        <a:solidFill>
                          <a:schemeClr val="dk1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300" b="0" i="0" u="none" strike="noStrike" baseline="0" mc:Ignorable="hp" hp:hslEmbossed="0">
                          <a:solidFill>
                            <a:schemeClr val="dk1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송하성</a:t>
                      </a:r>
                      <a:endParaRPr xmlns:mc="http://schemas.openxmlformats.org/markup-compatibility/2006" xmlns:hp="http://schemas.haansoft.com/office/presentation/8.0" sz="1300" b="0" i="0" u="none" strike="noStrike" baseline="0" mc:Ignorable="hp" hp:hslEmbossed="0">
                        <a:solidFill>
                          <a:schemeClr val="dk1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300" b="0" i="0" u="none" strike="noStrike" baseline="0" mc:Ignorable="hp" hp:hslEmbossed="0">
                          <a:solidFill>
                            <a:schemeClr val="dk1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전기헌</a:t>
                      </a:r>
                      <a:endParaRPr xmlns:mc="http://schemas.openxmlformats.org/markup-compatibility/2006" xmlns:hp="http://schemas.haansoft.com/office/presentation/8.0" sz="1300" b="0" i="0" u="none" strike="noStrike" baseline="0" mc:Ignorable="hp" hp:hslEmbossed="0">
                        <a:solidFill>
                          <a:schemeClr val="dk1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300" b="0" i="0" u="none" strike="noStrike" baseline="0" mc:Ignorable="hp" hp:hslEmbossed="0">
                          <a:solidFill>
                            <a:schemeClr val="dk1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이다인</a:t>
                      </a:r>
                      <a:endParaRPr xmlns:mc="http://schemas.openxmlformats.org/markup-compatibility/2006" xmlns:hp="http://schemas.haansoft.com/office/presentation/8.0" sz="1300" b="0" i="0" u="none" strike="noStrike" baseline="0" mc:Ignorable="hp" hp:hslEmbossed="0">
                        <a:solidFill>
                          <a:schemeClr val="dk1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300" b="0" i="0" u="none" strike="noStrike" baseline="0" mc:Ignorable="hp" hp:hslEmbossed="0">
                          <a:solidFill>
                            <a:schemeClr val="dk1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현고은</a:t>
                      </a:r>
                      <a:endParaRPr xmlns:mc="http://schemas.openxmlformats.org/markup-compatibility/2006" xmlns:hp="http://schemas.haansoft.com/office/presentation/8.0" sz="1300" b="0" i="0" u="none" strike="noStrike" baseline="0" mc:Ignorable="hp" hp:hslEmbossed="0">
                        <a:solidFill>
                          <a:schemeClr val="dk1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649168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모임 생성</a:t>
                      </a: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/</a:t>
                      </a:r>
                      <a:r>
                        <a:rPr xmlns:mc="http://schemas.openxmlformats.org/markup-compatibility/2006" xmlns:hp="http://schemas.haansoft.com/office/presentation/8.0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수정</a:t>
                      </a: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/</a:t>
                      </a:r>
                      <a:r>
                        <a:rPr xmlns:mc="http://schemas.openxmlformats.org/markup-compatibility/2006" xmlns:hp="http://schemas.haansoft.com/office/presentation/8.0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삭제</a:t>
                      </a:r>
                      <a:endParaRPr xmlns:mc="http://schemas.openxmlformats.org/markup-compatibility/2006" xmlns:hp="http://schemas.haansoft.com/office/presentation/8.0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2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2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2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1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2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9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1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o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649168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초대 링크</a:t>
                      </a: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/</a:t>
                      </a:r>
                      <a:r>
                        <a:rPr xmlns:mc="http://schemas.openxmlformats.org/markup-compatibility/2006" xmlns:hp="http://schemas.haansoft.com/office/presentation/8.0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코드 생성</a:t>
                      </a:r>
                      <a:endParaRPr xmlns:mc="http://schemas.openxmlformats.org/markup-compatibility/2006" xmlns:hp="http://schemas.haansoft.com/office/presentation/8.0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2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1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2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1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1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7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2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o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649168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모임 탈퇴</a:t>
                      </a:r>
                      <a:endParaRPr xmlns:mc="http://schemas.openxmlformats.org/markup-compatibility/2006" xmlns:hp="http://schemas.haansoft.com/office/presentation/8.0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1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1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1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1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1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5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3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o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6012253"/>
      </p:ext>
    </p:extLst>
  </p:cSld>
  <p:clrMapOvr>
    <a:masterClrMapping/>
  </p:clrMapOvr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96900" y="439165"/>
            <a:ext cx="1172210" cy="170435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 lvl="0">
              <a:lnSpc>
                <a:spcPct val="100000"/>
              </a:lnSpc>
              <a:spcBef>
                <a:spcPts val="100"/>
              </a:spcBef>
              <a:defRPr/>
            </a:pPr>
            <a:r>
              <a:rPr sz="1050" b="1" spc="-10">
                <a:solidFill>
                  <a:srgbClr val="ea580c"/>
                </a:solidFill>
                <a:latin typeface="함초롬돋움"/>
                <a:ea typeface="+mj-ea"/>
                <a:cs typeface="함초롬돋움"/>
              </a:rPr>
              <a:t>FINAL</a:t>
            </a:r>
            <a:r>
              <a:rPr sz="1050" b="1" spc="-65">
                <a:solidFill>
                  <a:srgbClr val="ea580c"/>
                </a:solidFill>
                <a:latin typeface="함초롬돋움"/>
                <a:ea typeface="+mj-ea"/>
                <a:cs typeface="함초롬돋움"/>
              </a:rPr>
              <a:t> </a:t>
            </a:r>
            <a:r>
              <a:rPr sz="1050" b="1" spc="-10">
                <a:solidFill>
                  <a:srgbClr val="ea580c"/>
                </a:solidFill>
                <a:latin typeface="함초롬돋움"/>
                <a:ea typeface="+mj-ea"/>
                <a:cs typeface="함초롬돋움"/>
              </a:rPr>
              <a:t>SELECTION</a:t>
            </a:r>
            <a:endParaRPr sz="1050">
              <a:latin typeface="함초롬돋움"/>
              <a:ea typeface="+mj-ea"/>
              <a:cs typeface="함초롬돋움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 idx="0"/>
          </p:nvPr>
        </p:nvSpPr>
        <p:spPr>
          <a:xfrm>
            <a:off x="596900" y="641858"/>
            <a:ext cx="4607560" cy="329692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 lvl="0">
              <a:lnSpc>
                <a:spcPct val="100000"/>
              </a:lnSpc>
              <a:spcBef>
                <a:spcPts val="100"/>
              </a:spcBef>
              <a:defRPr/>
            </a:pPr>
            <a:r>
              <a:rPr sz="2100" spc="-140"/>
              <a:t>아이디어</a:t>
            </a:r>
            <a:r>
              <a:rPr sz="2100" spc="-150"/>
              <a:t> </a:t>
            </a:r>
            <a:r>
              <a:rPr sz="2100" spc="-135"/>
              <a:t>최종</a:t>
            </a:r>
            <a:r>
              <a:rPr sz="2100" spc="-150"/>
              <a:t> </a:t>
            </a:r>
            <a:r>
              <a:rPr sz="2100" spc="-135"/>
              <a:t>선택</a:t>
            </a:r>
            <a:r>
              <a:rPr sz="2100" spc="-150"/>
              <a:t> </a:t>
            </a:r>
            <a:r>
              <a:rPr sz="2100" spc="-40"/>
              <a:t>(팀원</a:t>
            </a:r>
            <a:r>
              <a:rPr sz="2100" spc="-150"/>
              <a:t> </a:t>
            </a:r>
            <a:r>
              <a:rPr sz="2100" spc="-135"/>
              <a:t>투표</a:t>
            </a:r>
            <a:r>
              <a:rPr sz="2100" spc="-150"/>
              <a:t> </a:t>
            </a:r>
            <a:r>
              <a:rPr sz="2100" spc="-25"/>
              <a:t>결과)</a:t>
            </a:r>
            <a:endParaRPr sz="2100"/>
          </a:p>
        </p:txBody>
      </p:sp>
      <p:sp>
        <p:nvSpPr>
          <p:cNvPr id="5" name="가로 글상자 4"/>
          <p:cNvSpPr txBox="1"/>
          <p:nvPr/>
        </p:nvSpPr>
        <p:spPr>
          <a:xfrm>
            <a:off x="533400" y="946785"/>
            <a:ext cx="6096000" cy="603885"/>
          </a:xfrm>
          <a:prstGeom prst="rect">
            <a:avLst/>
          </a:prstGeom>
        </p:spPr>
        <p:txBody>
          <a:bodyPr wrap="square">
            <a:spAutoFit/>
          </a:bodyPr>
          <a:p>
            <a:pPr marL="50800" marR="50800"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ko-KR" altLang="en-US" sz="1300" b="0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일정 확정 및 연동</a:t>
            </a:r>
            <a:r>
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-</a:t>
            </a:r>
            <a:r>
              <a:rPr xmlns:mc="http://schemas.openxmlformats.org/markup-compatibility/2006" xmlns:hp="http://schemas.haansoft.com/office/presentation/8.0" lang="ko-KR" altLang="en-US" sz="1300" b="0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팀원 투표결과 </a:t>
            </a:r>
            <a:r>
              <a:rPr xmlns:mc="http://schemas.openxmlformats.org/markup-compatibility/2006" xmlns:hp="http://schemas.haansoft.com/office/presentation/8.0" lang="en-US" altLang="ko-KR" sz="1300" b="0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+</a:t>
            </a:r>
            <a:r>
              <a:rPr xmlns:mc="http://schemas.openxmlformats.org/markup-compatibility/2006" xmlns:hp="http://schemas.haansoft.com/office/presentation/8.0" lang="ko-KR" altLang="en-US" sz="1300" b="0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우선순위 </a:t>
            </a:r>
            <a:r>
              <a:rPr xmlns:mc="http://schemas.openxmlformats.org/markup-compatibility/2006" xmlns:hp="http://schemas.haansoft.com/office/presentation/8.0" lang="en-US" altLang="ko-KR" sz="1300" b="0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-&gt;</a:t>
            </a:r>
            <a:r>
              <a:rPr xmlns:mc="http://schemas.openxmlformats.org/markup-compatibility/2006" xmlns:hp="http://schemas.haansoft.com/office/presentation/8.0" lang="ko-KR" altLang="en-US" sz="1300" b="0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 최종선택</a:t>
            </a:r>
            <a:endParaRPr xmlns:mc="http://schemas.openxmlformats.org/markup-compatibility/2006" xmlns:hp="http://schemas.haansoft.com/office/presentation/8.0" lang="ko-KR" altLang="en-US" sz="1300" b="0" i="0" u="none" strike="noStrike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50800" marR="50800"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300">
              <a:latin typeface="함초롬돋움"/>
              <a:ea typeface="함초롬돋움"/>
              <a:cs typeface="함초롬돋움"/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685799" y="2432527"/>
          <a:ext cx="10828656" cy="2914370"/>
        </p:xfrm>
        <a:graphic>
          <a:graphicData uri="http://schemas.openxmlformats.org/drawingml/2006/table">
            <a:tbl>
              <a:tblPr firstRow="1" bandRow="1">
                <a:tableStyleId>{E5CB3F8B-0EC7-48AE-BC60-692C14E0C4D4}</a:tableStyleId>
              </a:tblPr>
              <a:tblGrid>
                <a:gridCol w="1524000"/>
                <a:gridCol w="1066800"/>
                <a:gridCol w="1143000"/>
                <a:gridCol w="1219200"/>
                <a:gridCol w="1143000"/>
                <a:gridCol w="1125854"/>
                <a:gridCol w="1202266"/>
                <a:gridCol w="1202266"/>
                <a:gridCol w="1202266"/>
              </a:tblGrid>
              <a:tr h="345836">
                <a:tc rowSpan="2"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300" b="0" i="0" u="none" strike="noStrike" baseline="0" mc:Ignorable="hp" hp:hslEmbossed="0">
                          <a:solidFill>
                            <a:schemeClr val="lt1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아이디어명</a:t>
                      </a:r>
                      <a:endParaRPr xmlns:mc="http://schemas.openxmlformats.org/markup-compatibility/2006" xmlns:hp="http://schemas.haansoft.com/office/presentation/8.0" sz="1300" b="0" i="0" u="none" strike="noStrike" baseline="0" mc:Ignorable="hp" hp:hslEmbossed="0">
                        <a:solidFill>
                          <a:schemeClr val="lt1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gridSpan="5"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300" b="0" i="0" u="none" strike="noStrike" baseline="0" mc:Ignorable="hp" hp:hslEmbossed="0">
                          <a:solidFill>
                            <a:schemeClr val="lt1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투표</a:t>
                      </a:r>
                      <a:endParaRPr xmlns:mc="http://schemas.openxmlformats.org/markup-compatibility/2006" xmlns:hp="http://schemas.haansoft.com/office/presentation/8.0" sz="1300" b="0" i="0" u="none" strike="noStrike" baseline="0" mc:Ignorable="hp" hp:hslEmbossed="0">
                        <a:solidFill>
                          <a:schemeClr val="lt1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rowSpan="2"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300" b="0" i="0" u="none" strike="noStrike" baseline="0" mc:Ignorable="hp" hp:hslEmbossed="0">
                          <a:solidFill>
                            <a:schemeClr val="lt1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투표 결과</a:t>
                      </a:r>
                      <a:endParaRPr xmlns:mc="http://schemas.openxmlformats.org/markup-compatibility/2006" xmlns:hp="http://schemas.haansoft.com/office/presentation/8.0" sz="1300" b="0" i="0" u="none" strike="noStrike" baseline="0" mc:Ignorable="hp" hp:hslEmbossed="0">
                        <a:solidFill>
                          <a:schemeClr val="lt1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rowSpan="2"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300" b="0" i="0" u="none" strike="noStrike" baseline="0" mc:Ignorable="hp" hp:hslEmbossed="0">
                          <a:solidFill>
                            <a:schemeClr val="lt1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우선순위</a:t>
                      </a:r>
                      <a:endParaRPr xmlns:mc="http://schemas.openxmlformats.org/markup-compatibility/2006" xmlns:hp="http://schemas.haansoft.com/office/presentation/8.0" sz="1300" b="0" i="0" u="none" strike="noStrike" baseline="0" mc:Ignorable="hp" hp:hslEmbossed="0">
                        <a:solidFill>
                          <a:schemeClr val="lt1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rowSpan="2"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300" b="0" i="0" u="none" strike="noStrike" baseline="0" mc:Ignorable="hp" hp:hslEmbossed="0">
                          <a:solidFill>
                            <a:schemeClr val="lt1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최종선택</a:t>
                      </a:r>
                      <a:endParaRPr xmlns:mc="http://schemas.openxmlformats.org/markup-compatibility/2006" xmlns:hp="http://schemas.haansoft.com/office/presentation/8.0" sz="1300" b="0" i="0" u="none" strike="noStrike" baseline="0" mc:Ignorable="hp" hp:hslEmbossed="0">
                        <a:solidFill>
                          <a:schemeClr val="lt1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400207"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300" b="0" i="0" u="none" strike="noStrike" baseline="0" mc:Ignorable="hp" hp:hslEmbossed="0">
                          <a:solidFill>
                            <a:schemeClr val="dk1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한규진</a:t>
                      </a:r>
                      <a:endParaRPr xmlns:mc="http://schemas.openxmlformats.org/markup-compatibility/2006" xmlns:hp="http://schemas.haansoft.com/office/presentation/8.0" sz="1300" b="0" i="0" u="none" strike="noStrike" baseline="0" mc:Ignorable="hp" hp:hslEmbossed="0">
                        <a:solidFill>
                          <a:schemeClr val="dk1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300" b="0" i="0" u="none" strike="noStrike" baseline="0" mc:Ignorable="hp" hp:hslEmbossed="0">
                          <a:solidFill>
                            <a:schemeClr val="dk1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송하성</a:t>
                      </a:r>
                      <a:endParaRPr xmlns:mc="http://schemas.openxmlformats.org/markup-compatibility/2006" xmlns:hp="http://schemas.haansoft.com/office/presentation/8.0" sz="1300" b="0" i="0" u="none" strike="noStrike" baseline="0" mc:Ignorable="hp" hp:hslEmbossed="0">
                        <a:solidFill>
                          <a:schemeClr val="dk1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300" b="0" i="0" u="none" strike="noStrike" baseline="0" mc:Ignorable="hp" hp:hslEmbossed="0">
                          <a:solidFill>
                            <a:schemeClr val="dk1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전기헌</a:t>
                      </a:r>
                      <a:endParaRPr xmlns:mc="http://schemas.openxmlformats.org/markup-compatibility/2006" xmlns:hp="http://schemas.haansoft.com/office/presentation/8.0" sz="1300" b="0" i="0" u="none" strike="noStrike" baseline="0" mc:Ignorable="hp" hp:hslEmbossed="0">
                        <a:solidFill>
                          <a:schemeClr val="dk1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300" b="0" i="0" u="none" strike="noStrike" baseline="0" mc:Ignorable="hp" hp:hslEmbossed="0">
                          <a:solidFill>
                            <a:schemeClr val="dk1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이다인</a:t>
                      </a:r>
                      <a:endParaRPr xmlns:mc="http://schemas.openxmlformats.org/markup-compatibility/2006" xmlns:hp="http://schemas.haansoft.com/office/presentation/8.0" sz="1300" b="0" i="0" u="none" strike="noStrike" baseline="0" mc:Ignorable="hp" hp:hslEmbossed="0">
                        <a:solidFill>
                          <a:schemeClr val="dk1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300" b="0" i="0" u="none" strike="noStrike" baseline="0" mc:Ignorable="hp" hp:hslEmbossed="0">
                          <a:solidFill>
                            <a:schemeClr val="dk1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현고은</a:t>
                      </a:r>
                      <a:endParaRPr xmlns:mc="http://schemas.openxmlformats.org/markup-compatibility/2006" xmlns:hp="http://schemas.haansoft.com/office/presentation/8.0" sz="1300" b="0" i="0" u="none" strike="noStrike" baseline="0" mc:Ignorable="hp" hp:hslEmbossed="0">
                        <a:solidFill>
                          <a:schemeClr val="dk1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649168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최종 일정 확정</a:t>
                      </a:r>
                      <a:endParaRPr xmlns:mc="http://schemas.openxmlformats.org/markup-compatibility/2006" xmlns:hp="http://schemas.haansoft.com/office/presentation/8.0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1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2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1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1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1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6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1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o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649168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외부 캘린더로 내보내기</a:t>
                      </a:r>
                      <a:endParaRPr xmlns:mc="http://schemas.openxmlformats.org/markup-compatibility/2006" xmlns:hp="http://schemas.haansoft.com/office/presentation/8.0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1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en-US" altLang="ko-KR" sz="1300">
                          <a:latin typeface="함초롬돋움"/>
                          <a:ea typeface="함초롬돋움"/>
                          <a:cs typeface="함초롬돋움"/>
                        </a:rPr>
                        <a:t>-</a:t>
                      </a:r>
                      <a:endParaRPr lang="en-US" altLang="ko-KR" sz="13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1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1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1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4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3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o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649168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결과 화면 이미지</a:t>
                      </a: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/ </a:t>
                      </a:r>
                      <a:r>
                        <a:rPr xmlns:mc="http://schemas.openxmlformats.org/markup-compatibility/2006" xmlns:hp="http://schemas.haansoft.com/office/presentation/8.0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링크 공유</a:t>
                      </a:r>
                      <a:endParaRPr xmlns:mc="http://schemas.openxmlformats.org/markup-compatibility/2006" xmlns:hp="http://schemas.haansoft.com/office/presentation/8.0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1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1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1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2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1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6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2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300" b="0" i="0" u="none" strike="noStrike" baseline="0" mc:Ignorable="hp" hp:hslEmbossed="0">
                          <a:solidFill>
                            <a:srgbClr val="000000"/>
                          </a:solidFill>
                          <a:latin typeface="함초롬돋움"/>
                          <a:ea typeface="함초롬돋움"/>
                          <a:cs typeface="함초롬돋움"/>
                        </a:rPr>
                        <a:t>o</a:t>
                      </a:r>
                      <a:endParaRPr xmlns:mc="http://schemas.openxmlformats.org/markup-compatibility/2006" xmlns:hp="http://schemas.haansoft.com/office/presentation/8.0" lang="EN-US" sz="1300" b="0" i="0" u="none" strike="noStrike" baseline="0" mc:Ignorable="hp" hp:hslEmbossed="0">
                        <a:solidFill>
                          <a:srgbClr val="000000"/>
                        </a:solidFill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2249473"/>
      </p:ext>
    </p:extLst>
  </p:cSld>
  <p:clrMapOvr>
    <a:masterClrMapping/>
  </p:clrMapOvr>
</p:sld>
</file>

<file path=ppt/slides/slide2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2"/>
          <p:cNvSpPr/>
          <p:nvPr/>
        </p:nvSpPr>
        <p:spPr>
          <a:xfrm>
            <a:off x="514350" y="1543050"/>
            <a:ext cx="5048250" cy="4400550"/>
          </a:xfrm>
          <a:custGeom>
            <a:avLst/>
            <a:gdLst/>
            <a:rect l="l" t="t" r="r" b="b"/>
            <a:pathLst>
              <a:path w="5353050" h="1962150">
                <a:moveTo>
                  <a:pt x="5238754" y="1962149"/>
                </a:moveTo>
                <a:lnTo>
                  <a:pt x="114295" y="1962149"/>
                </a:lnTo>
                <a:lnTo>
                  <a:pt x="69806" y="1953168"/>
                </a:lnTo>
                <a:lnTo>
                  <a:pt x="33476" y="1928673"/>
                </a:lnTo>
                <a:lnTo>
                  <a:pt x="8981" y="1892343"/>
                </a:lnTo>
                <a:lnTo>
                  <a:pt x="0" y="1847854"/>
                </a:lnTo>
                <a:lnTo>
                  <a:pt x="0" y="114295"/>
                </a:lnTo>
                <a:lnTo>
                  <a:pt x="8981" y="69806"/>
                </a:lnTo>
                <a:lnTo>
                  <a:pt x="33476" y="33476"/>
                </a:lnTo>
                <a:lnTo>
                  <a:pt x="69806" y="8981"/>
                </a:lnTo>
                <a:lnTo>
                  <a:pt x="114295" y="0"/>
                </a:lnTo>
                <a:lnTo>
                  <a:pt x="5238754" y="0"/>
                </a:lnTo>
                <a:lnTo>
                  <a:pt x="5282493" y="8700"/>
                </a:lnTo>
                <a:lnTo>
                  <a:pt x="5319573" y="33476"/>
                </a:lnTo>
                <a:lnTo>
                  <a:pt x="5344349" y="70556"/>
                </a:lnTo>
                <a:lnTo>
                  <a:pt x="5353049" y="114295"/>
                </a:lnTo>
                <a:lnTo>
                  <a:pt x="5353049" y="1847854"/>
                </a:lnTo>
                <a:lnTo>
                  <a:pt x="5344068" y="1892343"/>
                </a:lnTo>
                <a:lnTo>
                  <a:pt x="5319573" y="1928673"/>
                </a:lnTo>
                <a:lnTo>
                  <a:pt x="5283243" y="1953168"/>
                </a:lnTo>
                <a:lnTo>
                  <a:pt x="5238754" y="1962149"/>
                </a:lnTo>
                <a:close/>
              </a:path>
            </a:pathLst>
          </a:custGeom>
          <a:solidFill>
            <a:srgbClr val="f7fafc"/>
          </a:solidFill>
        </p:spPr>
        <p:txBody>
          <a:bodyPr wrap="square" lIns="0" tIns="0" rIns="0" bIns="0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object 3"/>
          <p:cNvSpPr txBox="1"/>
          <p:nvPr/>
        </p:nvSpPr>
        <p:spPr>
          <a:xfrm>
            <a:off x="596900" y="439165"/>
            <a:ext cx="1172210" cy="170435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 lvl="0">
              <a:lnSpc>
                <a:spcPct val="100000"/>
              </a:lnSpc>
              <a:spcBef>
                <a:spcPts val="100"/>
              </a:spcBef>
              <a:defRPr/>
            </a:pPr>
            <a:r>
              <a:rPr sz="1050" b="1" spc="-10">
                <a:solidFill>
                  <a:srgbClr val="ea580c"/>
                </a:solidFill>
                <a:latin typeface="함초롬돋움"/>
                <a:ea typeface="+mj-ea"/>
                <a:cs typeface="함초롬돋움"/>
              </a:rPr>
              <a:t>FINAL</a:t>
            </a:r>
            <a:r>
              <a:rPr sz="1050" b="1" spc="-65">
                <a:solidFill>
                  <a:srgbClr val="ea580c"/>
                </a:solidFill>
                <a:latin typeface="함초롬돋움"/>
                <a:ea typeface="+mj-ea"/>
                <a:cs typeface="함초롬돋움"/>
              </a:rPr>
              <a:t> </a:t>
            </a:r>
            <a:r>
              <a:rPr sz="1050" b="1" spc="-10">
                <a:solidFill>
                  <a:srgbClr val="ea580c"/>
                </a:solidFill>
                <a:latin typeface="함초롬돋움"/>
                <a:ea typeface="+mj-ea"/>
                <a:cs typeface="함초롬돋움"/>
              </a:rPr>
              <a:t>SELECTION</a:t>
            </a:r>
            <a:endParaRPr sz="1050">
              <a:latin typeface="함초롬돋움"/>
              <a:ea typeface="+mj-ea"/>
              <a:cs typeface="함초롬돋움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 idx="0"/>
          </p:nvPr>
        </p:nvSpPr>
        <p:spPr>
          <a:xfrm>
            <a:off x="596900" y="641858"/>
            <a:ext cx="4607560" cy="329692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 lvl="0">
              <a:lnSpc>
                <a:spcPct val="100000"/>
              </a:lnSpc>
              <a:spcBef>
                <a:spcPts val="100"/>
              </a:spcBef>
              <a:defRPr/>
            </a:pPr>
            <a:r>
              <a:rPr sz="2100" spc="-140"/>
              <a:t>아이디어</a:t>
            </a:r>
            <a:r>
              <a:rPr sz="2100" spc="-150"/>
              <a:t> </a:t>
            </a:r>
            <a:r>
              <a:rPr sz="2100" spc="-135"/>
              <a:t>최종</a:t>
            </a:r>
            <a:r>
              <a:rPr sz="2100" spc="-150"/>
              <a:t> </a:t>
            </a:r>
            <a:r>
              <a:rPr sz="2100" spc="-135"/>
              <a:t>선택</a:t>
            </a:r>
            <a:r>
              <a:rPr sz="2100" spc="-150"/>
              <a:t> </a:t>
            </a:r>
            <a:endParaRPr sz="2100"/>
          </a:p>
        </p:txBody>
      </p:sp>
      <p:sp>
        <p:nvSpPr>
          <p:cNvPr id="9" name="가로 글상자 8"/>
          <p:cNvSpPr txBox="1"/>
          <p:nvPr/>
        </p:nvSpPr>
        <p:spPr>
          <a:xfrm>
            <a:off x="381000" y="1306829"/>
            <a:ext cx="5029200" cy="4789170"/>
          </a:xfrm>
          <a:prstGeom prst="rect">
            <a:avLst/>
          </a:prstGeom>
        </p:spPr>
        <p:txBody>
          <a:bodyPr wrap="square">
            <a:spAutoFit/>
          </a:bodyPr>
          <a:p>
            <a:pPr marL="381000" lvl="3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xmlns:mc="http://schemas.openxmlformats.org/markup-compatibility/2006" xmlns:hp="http://schemas.haansoft.com/office/presentation/8.0" lang="EN-US" sz="1000" b="1" i="0" u="none" strike="noStrike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190500" lvl="3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ko-KR" altLang="en-US" sz="1300" b="1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선정된 아이디어 </a:t>
            </a:r>
            <a:endParaRPr xmlns:mc="http://schemas.openxmlformats.org/markup-compatibility/2006" xmlns:hp="http://schemas.haansoft.com/office/presentation/8.0" lang="ko-KR" altLang="en-US" sz="1000" b="1" i="0" u="none" strike="noStrike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190500" lvl="3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EN-US" sz="1000" b="1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-</a:t>
            </a:r>
            <a:r>
              <a:rPr xmlns:mc="http://schemas.openxmlformats.org/markup-compatibility/2006" xmlns:hp="http://schemas.haansoft.com/office/presentation/8.0" sz="1000" b="1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소셜 로그인</a:t>
            </a:r>
            <a:endParaRPr xmlns:mc="http://schemas.openxmlformats.org/markup-compatibility/2006" xmlns:hp="http://schemas.haansoft.com/office/presentation/8.0" sz="1000" b="1" i="0" u="none" strike="noStrike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190500" lvl="3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EN-US" sz="1000" b="1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-</a:t>
            </a:r>
            <a:r>
              <a:rPr xmlns:mc="http://schemas.openxmlformats.org/markup-compatibility/2006" xmlns:hp="http://schemas.haansoft.com/office/presentation/8.0" sz="1000" b="1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로그아웃</a:t>
            </a:r>
            <a:endParaRPr xmlns:mc="http://schemas.openxmlformats.org/markup-compatibility/2006" xmlns:hp="http://schemas.haansoft.com/office/presentation/8.0" sz="1000" b="1" i="0" u="none" strike="noStrike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190500" lvl="3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EN-US" sz="1000" b="1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-</a:t>
            </a:r>
            <a:r>
              <a:rPr xmlns:mc="http://schemas.openxmlformats.org/markup-compatibility/2006" xmlns:hp="http://schemas.haansoft.com/office/presentation/8.0" sz="1000" b="1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프로필</a:t>
            </a:r>
            <a:r>
              <a:rPr xmlns:mc="http://schemas.openxmlformats.org/markup-compatibility/2006" xmlns:hp="http://schemas.haansoft.com/office/presentation/8.0" lang="EN-US" sz="1000" b="1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(</a:t>
            </a:r>
            <a:r>
              <a:rPr xmlns:mc="http://schemas.openxmlformats.org/markup-compatibility/2006" xmlns:hp="http://schemas.haansoft.com/office/presentation/8.0" sz="1000" b="1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시간표 저장용</a:t>
            </a:r>
            <a:r>
              <a:rPr xmlns:mc="http://schemas.openxmlformats.org/markup-compatibility/2006" xmlns:hp="http://schemas.haansoft.com/office/presentation/8.0" lang="EN-US" sz="1000" b="1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)</a:t>
            </a:r>
            <a:endParaRPr xmlns:mc="http://schemas.openxmlformats.org/markup-compatibility/2006" xmlns:hp="http://schemas.haansoft.com/office/presentation/8.0" lang="EN-US" sz="1000" b="1" i="0" u="none" strike="noStrike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190500" lvl="3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EN-US" sz="1000" b="1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-</a:t>
            </a:r>
            <a:r>
              <a:rPr xmlns:mc="http://schemas.openxmlformats.org/markup-compatibility/2006" xmlns:hp="http://schemas.haansoft.com/office/presentation/8.0" sz="1000" b="1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시간표 입력 </a:t>
            </a:r>
            <a:r>
              <a:rPr xmlns:mc="http://schemas.openxmlformats.org/markup-compatibility/2006" xmlns:hp="http://schemas.haansoft.com/office/presentation/8.0" lang="EN-US" sz="1000" b="1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(</a:t>
            </a:r>
            <a:r>
              <a:rPr xmlns:mc="http://schemas.openxmlformats.org/markup-compatibility/2006" xmlns:hp="http://schemas.haansoft.com/office/presentation/8.0" sz="1000" b="1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자동</a:t>
            </a:r>
            <a:r>
              <a:rPr xmlns:mc="http://schemas.openxmlformats.org/markup-compatibility/2006" xmlns:hp="http://schemas.haansoft.com/office/presentation/8.0" lang="EN-US" sz="1000" b="1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/</a:t>
            </a:r>
            <a:r>
              <a:rPr xmlns:mc="http://schemas.openxmlformats.org/markup-compatibility/2006" xmlns:hp="http://schemas.haansoft.com/office/presentation/8.0" sz="1000" b="1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수기</a:t>
            </a:r>
            <a:r>
              <a:rPr xmlns:mc="http://schemas.openxmlformats.org/markup-compatibility/2006" xmlns:hp="http://schemas.haansoft.com/office/presentation/8.0" lang="EN-US" sz="1000" b="1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)</a:t>
            </a:r>
            <a:endParaRPr xmlns:mc="http://schemas.openxmlformats.org/markup-compatibility/2006" xmlns:hp="http://schemas.haansoft.com/office/presentation/8.0" lang="EN-US" sz="1000" b="1" i="0" u="none" strike="noStrike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190500" lvl="3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EN-US" sz="1000" b="1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-</a:t>
            </a:r>
            <a:r>
              <a:rPr xmlns:mc="http://schemas.openxmlformats.org/markup-compatibility/2006" xmlns:hp="http://schemas.haansoft.com/office/presentation/8.0" sz="1000" b="1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시간표 자동 매칭</a:t>
            </a:r>
            <a:endParaRPr xmlns:mc="http://schemas.openxmlformats.org/markup-compatibility/2006" xmlns:hp="http://schemas.haansoft.com/office/presentation/8.0" sz="1000" b="1" i="0" u="none" strike="noStrike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190500" lvl="3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EN-US" sz="1000" b="1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-</a:t>
            </a:r>
            <a:r>
              <a:rPr xmlns:mc="http://schemas.openxmlformats.org/markup-compatibility/2006" xmlns:hp="http://schemas.haansoft.com/office/presentation/8.0" sz="1000" b="1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참석률 시각화</a:t>
            </a:r>
            <a:r>
              <a:rPr xmlns:mc="http://schemas.openxmlformats.org/markup-compatibility/2006" xmlns:hp="http://schemas.haansoft.com/office/presentation/8.0" lang="EN-US" sz="1000" b="1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(</a:t>
            </a:r>
            <a:r>
              <a:rPr xmlns:mc="http://schemas.openxmlformats.org/markup-compatibility/2006" xmlns:hp="http://schemas.haansoft.com/office/presentation/8.0" sz="1000" b="1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컬러맵</a:t>
            </a:r>
            <a:r>
              <a:rPr xmlns:mc="http://schemas.openxmlformats.org/markup-compatibility/2006" xmlns:hp="http://schemas.haansoft.com/office/presentation/8.0" lang="EN-US" sz="1000" b="1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)</a:t>
            </a:r>
            <a:endParaRPr xmlns:mc="http://schemas.openxmlformats.org/markup-compatibility/2006" xmlns:hp="http://schemas.haansoft.com/office/presentation/8.0" lang="EN-US" sz="1000" b="1" i="0" u="none" strike="noStrike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190500" lvl="3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EN-US" sz="1000" b="1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-</a:t>
            </a:r>
            <a:r>
              <a:rPr xmlns:mc="http://schemas.openxmlformats.org/markup-compatibility/2006" xmlns:hp="http://schemas.haansoft.com/office/presentation/8.0" sz="1000" b="1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차선책 안내</a:t>
            </a:r>
            <a:endParaRPr xmlns:mc="http://schemas.openxmlformats.org/markup-compatibility/2006" xmlns:hp="http://schemas.haansoft.com/office/presentation/8.0" sz="1000" b="1" i="0" u="none" strike="noStrike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190500" lvl="3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EN-US" sz="1000" b="1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-</a:t>
            </a:r>
            <a:r>
              <a:rPr xmlns:mc="http://schemas.openxmlformats.org/markup-compatibility/2006" xmlns:hp="http://schemas.haansoft.com/office/presentation/8.0" sz="1000" b="1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선호 시간 투표</a:t>
            </a:r>
            <a:endParaRPr xmlns:mc="http://schemas.openxmlformats.org/markup-compatibility/2006" xmlns:hp="http://schemas.haansoft.com/office/presentation/8.0" sz="1000" b="1" i="0" u="none" strike="noStrike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190500" lvl="3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EN-US" sz="1000" b="1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-</a:t>
            </a:r>
            <a:r>
              <a:rPr xmlns:mc="http://schemas.openxmlformats.org/markup-compatibility/2006" xmlns:hp="http://schemas.haansoft.com/office/presentation/8.0" sz="1000" b="1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메모</a:t>
            </a:r>
            <a:endParaRPr xmlns:mc="http://schemas.openxmlformats.org/markup-compatibility/2006" xmlns:hp="http://schemas.haansoft.com/office/presentation/8.0" sz="1000" b="1" i="0" u="none" strike="noStrike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190500" lvl="3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EN-US" sz="1000" b="1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-</a:t>
            </a:r>
            <a:r>
              <a:rPr xmlns:mc="http://schemas.openxmlformats.org/markup-compatibility/2006" xmlns:hp="http://schemas.haansoft.com/office/presentation/8.0" sz="1000" b="1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알림</a:t>
            </a:r>
            <a:endParaRPr xmlns:mc="http://schemas.openxmlformats.org/markup-compatibility/2006" xmlns:hp="http://schemas.haansoft.com/office/presentation/8.0" sz="1000" b="1" i="0" u="none" strike="noStrike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190500" lvl="3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EN-US" sz="1000" b="1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-</a:t>
            </a:r>
            <a:r>
              <a:rPr xmlns:mc="http://schemas.openxmlformats.org/markup-compatibility/2006" xmlns:hp="http://schemas.haansoft.com/office/presentation/8.0" sz="1000" b="1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모임 생성</a:t>
            </a:r>
            <a:r>
              <a:rPr xmlns:mc="http://schemas.openxmlformats.org/markup-compatibility/2006" xmlns:hp="http://schemas.haansoft.com/office/presentation/8.0" lang="EN-US" sz="1000" b="1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/</a:t>
            </a:r>
            <a:r>
              <a:rPr xmlns:mc="http://schemas.openxmlformats.org/markup-compatibility/2006" xmlns:hp="http://schemas.haansoft.com/office/presentation/8.0" sz="1000" b="1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수정</a:t>
            </a:r>
            <a:r>
              <a:rPr xmlns:mc="http://schemas.openxmlformats.org/markup-compatibility/2006" xmlns:hp="http://schemas.haansoft.com/office/presentation/8.0" lang="EN-US" sz="1000" b="1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/</a:t>
            </a:r>
            <a:r>
              <a:rPr xmlns:mc="http://schemas.openxmlformats.org/markup-compatibility/2006" xmlns:hp="http://schemas.haansoft.com/office/presentation/8.0" sz="1000" b="1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삭제</a:t>
            </a:r>
            <a:endParaRPr xmlns:mc="http://schemas.openxmlformats.org/markup-compatibility/2006" xmlns:hp="http://schemas.haansoft.com/office/presentation/8.0" sz="1000" b="1" i="0" u="none" strike="noStrike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190500" lvl="3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EN-US" sz="1000" b="1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-</a:t>
            </a:r>
            <a:r>
              <a:rPr xmlns:mc="http://schemas.openxmlformats.org/markup-compatibility/2006" xmlns:hp="http://schemas.haansoft.com/office/presentation/8.0" sz="1000" b="1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초대 링크</a:t>
            </a:r>
            <a:r>
              <a:rPr xmlns:mc="http://schemas.openxmlformats.org/markup-compatibility/2006" xmlns:hp="http://schemas.haansoft.com/office/presentation/8.0" lang="EN-US" sz="1000" b="1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/</a:t>
            </a:r>
            <a:r>
              <a:rPr xmlns:mc="http://schemas.openxmlformats.org/markup-compatibility/2006" xmlns:hp="http://schemas.haansoft.com/office/presentation/8.0" sz="1000" b="1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코드 생성</a:t>
            </a:r>
            <a:endParaRPr xmlns:mc="http://schemas.openxmlformats.org/markup-compatibility/2006" xmlns:hp="http://schemas.haansoft.com/office/presentation/8.0" sz="1000" b="1" i="0" u="none" strike="noStrike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190500" lvl="3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EN-US" sz="1000" b="1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-</a:t>
            </a:r>
            <a:r>
              <a:rPr xmlns:mc="http://schemas.openxmlformats.org/markup-compatibility/2006" xmlns:hp="http://schemas.haansoft.com/office/presentation/8.0" sz="1000" b="1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모임 탈퇴</a:t>
            </a:r>
            <a:endParaRPr xmlns:mc="http://schemas.openxmlformats.org/markup-compatibility/2006" xmlns:hp="http://schemas.haansoft.com/office/presentation/8.0" sz="1000" b="1" i="0" u="none" strike="noStrike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190500" lvl="3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EN-US" sz="1000" b="1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-</a:t>
            </a:r>
            <a:r>
              <a:rPr xmlns:mc="http://schemas.openxmlformats.org/markup-compatibility/2006" xmlns:hp="http://schemas.haansoft.com/office/presentation/8.0" sz="1000" b="1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최종 일정 확정</a:t>
            </a:r>
            <a:endParaRPr xmlns:mc="http://schemas.openxmlformats.org/markup-compatibility/2006" xmlns:hp="http://schemas.haansoft.com/office/presentation/8.0" sz="1000" b="1" i="0" u="none" strike="noStrike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190500" lvl="3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EN-US" sz="1000" b="1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-</a:t>
            </a:r>
            <a:r>
              <a:rPr xmlns:mc="http://schemas.openxmlformats.org/markup-compatibility/2006" xmlns:hp="http://schemas.haansoft.com/office/presentation/8.0" sz="1000" b="1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외부 캘린더로 내보내기</a:t>
            </a:r>
            <a:endParaRPr xmlns:mc="http://schemas.openxmlformats.org/markup-compatibility/2006" xmlns:hp="http://schemas.haansoft.com/office/presentation/8.0" sz="1000" b="1" i="0" u="none" strike="noStrike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190500" lvl="3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EN-US" sz="1000" b="1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-</a:t>
            </a:r>
            <a:r>
              <a:rPr xmlns:mc="http://schemas.openxmlformats.org/markup-compatibility/2006" xmlns:hp="http://schemas.haansoft.com/office/presentation/8.0" sz="1000" b="1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결과 화면 이미지</a:t>
            </a:r>
            <a:r>
              <a:rPr xmlns:mc="http://schemas.openxmlformats.org/markup-compatibility/2006" xmlns:hp="http://schemas.haansoft.com/office/presentation/8.0" lang="EN-US" sz="1000" b="1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/</a:t>
            </a:r>
            <a:r>
              <a:rPr xmlns:mc="http://schemas.openxmlformats.org/markup-compatibility/2006" xmlns:hp="http://schemas.haansoft.com/office/presentation/8.0" sz="1000" b="1" i="0" u="none" strike="noStrike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링크 공유</a:t>
            </a:r>
            <a:endParaRPr xmlns:mc="http://schemas.openxmlformats.org/markup-compatibility/2006" xmlns:hp="http://schemas.haansoft.com/office/presentation/8.0" sz="1000" b="1" i="0" u="none" strike="noStrike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190500" lvl="3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000" b="1"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11" name="object 2"/>
          <p:cNvSpPr/>
          <p:nvPr/>
        </p:nvSpPr>
        <p:spPr>
          <a:xfrm>
            <a:off x="6000750" y="1524000"/>
            <a:ext cx="5048250" cy="4400550"/>
          </a:xfrm>
          <a:custGeom>
            <a:avLst/>
            <a:gdLst/>
            <a:rect l="l" t="t" r="r" b="b"/>
            <a:pathLst>
              <a:path w="5353050" h="1962150">
                <a:moveTo>
                  <a:pt x="5238754" y="1962149"/>
                </a:moveTo>
                <a:lnTo>
                  <a:pt x="114295" y="1962149"/>
                </a:lnTo>
                <a:lnTo>
                  <a:pt x="69806" y="1953168"/>
                </a:lnTo>
                <a:lnTo>
                  <a:pt x="33476" y="1928673"/>
                </a:lnTo>
                <a:lnTo>
                  <a:pt x="8981" y="1892343"/>
                </a:lnTo>
                <a:lnTo>
                  <a:pt x="0" y="1847854"/>
                </a:lnTo>
                <a:lnTo>
                  <a:pt x="0" y="114295"/>
                </a:lnTo>
                <a:lnTo>
                  <a:pt x="8981" y="69806"/>
                </a:lnTo>
                <a:lnTo>
                  <a:pt x="33476" y="33476"/>
                </a:lnTo>
                <a:lnTo>
                  <a:pt x="69806" y="8981"/>
                </a:lnTo>
                <a:lnTo>
                  <a:pt x="114295" y="0"/>
                </a:lnTo>
                <a:lnTo>
                  <a:pt x="5238754" y="0"/>
                </a:lnTo>
                <a:lnTo>
                  <a:pt x="5282493" y="8700"/>
                </a:lnTo>
                <a:lnTo>
                  <a:pt x="5319573" y="33476"/>
                </a:lnTo>
                <a:lnTo>
                  <a:pt x="5344349" y="70556"/>
                </a:lnTo>
                <a:lnTo>
                  <a:pt x="5353049" y="114295"/>
                </a:lnTo>
                <a:lnTo>
                  <a:pt x="5353049" y="1847854"/>
                </a:lnTo>
                <a:lnTo>
                  <a:pt x="5344068" y="1892343"/>
                </a:lnTo>
                <a:lnTo>
                  <a:pt x="5319573" y="1928673"/>
                </a:lnTo>
                <a:lnTo>
                  <a:pt x="5283243" y="1953168"/>
                </a:lnTo>
                <a:lnTo>
                  <a:pt x="5238754" y="1962149"/>
                </a:lnTo>
                <a:close/>
              </a:path>
            </a:pathLst>
          </a:custGeom>
          <a:solidFill>
            <a:srgbClr val="fff6ed"/>
          </a:solidFill>
        </p:spPr>
        <p:txBody>
          <a:bodyPr wrap="square" lIns="0" tIns="0" rIns="0" bIns="0"/>
          <a:lstStyle/>
          <a:p>
            <a:pPr lvl="0">
              <a:defRPr/>
            </a:pPr>
            <a:endParaRPr lang="ko-KR" altLang="en-US">
              <a:solidFill>
                <a:srgbClr val="ffeae0"/>
              </a:solidFill>
            </a:endParaRPr>
          </a:p>
        </p:txBody>
      </p:sp>
      <p:sp>
        <p:nvSpPr>
          <p:cNvPr id="12" name="가로 글상자 11"/>
          <p:cNvSpPr txBox="1"/>
          <p:nvPr/>
        </p:nvSpPr>
        <p:spPr>
          <a:xfrm>
            <a:off x="6172200" y="3088956"/>
            <a:ext cx="4724400" cy="1944243"/>
          </a:xfrm>
          <a:prstGeom prst="rect">
            <a:avLst/>
          </a:prstGeom>
        </p:spPr>
        <p:txBody>
          <a:bodyPr wrap="square">
            <a:spAutoFit/>
          </a:bodyPr>
          <a:p>
            <a:pPr marL="190500" lv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en-US" altLang="ko-KR" sz="1000" i="0" u="none" strike="noStrike" baseline="0" mc:Ignorable="hp" hp:hslEmbossed="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-</a:t>
            </a:r>
            <a:r>
              <a:rPr xmlns:mc="http://schemas.openxmlformats.org/markup-compatibility/2006" xmlns:hp="http://schemas.haansoft.com/office/presentation/8.0" sz="1000" i="0" u="none" strike="noStrike" baseline="0" mc:Ignorable="hp" hp:hslEmbossed="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위 목록은 서비스 전체의 기능 구상</a:t>
            </a:r>
            <a:endParaRPr xmlns:mc="http://schemas.openxmlformats.org/markup-compatibility/2006" xmlns:hp="http://schemas.haansoft.com/office/presentation/8.0" lang="en-US" altLang="ko-KR" sz="1000" i="0" u="none" strike="noStrike" baseline="0" mc:Ignorable="hp" hp:hslEmbossed="0">
              <a:solidFill>
                <a:schemeClr val="dk1"/>
              </a:solidFill>
              <a:latin typeface="함초롬돋움"/>
              <a:ea typeface="함초롬돋움"/>
              <a:cs typeface="함초롬돋움"/>
            </a:endParaRPr>
          </a:p>
          <a:p>
            <a:pPr marL="190500" lv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en-US" altLang="ko-KR" sz="1000" i="0" u="none" strike="noStrike" baseline="0" mc:Ignorable="hp" hp:hslEmbossed="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-</a:t>
            </a:r>
            <a:r>
              <a:rPr xmlns:mc="http://schemas.openxmlformats.org/markup-compatibility/2006" xmlns:hp="http://schemas.haansoft.com/office/presentation/8.0" lang="EN-US" sz="1000" i="0" u="none" strike="noStrike" baseline="0" mc:Ignorable="hp" hp:hslEmbossed="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xmlns:mc="http://schemas.openxmlformats.org/markup-compatibility/2006" xmlns:hp="http://schemas.haansoft.com/office/presentation/8.0" sz="1000" i="0" u="none" strike="noStrike" baseline="0" mc:Ignorable="hp" hp:hslEmbossed="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이번 학기 구현 범위와 향후 확장 범위를 구분하여 적용</a:t>
            </a:r>
            <a:r>
              <a:rPr xmlns:mc="http://schemas.openxmlformats.org/markup-compatibility/2006" xmlns:hp="http://schemas.haansoft.com/office/presentation/8.0" lang="ko-KR" altLang="en-US" sz="1000" i="0" u="none" strike="noStrike" baseline="0" mc:Ignorable="hp" hp:hslEmbossed="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할 예정</a:t>
            </a:r>
            <a:endParaRPr xmlns:mc="http://schemas.openxmlformats.org/markup-compatibility/2006" xmlns:hp="http://schemas.haansoft.com/office/presentation/8.0" lang="en-US" altLang="ko-KR" sz="1000" i="0" u="none" strike="noStrike" baseline="0" mc:Ignorable="hp" hp:hslEmbossed="0">
              <a:solidFill>
                <a:schemeClr val="dk1"/>
              </a:solidFill>
              <a:latin typeface="함초롬돋움"/>
              <a:ea typeface="함초롬돋움"/>
              <a:cs typeface="함초롬돋움"/>
            </a:endParaRPr>
          </a:p>
          <a:p>
            <a:pPr marL="190500" lv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en-US" altLang="ko-KR" sz="1000" i="0" u="none" strike="noStrike" baseline="0" mc:Ignorable="hp" hp:hslEmbossed="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-</a:t>
            </a:r>
            <a:r>
              <a:rPr xmlns:mc="http://schemas.openxmlformats.org/markup-compatibility/2006" xmlns:hp="http://schemas.haansoft.com/office/presentation/8.0" sz="1000" i="0" u="none" strike="noStrike" baseline="0" mc:Ignorable="hp" hp:hslEmbossed="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선호 시간 투표와 세부 멤버 권한 설정은 설계까지만 수행</a:t>
            </a:r>
            <a:r>
              <a:rPr xmlns:mc="http://schemas.openxmlformats.org/markup-compatibility/2006" xmlns:hp="http://schemas.haansoft.com/office/presentation/8.0" lang="ko-KR" altLang="en-US" sz="1000" i="0" u="none" strike="noStrike" baseline="0" mc:Ignorable="hp" hp:hslEmbossed="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할 예정</a:t>
            </a:r>
            <a:endParaRPr xmlns:mc="http://schemas.openxmlformats.org/markup-compatibility/2006" xmlns:hp="http://schemas.haansoft.com/office/presentation/8.0" sz="1000" i="0" u="none" strike="noStrike" baseline="0" mc:Ignorable="hp" hp:hslEmbossed="0">
              <a:solidFill>
                <a:schemeClr val="dk1"/>
              </a:solidFill>
              <a:latin typeface="함초롬돋움"/>
              <a:ea typeface="함초롬돋움"/>
              <a:cs typeface="함초롬돋움"/>
            </a:endParaRPr>
          </a:p>
          <a:p>
            <a:pPr marL="190500" lv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en-US" altLang="ko-KR" sz="1000" i="0" u="none" strike="noStrike" baseline="0" mc:Ignorable="hp" hp:hslEmbossed="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-</a:t>
            </a:r>
            <a:r>
              <a:rPr xmlns:mc="http://schemas.openxmlformats.org/markup-compatibility/2006" xmlns:hp="http://schemas.haansoft.com/office/presentation/8.0" sz="1000" i="0" u="none" strike="noStrike" baseline="0" mc:Ignorable="hp" hp:hslEmbossed="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차선책 안내</a:t>
            </a:r>
            <a:r>
              <a:rPr xmlns:mc="http://schemas.openxmlformats.org/markup-compatibility/2006" xmlns:hp="http://schemas.haansoft.com/office/presentation/8.0" lang="EN-US" sz="1000" i="0" u="none" strike="noStrike" baseline="0" mc:Ignorable="hp" hp:hslEmbossed="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·</a:t>
            </a:r>
            <a:r>
              <a:rPr xmlns:mc="http://schemas.openxmlformats.org/markup-compatibility/2006" xmlns:hp="http://schemas.haansoft.com/office/presentation/8.0" sz="1000" i="0" u="none" strike="noStrike" baseline="0" mc:Ignorable="hp" hp:hslEmbossed="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알림</a:t>
            </a:r>
            <a:r>
              <a:rPr xmlns:mc="http://schemas.openxmlformats.org/markup-compatibility/2006" xmlns:hp="http://schemas.haansoft.com/office/presentation/8.0" lang="EN-US" sz="1000" i="0" u="none" strike="noStrike" baseline="0" mc:Ignorable="hp" hp:hslEmbossed="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·</a:t>
            </a:r>
            <a:r>
              <a:rPr xmlns:mc="http://schemas.openxmlformats.org/markup-compatibility/2006" xmlns:hp="http://schemas.haansoft.com/office/presentation/8.0" sz="1000" i="0" u="none" strike="noStrike" baseline="0" mc:Ignorable="hp" hp:hslEmbossed="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외부 캘린더 내보내기는 향후 확장 기능</a:t>
            </a:r>
            <a:endParaRPr xmlns:mc="http://schemas.openxmlformats.org/markup-compatibility/2006" xmlns:hp="http://schemas.haansoft.com/office/presentation/8.0" lang="EN-US" sz="1000" i="0" u="none" strike="noStrike" baseline="0" mc:Ignorable="hp" hp:hslEmbossed="0">
              <a:solidFill>
                <a:schemeClr val="dk1"/>
              </a:solidFill>
              <a:latin typeface="함초롬돋움"/>
              <a:ea typeface="함초롬돋움"/>
              <a:cs typeface="함초롬돋움"/>
            </a:endParaRPr>
          </a:p>
          <a:p>
            <a:pPr marL="190500" lv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en-US" altLang="ko-KR" sz="1000" i="0" u="none" strike="noStrike" baseline="0" mc:Ignorable="hp" hp:hslEmbossed="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-</a:t>
            </a:r>
            <a:r>
              <a:rPr xmlns:mc="http://schemas.openxmlformats.org/markup-compatibility/2006" xmlns:hp="http://schemas.haansoft.com/office/presentation/8.0" lang="EN-US" sz="1000" i="0" u="none" strike="noStrike" baseline="0" mc:Ignorable="hp" hp:hslEmbossed="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xmlns:mc="http://schemas.openxmlformats.org/markup-compatibility/2006" xmlns:hp="http://schemas.haansoft.com/office/presentation/8.0" sz="1000" i="0" u="none" strike="noStrike" baseline="0" mc:Ignorable="hp" hp:hslEmbossed="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그 외 기능과 모임 운영에 필요한 관리자</a:t>
            </a:r>
            <a:r>
              <a:rPr xmlns:mc="http://schemas.openxmlformats.org/markup-compatibility/2006" xmlns:hp="http://schemas.haansoft.com/office/presentation/8.0" lang="EN-US" sz="1000" i="0" u="none" strike="noStrike" baseline="0" mc:Ignorable="hp" hp:hslEmbossed="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·</a:t>
            </a:r>
            <a:r>
              <a:rPr xmlns:mc="http://schemas.openxmlformats.org/markup-compatibility/2006" xmlns:hp="http://schemas.haansoft.com/office/presentation/8.0" sz="1000" i="0" u="none" strike="noStrike" baseline="0" mc:Ignorable="hp" hp:hslEmbossed="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일반 멤버의 기본 권한 </a:t>
            </a:r>
            <a:endParaRPr xmlns:mc="http://schemas.openxmlformats.org/markup-compatibility/2006" xmlns:hp="http://schemas.haansoft.com/office/presentation/8.0" sz="1000" i="0" u="none" strike="noStrike" baseline="0" mc:Ignorable="hp" hp:hslEmbossed="0">
              <a:solidFill>
                <a:schemeClr val="dk1"/>
              </a:solidFill>
              <a:latin typeface="함초롬돋움"/>
              <a:ea typeface="함초롬돋움"/>
              <a:cs typeface="함초롬돋움"/>
            </a:endParaRPr>
          </a:p>
          <a:p>
            <a:pPr marL="190500" lv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sz="1000" i="0" u="none" strike="noStrike" baseline="0" mc:Ignorable="hp" hp:hslEmbossed="0">
                <a:solidFill>
                  <a:schemeClr val="dk1"/>
                </a:solidFill>
                <a:latin typeface="함초롬돋움"/>
                <a:ea typeface="함초롬돋움"/>
                <a:cs typeface="함초롬돋움"/>
              </a:rPr>
              <a:t>구분은 이번 학기에 구현</a:t>
            </a:r>
            <a:endParaRPr xmlns:mc="http://schemas.openxmlformats.org/markup-compatibility/2006" xmlns:hp="http://schemas.haansoft.com/office/presentation/8.0" sz="1000" i="0" u="none" strike="noStrike" baseline="0" mc:Ignorable="hp" hp:hslEmbossed="0">
              <a:solidFill>
                <a:schemeClr val="dk1"/>
              </a:solidFill>
              <a:latin typeface="함초롬돋움"/>
              <a:ea typeface="함초롬돋움"/>
              <a:cs typeface="함초롬돋움"/>
            </a:endParaRPr>
          </a:p>
          <a:p>
            <a:pPr marL="190500" lv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000">
              <a:solidFill>
                <a:schemeClr val="dk1"/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13" name="object 9"/>
          <p:cNvSpPr txBox="1"/>
          <p:nvPr/>
        </p:nvSpPr>
        <p:spPr>
          <a:xfrm>
            <a:off x="6858000" y="2579242"/>
            <a:ext cx="3387725" cy="240158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269875" lvl="0" algn="ctr">
              <a:lnSpc>
                <a:spcPct val="100000"/>
              </a:lnSpc>
              <a:spcBef>
                <a:spcPts val="100"/>
              </a:spcBef>
              <a:defRPr/>
            </a:pPr>
            <a:r>
              <a:rPr lang="ko-KR" altLang="en-US" sz="1500" b="1">
                <a:solidFill>
                  <a:srgbClr val="eb5800"/>
                </a:solidFill>
                <a:latin typeface="함초롬돋움"/>
                <a:cs typeface="함초롬돋움"/>
              </a:rPr>
              <a:t>선정된 아이디어</a:t>
            </a:r>
            <a:endParaRPr lang="ko-KR" altLang="en-US" sz="1500" b="1">
              <a:solidFill>
                <a:srgbClr val="eb5800"/>
              </a:solidFill>
              <a:latin typeface="함초롬돋움"/>
              <a:cs typeface="함초롬돋움"/>
            </a:endParaRPr>
          </a:p>
        </p:txBody>
      </p:sp>
      <p:pic>
        <p:nvPicPr>
          <p:cNvPr id="14" name="object 7"/>
          <p:cNvPicPr/>
          <p:nvPr/>
        </p:nvPicPr>
        <p:blipFill rotWithShape="1">
          <a:blip r:embed="rId3"/>
          <a:stretch>
            <a:fillRect/>
          </a:stretch>
        </p:blipFill>
        <p:spPr>
          <a:xfrm>
            <a:off x="7616678" y="2514600"/>
            <a:ext cx="266847" cy="342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439456"/>
      </p:ext>
    </p:extLst>
  </p:cSld>
  <p:clrMapOvr>
    <a:masterClrMapping/>
  </p:clrMapOvr>
</p:sld>
</file>

<file path=ppt/slides/slide2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4" name="Google Shape;234;p21"/>
          <p:cNvGraphicFramePr/>
          <p:nvPr/>
        </p:nvGraphicFramePr>
        <p:xfrm>
          <a:off x="609862" y="1359660"/>
          <a:ext cx="10972275" cy="4507740"/>
        </p:xfrm>
        <a:graphic>
          <a:graphicData uri="http://schemas.openxmlformats.org/drawingml/2006/table">
            <a:tbl>
              <a:tblPr>
                <a:noFill/>
                <a:tableStyleId>{9161C02A-DB79-4F5A-AA78-7D26761C2659}</a:tableStyleId>
              </a:tblPr>
              <a:tblGrid>
                <a:gridCol w="2743200"/>
                <a:gridCol w="4937125"/>
                <a:gridCol w="1645900"/>
                <a:gridCol w="1646050"/>
              </a:tblGrid>
              <a:tr h="301500">
                <a:tc>
                  <a:txBody>
                    <a:bodyPr vert="horz" lIns="63500" tIns="25400" rIns="63500" bIns="25400" anchor="ctr" anchorCtr="0"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050" b="1" i="0" u="non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기능</a:t>
                      </a:r>
                      <a:r>
                        <a:rPr lang="ko-KR" altLang="en-US" sz="1050" b="1" i="0" u="non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altLang="ko-KR" sz="1050" b="1" i="0" u="non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/</a:t>
                      </a:r>
                      <a:r>
                        <a:rPr lang="ko-KR" altLang="en-US" sz="1050" b="1" i="0" u="non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부품</a:t>
                      </a:r>
                      <a:endParaRPr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vert="horz" lIns="63500" tIns="25400" rIns="63500" bIns="25400" anchor="ctr" anchorCtr="0"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050" b="1" i="0" u="non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구현 및 계획 사항</a:t>
                      </a:r>
                      <a:endParaRPr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vert="horz" lIns="63500" tIns="25400" rIns="63500" bIns="25400" anchor="ctr" anchorCtr="0"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050" b="1" i="0" u="non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설계 난이도</a:t>
                      </a:r>
                      <a:endParaRPr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vert="horz" lIns="63500" tIns="25400" rIns="63500" bIns="25400" anchor="ctr" anchorCtr="0"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050" b="1" i="0" u="non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구현 난이도</a:t>
                      </a:r>
                      <a:endParaRPr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f172a"/>
                    </a:solidFill>
                  </a:tcPr>
                </a:tc>
              </a:tr>
              <a:tr h="30150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000" b="1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소셜 로그인</a:t>
                      </a:r>
                      <a:endParaRPr xmlns:mc="http://schemas.openxmlformats.org/markup-compatibility/2006" xmlns:hp="http://schemas.haansoft.com/office/presentation/8.0" sz="1000" b="1" i="0" u="none" strike="noStrike" baseline="0" mc:Ignorable="hp" hp:hslEmbossed="0">
                        <a:solidFill>
                          <a:srgbClr val="000000"/>
                        </a:solidFill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</a:rPr>
                        <a:t>[</a:t>
                      </a:r>
                      <a:r>
                        <a:rPr xmlns:mc="http://schemas.openxmlformats.org/markup-compatibility/2006" xmlns:hp="http://schemas.haansoft.com/office/presentation/8.0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구현</a:t>
                      </a:r>
                      <a:r>
                        <a:rPr xmlns:mc="http://schemas.openxmlformats.org/markup-compatibility/2006" xmlns:hp="http://schemas.haansoft.com/office/presentation/8.0" lang="EN-US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</a:rPr>
                        <a:t>]</a:t>
                      </a:r>
                      <a:r>
                        <a:rPr xmlns:mc="http://schemas.openxmlformats.org/markup-compatibility/2006" xmlns:hp="http://schemas.haansoft.com/office/presentation/8.0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카카오 또는 네이버 등의 소셜 로그인 기능을 제공해야 한다</a:t>
                      </a:r>
                      <a:r>
                        <a:rPr xmlns:mc="http://schemas.openxmlformats.org/markup-compatibility/2006" xmlns:hp="http://schemas.haansoft.com/office/presentation/8.0" lang="EN-US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</a:rPr>
                        <a:t>.</a:t>
                      </a:r>
                      <a:endParaRPr xmlns:mc="http://schemas.openxmlformats.org/markup-compatibility/2006" xmlns:hp="http://schemas.haansoft.com/office/presentation/8.0" lang="EN-US" sz="1000" b="0" i="0" u="none" strike="noStrike" baseline="0" mc:Ignorable="hp" hp:hslEmbossed="0">
                        <a:solidFill>
                          <a:srgbClr val="000000"/>
                        </a:solidFill>
                        <a:latin typeface="굴림"/>
                        <a:ea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중</a:t>
                      </a:r>
                      <a:endParaRPr xmlns:mc="http://schemas.openxmlformats.org/markup-compatibility/2006" xmlns:hp="http://schemas.haansoft.com/office/presentation/8.0" sz="1000" b="0" i="0" u="none" strike="noStrike" baseline="0" mc:Ignorable="hp" hp:hslEmbossed="0">
                        <a:solidFill>
                          <a:srgbClr val="000000"/>
                        </a:solidFill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중</a:t>
                      </a:r>
                      <a:endParaRPr xmlns:mc="http://schemas.openxmlformats.org/markup-compatibility/2006" xmlns:hp="http://schemas.haansoft.com/office/presentation/8.0" sz="1000" b="0" i="0" u="none" strike="noStrike" baseline="0" mc:Ignorable="hp" hp:hslEmbossed="0">
                        <a:solidFill>
                          <a:srgbClr val="000000"/>
                        </a:solidFill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/>
                    </a:solidFill>
                  </a:tcPr>
                </a:tc>
              </a:tr>
              <a:tr h="30150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000" b="1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로그아웃</a:t>
                      </a:r>
                      <a:endParaRPr xmlns:mc="http://schemas.openxmlformats.org/markup-compatibility/2006" xmlns:hp="http://schemas.haansoft.com/office/presentation/8.0" sz="1000" b="1" i="0" u="none" strike="noStrike" baseline="0" mc:Ignorable="hp" hp:hslEmbossed="0">
                        <a:solidFill>
                          <a:srgbClr val="000000"/>
                        </a:solidFill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</a:rPr>
                        <a:t>[</a:t>
                      </a:r>
                      <a:r>
                        <a:rPr xmlns:mc="http://schemas.openxmlformats.org/markup-compatibility/2006" xmlns:hp="http://schemas.haansoft.com/office/presentation/8.0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구현</a:t>
                      </a:r>
                      <a:r>
                        <a:rPr xmlns:mc="http://schemas.openxmlformats.org/markup-compatibility/2006" xmlns:hp="http://schemas.haansoft.com/office/presentation/8.0" lang="EN-US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</a:rPr>
                        <a:t>]</a:t>
                      </a:r>
                      <a:r>
                        <a:rPr xmlns:mc="http://schemas.openxmlformats.org/markup-compatibility/2006" xmlns:hp="http://schemas.haansoft.com/office/presentation/8.0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사용자가 현재 계정에서 로그아웃할 수 있어야 한다</a:t>
                      </a:r>
                      <a:r>
                        <a:rPr xmlns:mc="http://schemas.openxmlformats.org/markup-compatibility/2006" xmlns:hp="http://schemas.haansoft.com/office/presentation/8.0" lang="EN-US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</a:rPr>
                        <a:t>.</a:t>
                      </a:r>
                      <a:endParaRPr xmlns:mc="http://schemas.openxmlformats.org/markup-compatibility/2006" xmlns:hp="http://schemas.haansoft.com/office/presentation/8.0" lang="EN-US" sz="1000" b="0" i="0" u="none" strike="noStrike" baseline="0" mc:Ignorable="hp" hp:hslEmbossed="0">
                        <a:solidFill>
                          <a:srgbClr val="000000"/>
                        </a:solidFill>
                        <a:latin typeface="굴림"/>
                        <a:ea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하</a:t>
                      </a:r>
                      <a:endParaRPr xmlns:mc="http://schemas.openxmlformats.org/markup-compatibility/2006" xmlns:hp="http://schemas.haansoft.com/office/presentation/8.0" sz="1000" b="0" i="0" u="none" strike="noStrike" baseline="0" mc:Ignorable="hp" hp:hslEmbossed="0">
                        <a:solidFill>
                          <a:srgbClr val="000000"/>
                        </a:solidFill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하</a:t>
                      </a:r>
                      <a:endParaRPr xmlns:mc="http://schemas.openxmlformats.org/markup-compatibility/2006" xmlns:hp="http://schemas.haansoft.com/office/presentation/8.0" sz="1000" b="0" i="0" u="none" strike="noStrike" baseline="0" mc:Ignorable="hp" hp:hslEmbossed="0">
                        <a:solidFill>
                          <a:srgbClr val="000000"/>
                        </a:solidFill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0150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000" b="1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프로필</a:t>
                      </a:r>
                      <a:endParaRPr xmlns:mc="http://schemas.openxmlformats.org/markup-compatibility/2006" xmlns:hp="http://schemas.haansoft.com/office/presentation/8.0" sz="1000" b="1" i="0" u="none" strike="noStrike" baseline="0" mc:Ignorable="hp" hp:hslEmbossed="0">
                        <a:solidFill>
                          <a:srgbClr val="000000"/>
                        </a:solidFill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</a:rPr>
                        <a:t>[</a:t>
                      </a:r>
                      <a:r>
                        <a:rPr xmlns:mc="http://schemas.openxmlformats.org/markup-compatibility/2006" xmlns:hp="http://schemas.haansoft.com/office/presentation/8.0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구현</a:t>
                      </a:r>
                      <a:r>
                        <a:rPr xmlns:mc="http://schemas.openxmlformats.org/markup-compatibility/2006" xmlns:hp="http://schemas.haansoft.com/office/presentation/8.0" lang="EN-US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</a:rPr>
                        <a:t>]</a:t>
                      </a:r>
                      <a:r>
                        <a:rPr xmlns:mc="http://schemas.openxmlformats.org/markup-compatibility/2006" xmlns:hp="http://schemas.haansoft.com/office/presentation/8.0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사용자가 자신의 프로필 정보를 확인하고 수정할 수 있어야 한다</a:t>
                      </a:r>
                      <a:r>
                        <a:rPr xmlns:mc="http://schemas.openxmlformats.org/markup-compatibility/2006" xmlns:hp="http://schemas.haansoft.com/office/presentation/8.0" lang="EN-US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</a:rPr>
                        <a:t>. </a:t>
                      </a:r>
                      <a:endParaRPr xmlns:mc="http://schemas.openxmlformats.org/markup-compatibility/2006" xmlns:hp="http://schemas.haansoft.com/office/presentation/8.0" lang="EN-US" sz="1000" b="0" i="0" u="none" strike="noStrike" baseline="0" mc:Ignorable="hp" hp:hslEmbossed="0">
                        <a:solidFill>
                          <a:srgbClr val="000000"/>
                        </a:solidFill>
                        <a:latin typeface="굴림"/>
                        <a:ea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하</a:t>
                      </a:r>
                      <a:endParaRPr xmlns:mc="http://schemas.openxmlformats.org/markup-compatibility/2006" xmlns:hp="http://schemas.haansoft.com/office/presentation/8.0" sz="1000" b="0" i="0" u="none" strike="noStrike" baseline="0" mc:Ignorable="hp" hp:hslEmbossed="0">
                        <a:solidFill>
                          <a:srgbClr val="000000"/>
                        </a:solidFill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하</a:t>
                      </a:r>
                      <a:endParaRPr xmlns:mc="http://schemas.openxmlformats.org/markup-compatibility/2006" xmlns:hp="http://schemas.haansoft.com/office/presentation/8.0" sz="1000" b="0" i="0" u="none" strike="noStrike" baseline="0" mc:Ignorable="hp" hp:hslEmbossed="0">
                        <a:solidFill>
                          <a:srgbClr val="000000"/>
                        </a:solidFill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30150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000" b="1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시간표 입력</a:t>
                      </a:r>
                      <a:r>
                        <a:rPr xmlns:mc="http://schemas.openxmlformats.org/markup-compatibility/2006" xmlns:hp="http://schemas.haansoft.com/office/presentation/8.0" lang="EN-US" sz="1000" b="1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</a:rPr>
                        <a:t>(</a:t>
                      </a:r>
                      <a:r>
                        <a:rPr xmlns:mc="http://schemas.openxmlformats.org/markup-compatibility/2006" xmlns:hp="http://schemas.haansoft.com/office/presentation/8.0" sz="1000" b="1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자동</a:t>
                      </a:r>
                      <a:r>
                        <a:rPr xmlns:mc="http://schemas.openxmlformats.org/markup-compatibility/2006" xmlns:hp="http://schemas.haansoft.com/office/presentation/8.0" lang="EN-US" sz="1000" b="1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</a:rPr>
                        <a:t>/</a:t>
                      </a:r>
                      <a:r>
                        <a:rPr xmlns:mc="http://schemas.openxmlformats.org/markup-compatibility/2006" xmlns:hp="http://schemas.haansoft.com/office/presentation/8.0" sz="1000" b="1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수기</a:t>
                      </a:r>
                      <a:r>
                        <a:rPr xmlns:mc="http://schemas.openxmlformats.org/markup-compatibility/2006" xmlns:hp="http://schemas.haansoft.com/office/presentation/8.0" lang="EN-US" sz="1000" b="1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</a:rPr>
                        <a:t>)</a:t>
                      </a:r>
                      <a:endParaRPr xmlns:mc="http://schemas.openxmlformats.org/markup-compatibility/2006" xmlns:hp="http://schemas.haansoft.com/office/presentation/8.0" lang="EN-US" sz="1000" b="1" i="0" u="none" strike="noStrike" baseline="0" mc:Ignorable="hp" hp:hslEmbossed="0">
                        <a:solidFill>
                          <a:srgbClr val="000000"/>
                        </a:solidFill>
                        <a:latin typeface="굴림"/>
                        <a:ea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</a:rPr>
                        <a:t>[</a:t>
                      </a:r>
                      <a:r>
                        <a:rPr xmlns:mc="http://schemas.openxmlformats.org/markup-compatibility/2006" xmlns:hp="http://schemas.haansoft.com/office/presentation/8.0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구현</a:t>
                      </a:r>
                      <a:r>
                        <a:rPr xmlns:mc="http://schemas.openxmlformats.org/markup-compatibility/2006" xmlns:hp="http://schemas.haansoft.com/office/presentation/8.0" lang="EN-US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</a:rPr>
                        <a:t>]</a:t>
                      </a:r>
                      <a:r>
                        <a:rPr xmlns:mc="http://schemas.openxmlformats.org/markup-compatibility/2006" xmlns:hp="http://schemas.haansoft.com/office/presentation/8.0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사용자가 시간표를 가져오고 직접 수정할 수 있어야 한다</a:t>
                      </a:r>
                      <a:r>
                        <a:rPr xmlns:mc="http://schemas.openxmlformats.org/markup-compatibility/2006" xmlns:hp="http://schemas.haansoft.com/office/presentation/8.0" lang="EN-US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</a:rPr>
                        <a:t>.</a:t>
                      </a:r>
                      <a:endParaRPr xmlns:mc="http://schemas.openxmlformats.org/markup-compatibility/2006" xmlns:hp="http://schemas.haansoft.com/office/presentation/8.0" lang="EN-US" sz="1000" b="0" i="0" u="none" strike="noStrike" baseline="0" mc:Ignorable="hp" hp:hslEmbossed="0">
                        <a:solidFill>
                          <a:srgbClr val="000000"/>
                        </a:solidFill>
                        <a:latin typeface="굴림"/>
                        <a:ea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중</a:t>
                      </a:r>
                      <a:endParaRPr xmlns:mc="http://schemas.openxmlformats.org/markup-compatibility/2006" xmlns:hp="http://schemas.haansoft.com/office/presentation/8.0" sz="1000" b="0" i="0" u="none" strike="noStrike" baseline="0" mc:Ignorable="hp" hp:hslEmbossed="0">
                        <a:solidFill>
                          <a:srgbClr val="000000"/>
                        </a:solidFill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중</a:t>
                      </a:r>
                      <a:endParaRPr xmlns:mc="http://schemas.openxmlformats.org/markup-compatibility/2006" xmlns:hp="http://schemas.haansoft.com/office/presentation/8.0" sz="1000" b="0" i="0" u="none" strike="noStrike" baseline="0" mc:Ignorable="hp" hp:hslEmbossed="0">
                        <a:solidFill>
                          <a:srgbClr val="000000"/>
                        </a:solidFill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0150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000" b="1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시간표 자동 매칭</a:t>
                      </a:r>
                      <a:endParaRPr xmlns:mc="http://schemas.openxmlformats.org/markup-compatibility/2006" xmlns:hp="http://schemas.haansoft.com/office/presentation/8.0" sz="1000" b="1" i="0" u="none" strike="noStrike" baseline="0" mc:Ignorable="hp" hp:hslEmbossed="0">
                        <a:solidFill>
                          <a:srgbClr val="000000"/>
                        </a:solidFill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</a:rPr>
                        <a:t>[</a:t>
                      </a:r>
                      <a:r>
                        <a:rPr xmlns:mc="http://schemas.openxmlformats.org/markup-compatibility/2006" xmlns:hp="http://schemas.haansoft.com/office/presentation/8.0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구현</a:t>
                      </a:r>
                      <a:r>
                        <a:rPr xmlns:mc="http://schemas.openxmlformats.org/markup-compatibility/2006" xmlns:hp="http://schemas.haansoft.com/office/presentation/8.0" lang="EN-US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</a:rPr>
                        <a:t>]</a:t>
                      </a:r>
                      <a:r>
                        <a:rPr xmlns:mc="http://schemas.openxmlformats.org/markup-compatibility/2006" xmlns:hp="http://schemas.haansoft.com/office/presentation/8.0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각 사용자가 입력한 시간표를 기반으로 가능한 시간을 자동으로 매칭해야 한다</a:t>
                      </a:r>
                      <a:r>
                        <a:rPr xmlns:mc="http://schemas.openxmlformats.org/markup-compatibility/2006" xmlns:hp="http://schemas.haansoft.com/office/presentation/8.0" lang="EN-US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</a:rPr>
                        <a:t>.</a:t>
                      </a:r>
                      <a:endParaRPr xmlns:mc="http://schemas.openxmlformats.org/markup-compatibility/2006" xmlns:hp="http://schemas.haansoft.com/office/presentation/8.0" lang="EN-US" sz="1000" b="0" i="0" u="none" strike="noStrike" baseline="0" mc:Ignorable="hp" hp:hslEmbossed="0">
                        <a:solidFill>
                          <a:srgbClr val="000000"/>
                        </a:solidFill>
                        <a:latin typeface="굴림"/>
                        <a:ea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상</a:t>
                      </a:r>
                      <a:endParaRPr xmlns:mc="http://schemas.openxmlformats.org/markup-compatibility/2006" xmlns:hp="http://schemas.haansoft.com/office/presentation/8.0" sz="1000" b="0" i="0" u="none" strike="noStrike" baseline="0" mc:Ignorable="hp" hp:hslEmbossed="0">
                        <a:solidFill>
                          <a:srgbClr val="000000"/>
                        </a:solidFill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상</a:t>
                      </a:r>
                      <a:endParaRPr xmlns:mc="http://schemas.openxmlformats.org/markup-compatibility/2006" xmlns:hp="http://schemas.haansoft.com/office/presentation/8.0" sz="1000" b="0" i="0" u="none" strike="noStrike" baseline="0" mc:Ignorable="hp" hp:hslEmbossed="0">
                        <a:solidFill>
                          <a:srgbClr val="000000"/>
                        </a:solidFill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30150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000" b="1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참석률 시각화</a:t>
                      </a:r>
                      <a:endParaRPr xmlns:mc="http://schemas.openxmlformats.org/markup-compatibility/2006" xmlns:hp="http://schemas.haansoft.com/office/presentation/8.0" sz="1000" b="1" i="0" u="none" strike="noStrike" baseline="0" mc:Ignorable="hp" hp:hslEmbossed="0">
                        <a:solidFill>
                          <a:srgbClr val="000000"/>
                        </a:solidFill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</a:rPr>
                        <a:t>[</a:t>
                      </a:r>
                      <a:r>
                        <a:rPr xmlns:mc="http://schemas.openxmlformats.org/markup-compatibility/2006" xmlns:hp="http://schemas.haansoft.com/office/presentation/8.0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구현</a:t>
                      </a:r>
                      <a:r>
                        <a:rPr xmlns:mc="http://schemas.openxmlformats.org/markup-compatibility/2006" xmlns:hp="http://schemas.haansoft.com/office/presentation/8.0" lang="EN-US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</a:rPr>
                        <a:t>]</a:t>
                      </a:r>
                      <a:r>
                        <a:rPr xmlns:mc="http://schemas.openxmlformats.org/markup-compatibility/2006" xmlns:hp="http://schemas.haansoft.com/office/presentation/8.0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모임 구성원의 시간표와 가능한 시간을 시각적으로 확인할 수 있어야 한다</a:t>
                      </a:r>
                      <a:r>
                        <a:rPr xmlns:mc="http://schemas.openxmlformats.org/markup-compatibility/2006" xmlns:hp="http://schemas.haansoft.com/office/presentation/8.0" lang="EN-US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</a:rPr>
                        <a:t>. </a:t>
                      </a:r>
                      <a:endParaRPr xmlns:mc="http://schemas.openxmlformats.org/markup-compatibility/2006" xmlns:hp="http://schemas.haansoft.com/office/presentation/8.0" lang="EN-US" sz="1000" b="0" i="0" u="none" strike="noStrike" baseline="0" mc:Ignorable="hp" hp:hslEmbossed="0">
                        <a:solidFill>
                          <a:srgbClr val="000000"/>
                        </a:solidFill>
                        <a:latin typeface="굴림"/>
                        <a:ea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중</a:t>
                      </a:r>
                      <a:endParaRPr xmlns:mc="http://schemas.openxmlformats.org/markup-compatibility/2006" xmlns:hp="http://schemas.haansoft.com/office/presentation/8.0" sz="1000" b="0" i="0" u="none" strike="noStrike" baseline="0" mc:Ignorable="hp" hp:hslEmbossed="0">
                        <a:solidFill>
                          <a:srgbClr val="000000"/>
                        </a:solidFill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중</a:t>
                      </a:r>
                      <a:endParaRPr xmlns:mc="http://schemas.openxmlformats.org/markup-compatibility/2006" xmlns:hp="http://schemas.haansoft.com/office/presentation/8.0" sz="1000" b="0" i="0" u="none" strike="noStrike" baseline="0" mc:Ignorable="hp" hp:hslEmbossed="0">
                        <a:solidFill>
                          <a:srgbClr val="000000"/>
                        </a:solidFill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0150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000" b="1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차선책 안내</a:t>
                      </a:r>
                      <a:endParaRPr xmlns:mc="http://schemas.openxmlformats.org/markup-compatibility/2006" xmlns:hp="http://schemas.haansoft.com/office/presentation/8.0" sz="1000" b="1" i="0" u="none" strike="noStrike" baseline="0" mc:Ignorable="hp" hp:hslEmbossed="0">
                        <a:solidFill>
                          <a:srgbClr val="000000"/>
                        </a:solidFill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</a:rPr>
                        <a:t>[</a:t>
                      </a:r>
                      <a:r>
                        <a:rPr xmlns:mc="http://schemas.openxmlformats.org/markup-compatibility/2006" xmlns:hp="http://schemas.haansoft.com/office/presentation/8.0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향후</a:t>
                      </a:r>
                      <a:r>
                        <a:rPr xmlns:mc="http://schemas.openxmlformats.org/markup-compatibility/2006" xmlns:hp="http://schemas.haansoft.com/office/presentation/8.0" lang="EN-US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</a:rPr>
                        <a:t>]</a:t>
                      </a:r>
                      <a:r>
                        <a:rPr xmlns:mc="http://schemas.openxmlformats.org/markup-compatibility/2006" xmlns:hp="http://schemas.haansoft.com/office/presentation/8.0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전원 참석 가능한 시간이 없을 때 대체 가능한 차선책을 안내해야 한다</a:t>
                      </a:r>
                      <a:r>
                        <a:rPr xmlns:mc="http://schemas.openxmlformats.org/markup-compatibility/2006" xmlns:hp="http://schemas.haansoft.com/office/presentation/8.0" lang="EN-US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</a:rPr>
                        <a:t>. </a:t>
                      </a:r>
                      <a:endParaRPr xmlns:mc="http://schemas.openxmlformats.org/markup-compatibility/2006" xmlns:hp="http://schemas.haansoft.com/office/presentation/8.0" lang="EN-US" sz="1000" b="0" i="0" u="none" strike="noStrike" baseline="0" mc:Ignorable="hp" hp:hslEmbossed="0">
                        <a:solidFill>
                          <a:srgbClr val="000000"/>
                        </a:solidFill>
                        <a:latin typeface="굴림"/>
                        <a:ea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중</a:t>
                      </a:r>
                      <a:endParaRPr xmlns:mc="http://schemas.openxmlformats.org/markup-compatibility/2006" xmlns:hp="http://schemas.haansoft.com/office/presentation/8.0" sz="1000" b="0" i="0" u="none" strike="noStrike" baseline="0" mc:Ignorable="hp" hp:hslEmbossed="0">
                        <a:solidFill>
                          <a:srgbClr val="000000"/>
                        </a:solidFill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중</a:t>
                      </a:r>
                      <a:endParaRPr xmlns:mc="http://schemas.openxmlformats.org/markup-compatibility/2006" xmlns:hp="http://schemas.haansoft.com/office/presentation/8.0" sz="1000" b="0" i="0" u="none" strike="noStrike" baseline="0" mc:Ignorable="hp" hp:hslEmbossed="0">
                        <a:solidFill>
                          <a:srgbClr val="000000"/>
                        </a:solidFill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/>
                    </a:solidFill>
                  </a:tcPr>
                </a:tc>
              </a:tr>
              <a:tr h="30150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000" b="1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선호 시간 투표</a:t>
                      </a:r>
                      <a:endParaRPr xmlns:mc="http://schemas.openxmlformats.org/markup-compatibility/2006" xmlns:hp="http://schemas.haansoft.com/office/presentation/8.0" sz="1000" b="1" i="0" u="none" strike="noStrike" baseline="0" mc:Ignorable="hp" hp:hslEmbossed="0">
                        <a:solidFill>
                          <a:srgbClr val="000000"/>
                        </a:solidFill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</a:rPr>
                        <a:t>[</a:t>
                      </a:r>
                      <a:r>
                        <a:rPr xmlns:mc="http://schemas.openxmlformats.org/markup-compatibility/2006" xmlns:hp="http://schemas.haansoft.com/office/presentation/8.0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설계</a:t>
                      </a:r>
                      <a:r>
                        <a:rPr xmlns:mc="http://schemas.openxmlformats.org/markup-compatibility/2006" xmlns:hp="http://schemas.haansoft.com/office/presentation/8.0" lang="EN-US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</a:rPr>
                        <a:t>]</a:t>
                      </a:r>
                      <a:r>
                        <a:rPr xmlns:mc="http://schemas.openxmlformats.org/markup-compatibility/2006" xmlns:hp="http://schemas.haansoft.com/office/presentation/8.0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모임 구성원이 원하는 시간을 선택하여 선호 시간에 투표할 수 있어야 한다</a:t>
                      </a:r>
                      <a:r>
                        <a:rPr xmlns:mc="http://schemas.openxmlformats.org/markup-compatibility/2006" xmlns:hp="http://schemas.haansoft.com/office/presentation/8.0" lang="EN-US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</a:rPr>
                        <a:t>.</a:t>
                      </a:r>
                      <a:endParaRPr xmlns:mc="http://schemas.openxmlformats.org/markup-compatibility/2006" xmlns:hp="http://schemas.haansoft.com/office/presentation/8.0" lang="EN-US" sz="1000" b="0" i="0" u="none" strike="noStrike" baseline="0" mc:Ignorable="hp" hp:hslEmbossed="0">
                        <a:solidFill>
                          <a:srgbClr val="000000"/>
                        </a:solidFill>
                        <a:latin typeface="굴림"/>
                        <a:ea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중</a:t>
                      </a:r>
                      <a:endParaRPr xmlns:mc="http://schemas.openxmlformats.org/markup-compatibility/2006" xmlns:hp="http://schemas.haansoft.com/office/presentation/8.0" sz="1000" b="0" i="0" u="none" strike="noStrike" baseline="0" mc:Ignorable="hp" hp:hslEmbossed="0">
                        <a:solidFill>
                          <a:srgbClr val="000000"/>
                        </a:solidFill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중</a:t>
                      </a:r>
                      <a:endParaRPr xmlns:mc="http://schemas.openxmlformats.org/markup-compatibility/2006" xmlns:hp="http://schemas.haansoft.com/office/presentation/8.0" sz="1000" b="0" i="0" u="none" strike="noStrike" baseline="0" mc:Ignorable="hp" hp:hslEmbossed="0">
                        <a:solidFill>
                          <a:srgbClr val="000000"/>
                        </a:solidFill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0150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000" b="1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메모</a:t>
                      </a:r>
                      <a:endParaRPr xmlns:mc="http://schemas.openxmlformats.org/markup-compatibility/2006" xmlns:hp="http://schemas.haansoft.com/office/presentation/8.0" sz="1000" b="1" i="0" u="none" strike="noStrike" baseline="0" mc:Ignorable="hp" hp:hslEmbossed="0">
                        <a:solidFill>
                          <a:srgbClr val="000000"/>
                        </a:solidFill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</a:rPr>
                        <a:t>[</a:t>
                      </a:r>
                      <a:r>
                        <a:rPr xmlns:mc="http://schemas.openxmlformats.org/markup-compatibility/2006" xmlns:hp="http://schemas.haansoft.com/office/presentation/8.0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구현</a:t>
                      </a:r>
                      <a:r>
                        <a:rPr xmlns:mc="http://schemas.openxmlformats.org/markup-compatibility/2006" xmlns:hp="http://schemas.haansoft.com/office/presentation/8.0" lang="EN-US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</a:rPr>
                        <a:t>]</a:t>
                      </a:r>
                      <a:r>
                        <a:rPr xmlns:mc="http://schemas.openxmlformats.org/markup-compatibility/2006" xmlns:hp="http://schemas.haansoft.com/office/presentation/8.0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사용자가 모임과 관련된 메모를 작성하고 확인할 수 있어야 한다</a:t>
                      </a:r>
                      <a:r>
                        <a:rPr xmlns:mc="http://schemas.openxmlformats.org/markup-compatibility/2006" xmlns:hp="http://schemas.haansoft.com/office/presentation/8.0" lang="EN-US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</a:rPr>
                        <a:t>. </a:t>
                      </a:r>
                      <a:endParaRPr xmlns:mc="http://schemas.openxmlformats.org/markup-compatibility/2006" xmlns:hp="http://schemas.haansoft.com/office/presentation/8.0" lang="EN-US" sz="1000" b="0" i="0" u="none" strike="noStrike" baseline="0" mc:Ignorable="hp" hp:hslEmbossed="0">
                        <a:solidFill>
                          <a:srgbClr val="000000"/>
                        </a:solidFill>
                        <a:latin typeface="굴림"/>
                        <a:ea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하</a:t>
                      </a:r>
                      <a:endParaRPr xmlns:mc="http://schemas.openxmlformats.org/markup-compatibility/2006" xmlns:hp="http://schemas.haansoft.com/office/presentation/8.0" sz="1000" b="0" i="0" u="none" strike="noStrike" baseline="0" mc:Ignorable="hp" hp:hslEmbossed="0">
                        <a:solidFill>
                          <a:srgbClr val="000000"/>
                        </a:solidFill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하</a:t>
                      </a:r>
                      <a:endParaRPr xmlns:mc="http://schemas.openxmlformats.org/markup-compatibility/2006" xmlns:hp="http://schemas.haansoft.com/office/presentation/8.0" sz="1000" b="0" i="0" u="none" strike="noStrike" baseline="0" mc:Ignorable="hp" hp:hslEmbossed="0">
                        <a:solidFill>
                          <a:srgbClr val="000000"/>
                        </a:solidFill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30150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000" b="1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알림</a:t>
                      </a:r>
                      <a:endParaRPr xmlns:mc="http://schemas.openxmlformats.org/markup-compatibility/2006" xmlns:hp="http://schemas.haansoft.com/office/presentation/8.0" sz="1000" b="1" i="0" u="none" strike="noStrike" baseline="0" mc:Ignorable="hp" hp:hslEmbossed="0">
                        <a:solidFill>
                          <a:srgbClr val="000000"/>
                        </a:solidFill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</a:rPr>
                        <a:t>[</a:t>
                      </a:r>
                      <a:r>
                        <a:rPr xmlns:mc="http://schemas.openxmlformats.org/markup-compatibility/2006" xmlns:hp="http://schemas.haansoft.com/office/presentation/8.0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향후</a:t>
                      </a:r>
                      <a:r>
                        <a:rPr xmlns:mc="http://schemas.openxmlformats.org/markup-compatibility/2006" xmlns:hp="http://schemas.haansoft.com/office/presentation/8.0" lang="EN-US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</a:rPr>
                        <a:t>]</a:t>
                      </a:r>
                      <a:r>
                        <a:rPr xmlns:mc="http://schemas.openxmlformats.org/markup-compatibility/2006" xmlns:hp="http://schemas.haansoft.com/office/presentation/8.0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일정 및 모임과 관련된 알림 기능을 제공해야 한다</a:t>
                      </a:r>
                      <a:r>
                        <a:rPr xmlns:mc="http://schemas.openxmlformats.org/markup-compatibility/2006" xmlns:hp="http://schemas.haansoft.com/office/presentation/8.0" lang="EN-US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</a:rPr>
                        <a:t>.</a:t>
                      </a:r>
                      <a:endParaRPr xmlns:mc="http://schemas.openxmlformats.org/markup-compatibility/2006" xmlns:hp="http://schemas.haansoft.com/office/presentation/8.0" lang="EN-US" sz="1000" b="0" i="0" u="none" strike="noStrike" baseline="0" mc:Ignorable="hp" hp:hslEmbossed="0">
                        <a:solidFill>
                          <a:srgbClr val="000000"/>
                        </a:solidFill>
                        <a:latin typeface="굴림"/>
                        <a:ea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중</a:t>
                      </a:r>
                      <a:endParaRPr xmlns:mc="http://schemas.openxmlformats.org/markup-compatibility/2006" xmlns:hp="http://schemas.haansoft.com/office/presentation/8.0" sz="1000" b="0" i="0" u="none" strike="noStrike" baseline="0" mc:Ignorable="hp" hp:hslEmbossed="0">
                        <a:solidFill>
                          <a:srgbClr val="000000"/>
                        </a:solidFill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상</a:t>
                      </a:r>
                      <a:endParaRPr xmlns:mc="http://schemas.openxmlformats.org/markup-compatibility/2006" xmlns:hp="http://schemas.haansoft.com/office/presentation/8.0" sz="1000" b="0" i="0" u="none" strike="noStrike" baseline="0" mc:Ignorable="hp" hp:hslEmbossed="0">
                        <a:solidFill>
                          <a:srgbClr val="000000"/>
                        </a:solidFill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0150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000" b="1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최종 일정 </a:t>
                      </a:r>
                      <a:endParaRPr xmlns:mc="http://schemas.openxmlformats.org/markup-compatibility/2006" xmlns:hp="http://schemas.haansoft.com/office/presentation/8.0" sz="1000" b="1" i="0" u="none" strike="noStrike" baseline="0" mc:Ignorable="hp" hp:hslEmbossed="0">
                        <a:solidFill>
                          <a:srgbClr val="000000"/>
                        </a:solidFill>
                        <a:latin typeface="굴림"/>
                        <a:ea typeface="굴림"/>
                        <a:cs typeface="굴림"/>
                      </a:endParaRPr>
                    </a:p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000" b="1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확정 및 조회</a:t>
                      </a:r>
                      <a:endParaRPr xmlns:mc="http://schemas.openxmlformats.org/markup-compatibility/2006" xmlns:hp="http://schemas.haansoft.com/office/presentation/8.0" sz="1000" b="1" i="0" u="none" strike="noStrike" baseline="0" mc:Ignorable="hp" hp:hslEmbossed="0">
                        <a:solidFill>
                          <a:srgbClr val="000000"/>
                        </a:solidFill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</a:rPr>
                        <a:t>[</a:t>
                      </a:r>
                      <a:r>
                        <a:rPr xmlns:mc="http://schemas.openxmlformats.org/markup-compatibility/2006" xmlns:hp="http://schemas.haansoft.com/office/presentation/8.0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구현</a:t>
                      </a:r>
                      <a:r>
                        <a:rPr xmlns:mc="http://schemas.openxmlformats.org/markup-compatibility/2006" xmlns:hp="http://schemas.haansoft.com/office/presentation/8.0" lang="EN-US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</a:rPr>
                        <a:t>]</a:t>
                      </a:r>
                      <a:r>
                        <a:rPr xmlns:mc="http://schemas.openxmlformats.org/markup-compatibility/2006" xmlns:hp="http://schemas.haansoft.com/office/presentation/8.0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모임 구성원들의 의견을 반영하여 관리자가 결정한 최종 일정을 모두가 확인할 수 있어야 한다</a:t>
                      </a:r>
                      <a:r>
                        <a:rPr xmlns:mc="http://schemas.openxmlformats.org/markup-compatibility/2006" xmlns:hp="http://schemas.haansoft.com/office/presentation/8.0" lang="EN-US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</a:rPr>
                        <a:t>. </a:t>
                      </a:r>
                      <a:endParaRPr xmlns:mc="http://schemas.openxmlformats.org/markup-compatibility/2006" xmlns:hp="http://schemas.haansoft.com/office/presentation/8.0" lang="EN-US" sz="1000" b="0" i="0" u="none" strike="noStrike" baseline="0" mc:Ignorable="hp" hp:hslEmbossed="0">
                        <a:solidFill>
                          <a:srgbClr val="000000"/>
                        </a:solidFill>
                        <a:latin typeface="굴림"/>
                        <a:ea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하</a:t>
                      </a:r>
                      <a:endParaRPr xmlns:mc="http://schemas.openxmlformats.org/markup-compatibility/2006" xmlns:hp="http://schemas.haansoft.com/office/presentation/8.0" sz="1000" b="0" i="0" u="none" strike="noStrike" baseline="0" mc:Ignorable="hp" hp:hslEmbossed="0">
                        <a:solidFill>
                          <a:srgbClr val="000000"/>
                        </a:solidFill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중</a:t>
                      </a:r>
                      <a:endParaRPr xmlns:mc="http://schemas.openxmlformats.org/markup-compatibility/2006" xmlns:hp="http://schemas.haansoft.com/office/presentation/8.0" sz="1000" b="0" i="0" u="none" strike="noStrike" baseline="0" mc:Ignorable="hp" hp:hslEmbossed="0">
                        <a:solidFill>
                          <a:srgbClr val="000000"/>
                        </a:solidFill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5" name="Google Shape;235;p21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50" b="1" i="0" u="none" strike="noStrike" cap="none">
                <a:solidFill>
                  <a:srgbClr val="ea580c"/>
                </a:solidFill>
                <a:latin typeface="Noto Sans KR"/>
                <a:ea typeface="Noto Sans KR"/>
                <a:cs typeface="Noto Sans KR"/>
                <a:sym typeface="Noto Sans KR"/>
              </a:rPr>
              <a:t>DIFFICULTY ANALYSIS</a:t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609600" y="647700"/>
            <a:ext cx="11582400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100" b="1" i="0" u="none" strike="noStrike" cap="non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기능 설계 및 구현 난이도 분석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03255205"/>
      </p:ext>
    </p:extLst>
  </p:cSld>
  <p:clrMapOvr>
    <a:masterClrMapping/>
  </p:clrMapOvr>
</p:sld>
</file>

<file path=ppt/slides/slide2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4" name="Google Shape;234;p21"/>
          <p:cNvGraphicFramePr/>
          <p:nvPr/>
        </p:nvGraphicFramePr>
        <p:xfrm>
          <a:off x="610497" y="1664460"/>
          <a:ext cx="10971005" cy="3288540"/>
        </p:xfrm>
        <a:graphic>
          <a:graphicData uri="http://schemas.openxmlformats.org/drawingml/2006/table">
            <a:tbl>
              <a:tblPr>
                <a:noFill/>
                <a:tableStyleId>{9161C02A-DB79-4F5A-AA78-7D26761C2659}</a:tableStyleId>
              </a:tblPr>
              <a:tblGrid>
                <a:gridCol w="2743200"/>
                <a:gridCol w="4935855"/>
                <a:gridCol w="1645900"/>
                <a:gridCol w="1646050"/>
              </a:tblGrid>
              <a:tr h="301500">
                <a:tc>
                  <a:txBody>
                    <a:bodyPr vert="horz" lIns="63500" tIns="25400" rIns="63500" bIns="25400" anchor="ctr" anchorCtr="0"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050" b="1" i="0" u="non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기능</a:t>
                      </a:r>
                      <a:r>
                        <a:rPr lang="ko-KR" altLang="en-US" sz="1050" b="1" i="0" u="non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altLang="ko-KR" sz="1050" b="1" i="0" u="non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/</a:t>
                      </a:r>
                      <a:r>
                        <a:rPr lang="ko-KR" altLang="en-US" sz="1050" b="1" i="0" u="non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부품</a:t>
                      </a:r>
                      <a:endParaRPr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vert="horz" lIns="63500" tIns="25400" rIns="63500" bIns="25400" anchor="ctr" anchorCtr="0"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050" b="1" i="0" u="non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구현 및 계획 사항</a:t>
                      </a:r>
                      <a:endParaRPr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vert="horz" lIns="63500" tIns="25400" rIns="63500" bIns="25400" anchor="ctr" anchorCtr="0"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050" b="1" i="0" u="non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설계 난이도</a:t>
                      </a:r>
                      <a:endParaRPr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vert="horz" lIns="63500" tIns="25400" rIns="63500" bIns="25400" anchor="ctr" anchorCtr="0"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1050" b="1" i="0" u="non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구현 난이도</a:t>
                      </a:r>
                      <a:endParaRPr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f172a"/>
                    </a:solidFill>
                  </a:tcPr>
                </a:tc>
              </a:tr>
              <a:tr h="30150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000" b="1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모임 생성</a:t>
                      </a:r>
                      <a:r>
                        <a:rPr xmlns:mc="http://schemas.openxmlformats.org/markup-compatibility/2006" xmlns:hp="http://schemas.haansoft.com/office/presentation/8.0" lang="EN-US" sz="1000" b="1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</a:rPr>
                        <a:t>/</a:t>
                      </a:r>
                      <a:r>
                        <a:rPr xmlns:mc="http://schemas.openxmlformats.org/markup-compatibility/2006" xmlns:hp="http://schemas.haansoft.com/office/presentation/8.0" sz="1000" b="1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수정</a:t>
                      </a:r>
                      <a:r>
                        <a:rPr xmlns:mc="http://schemas.openxmlformats.org/markup-compatibility/2006" xmlns:hp="http://schemas.haansoft.com/office/presentation/8.0" lang="EN-US" sz="1000" b="1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</a:rPr>
                        <a:t>/</a:t>
                      </a:r>
                      <a:r>
                        <a:rPr xmlns:mc="http://schemas.openxmlformats.org/markup-compatibility/2006" xmlns:hp="http://schemas.haansoft.com/office/presentation/8.0" sz="1000" b="1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삭제</a:t>
                      </a:r>
                      <a:endParaRPr xmlns:mc="http://schemas.openxmlformats.org/markup-compatibility/2006" xmlns:hp="http://schemas.haansoft.com/office/presentation/8.0" sz="1000" b="1" i="0" u="none" strike="noStrike" baseline="0" mc:Ignorable="hp" hp:hslEmbossed="0">
                        <a:solidFill>
                          <a:srgbClr val="000000"/>
                        </a:solidFill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</a:rPr>
                        <a:t>[</a:t>
                      </a:r>
                      <a:r>
                        <a:rPr xmlns:mc="http://schemas.openxmlformats.org/markup-compatibility/2006" xmlns:hp="http://schemas.haansoft.com/office/presentation/8.0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구현</a:t>
                      </a:r>
                      <a:r>
                        <a:rPr xmlns:mc="http://schemas.openxmlformats.org/markup-compatibility/2006" xmlns:hp="http://schemas.haansoft.com/office/presentation/8.0" lang="EN-US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</a:rPr>
                        <a:t>]</a:t>
                      </a:r>
                      <a:r>
                        <a:rPr xmlns:mc="http://schemas.openxmlformats.org/markup-compatibility/2006" xmlns:hp="http://schemas.haansoft.com/office/presentation/8.0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사용자가 모임을 생성하고</a:t>
                      </a:r>
                      <a:r>
                        <a:rPr xmlns:mc="http://schemas.openxmlformats.org/markup-compatibility/2006" xmlns:hp="http://schemas.haansoft.com/office/presentation/8.0" lang="EN-US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</a:rPr>
                        <a:t>, </a:t>
                      </a:r>
                      <a:r>
                        <a:rPr xmlns:mc="http://schemas.openxmlformats.org/markup-compatibility/2006" xmlns:hp="http://schemas.haansoft.com/office/presentation/8.0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관리자는 생성된 모임의 정보를 수정하거나 삭제할 수 있어야 한다</a:t>
                      </a:r>
                      <a:r>
                        <a:rPr xmlns:mc="http://schemas.openxmlformats.org/markup-compatibility/2006" xmlns:hp="http://schemas.haansoft.com/office/presentation/8.0" lang="EN-US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</a:rPr>
                        <a:t>. </a:t>
                      </a:r>
                      <a:endParaRPr xmlns:mc="http://schemas.openxmlformats.org/markup-compatibility/2006" xmlns:hp="http://schemas.haansoft.com/office/presentation/8.0" lang="EN-US" sz="1000" b="0" i="0" u="none" strike="noStrike" baseline="0" mc:Ignorable="hp" hp:hslEmbossed="0">
                        <a:solidFill>
                          <a:srgbClr val="000000"/>
                        </a:solidFill>
                        <a:latin typeface="굴림"/>
                        <a:ea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중</a:t>
                      </a:r>
                      <a:endParaRPr xmlns:mc="http://schemas.openxmlformats.org/markup-compatibility/2006" xmlns:hp="http://schemas.haansoft.com/office/presentation/8.0" sz="1000" b="0" i="0" u="none" strike="noStrike" baseline="0" mc:Ignorable="hp" hp:hslEmbossed="0">
                        <a:solidFill>
                          <a:srgbClr val="000000"/>
                        </a:solidFill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중</a:t>
                      </a:r>
                      <a:endParaRPr xmlns:mc="http://schemas.openxmlformats.org/markup-compatibility/2006" xmlns:hp="http://schemas.haansoft.com/office/presentation/8.0" sz="1000" b="0" i="0" u="none" strike="noStrike" baseline="0" mc:Ignorable="hp" hp:hslEmbossed="0">
                        <a:solidFill>
                          <a:srgbClr val="000000"/>
                        </a:solidFill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30150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000" b="1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초대 링크</a:t>
                      </a:r>
                      <a:r>
                        <a:rPr xmlns:mc="http://schemas.openxmlformats.org/markup-compatibility/2006" xmlns:hp="http://schemas.haansoft.com/office/presentation/8.0" lang="EN-US" sz="1000" b="1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</a:rPr>
                        <a:t>/</a:t>
                      </a:r>
                      <a:r>
                        <a:rPr xmlns:mc="http://schemas.openxmlformats.org/markup-compatibility/2006" xmlns:hp="http://schemas.haansoft.com/office/presentation/8.0" sz="1000" b="1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코드 생성</a:t>
                      </a:r>
                      <a:endParaRPr xmlns:mc="http://schemas.openxmlformats.org/markup-compatibility/2006" xmlns:hp="http://schemas.haansoft.com/office/presentation/8.0" sz="1000" b="1" i="0" u="none" strike="noStrike" baseline="0" mc:Ignorable="hp" hp:hslEmbossed="0">
                        <a:solidFill>
                          <a:srgbClr val="000000"/>
                        </a:solidFill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</a:rPr>
                        <a:t>[</a:t>
                      </a:r>
                      <a:r>
                        <a:rPr xmlns:mc="http://schemas.openxmlformats.org/markup-compatibility/2006" xmlns:hp="http://schemas.haansoft.com/office/presentation/8.0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구현</a:t>
                      </a:r>
                      <a:r>
                        <a:rPr xmlns:mc="http://schemas.openxmlformats.org/markup-compatibility/2006" xmlns:hp="http://schemas.haansoft.com/office/presentation/8.0" lang="EN-US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</a:rPr>
                        <a:t>]</a:t>
                      </a:r>
                      <a:r>
                        <a:rPr xmlns:mc="http://schemas.openxmlformats.org/markup-compatibility/2006" xmlns:hp="http://schemas.haansoft.com/office/presentation/8.0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다른 사용자를 모임에 초대할 수 있도록 초대 링크 또는 초대 코드를 생성해야 한다</a:t>
                      </a:r>
                      <a:r>
                        <a:rPr xmlns:mc="http://schemas.openxmlformats.org/markup-compatibility/2006" xmlns:hp="http://schemas.haansoft.com/office/presentation/8.0" lang="EN-US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</a:rPr>
                        <a:t>.</a:t>
                      </a:r>
                      <a:endParaRPr xmlns:mc="http://schemas.openxmlformats.org/markup-compatibility/2006" xmlns:hp="http://schemas.haansoft.com/office/presentation/8.0" lang="EN-US" sz="1000" b="0" i="0" u="none" strike="noStrike" baseline="0" mc:Ignorable="hp" hp:hslEmbossed="0">
                        <a:solidFill>
                          <a:srgbClr val="000000"/>
                        </a:solidFill>
                        <a:latin typeface="굴림"/>
                        <a:ea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중</a:t>
                      </a:r>
                      <a:endParaRPr xmlns:mc="http://schemas.openxmlformats.org/markup-compatibility/2006" xmlns:hp="http://schemas.haansoft.com/office/presentation/8.0" sz="1000" b="0" i="0" u="none" strike="noStrike" baseline="0" mc:Ignorable="hp" hp:hslEmbossed="0">
                        <a:solidFill>
                          <a:srgbClr val="000000"/>
                        </a:solidFill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중</a:t>
                      </a:r>
                      <a:endParaRPr xmlns:mc="http://schemas.openxmlformats.org/markup-compatibility/2006" xmlns:hp="http://schemas.haansoft.com/office/presentation/8.0" sz="1000" b="0" i="0" u="none" strike="noStrike" baseline="0" mc:Ignorable="hp" hp:hslEmbossed="0">
                        <a:solidFill>
                          <a:srgbClr val="000000"/>
                        </a:solidFill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0150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000" b="1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멤버 권한 관리</a:t>
                      </a:r>
                      <a:endParaRPr xmlns:mc="http://schemas.openxmlformats.org/markup-compatibility/2006" xmlns:hp="http://schemas.haansoft.com/office/presentation/8.0" sz="1000" b="1" i="0" u="none" strike="noStrike" baseline="0" mc:Ignorable="hp" hp:hslEmbossed="0">
                        <a:solidFill>
                          <a:srgbClr val="000000"/>
                        </a:solidFill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</a:rPr>
                        <a:t>[</a:t>
                      </a:r>
                      <a:r>
                        <a:rPr xmlns:mc="http://schemas.openxmlformats.org/markup-compatibility/2006" xmlns:hp="http://schemas.haansoft.com/office/presentation/8.0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설계</a:t>
                      </a:r>
                      <a:r>
                        <a:rPr xmlns:mc="http://schemas.openxmlformats.org/markup-compatibility/2006" xmlns:hp="http://schemas.haansoft.com/office/presentation/8.0" lang="EN-US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</a:rPr>
                        <a:t>]</a:t>
                      </a:r>
                      <a:r>
                        <a:rPr xmlns:mc="http://schemas.openxmlformats.org/markup-compatibility/2006" xmlns:hp="http://schemas.haansoft.com/office/presentation/8.0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모임 관리자에게 멤버별 권한을 설정하고 관리할 수 있는 기능을 제공해야 한다</a:t>
                      </a:r>
                      <a:r>
                        <a:rPr xmlns:mc="http://schemas.openxmlformats.org/markup-compatibility/2006" xmlns:hp="http://schemas.haansoft.com/office/presentation/8.0" lang="EN-US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</a:rPr>
                        <a:t>.</a:t>
                      </a:r>
                      <a:endParaRPr xmlns:mc="http://schemas.openxmlformats.org/markup-compatibility/2006" xmlns:hp="http://schemas.haansoft.com/office/presentation/8.0" lang="EN-US" sz="1000" b="0" i="0" u="none" strike="noStrike" baseline="0" mc:Ignorable="hp" hp:hslEmbossed="0">
                        <a:solidFill>
                          <a:srgbClr val="000000"/>
                        </a:solidFill>
                        <a:latin typeface="굴림"/>
                        <a:ea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중</a:t>
                      </a:r>
                      <a:endParaRPr xmlns:mc="http://schemas.openxmlformats.org/markup-compatibility/2006" xmlns:hp="http://schemas.haansoft.com/office/presentation/8.0" sz="1000" b="0" i="0" u="none" strike="noStrike" baseline="0" mc:Ignorable="hp" hp:hslEmbossed="0">
                        <a:solidFill>
                          <a:srgbClr val="000000"/>
                        </a:solidFill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상</a:t>
                      </a:r>
                      <a:endParaRPr xmlns:mc="http://schemas.openxmlformats.org/markup-compatibility/2006" xmlns:hp="http://schemas.haansoft.com/office/presentation/8.0" sz="1000" b="0" i="0" u="none" strike="noStrike" baseline="0" mc:Ignorable="hp" hp:hslEmbossed="0">
                        <a:solidFill>
                          <a:srgbClr val="000000"/>
                        </a:solidFill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30150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000" b="1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모임 탈퇴</a:t>
                      </a:r>
                      <a:endParaRPr xmlns:mc="http://schemas.openxmlformats.org/markup-compatibility/2006" xmlns:hp="http://schemas.haansoft.com/office/presentation/8.0" sz="1000" b="1" i="0" u="none" strike="noStrike" baseline="0" mc:Ignorable="hp" hp:hslEmbossed="0">
                        <a:solidFill>
                          <a:srgbClr val="000000"/>
                        </a:solidFill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</a:rPr>
                        <a:t>[</a:t>
                      </a:r>
                      <a:r>
                        <a:rPr xmlns:mc="http://schemas.openxmlformats.org/markup-compatibility/2006" xmlns:hp="http://schemas.haansoft.com/office/presentation/8.0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구현</a:t>
                      </a:r>
                      <a:r>
                        <a:rPr xmlns:mc="http://schemas.openxmlformats.org/markup-compatibility/2006" xmlns:hp="http://schemas.haansoft.com/office/presentation/8.0" lang="EN-US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</a:rPr>
                        <a:t>] </a:t>
                      </a:r>
                      <a:r>
                        <a:rPr xmlns:mc="http://schemas.openxmlformats.org/markup-compatibility/2006" xmlns:hp="http://schemas.haansoft.com/office/presentation/8.0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사용자가 참여 중인 모임에서 탈퇴할 수 있어야 한다</a:t>
                      </a:r>
                      <a:r>
                        <a:rPr xmlns:mc="http://schemas.openxmlformats.org/markup-compatibility/2006" xmlns:hp="http://schemas.haansoft.com/office/presentation/8.0" lang="EN-US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</a:rPr>
                        <a:t>.</a:t>
                      </a:r>
                      <a:endParaRPr xmlns:mc="http://schemas.openxmlformats.org/markup-compatibility/2006" xmlns:hp="http://schemas.haansoft.com/office/presentation/8.0" lang="EN-US" sz="1000" b="0" i="0" u="none" strike="noStrike" baseline="0" mc:Ignorable="hp" hp:hslEmbossed="0">
                        <a:solidFill>
                          <a:srgbClr val="000000"/>
                        </a:solidFill>
                        <a:latin typeface="굴림"/>
                        <a:ea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하</a:t>
                      </a:r>
                      <a:endParaRPr xmlns:mc="http://schemas.openxmlformats.org/markup-compatibility/2006" xmlns:hp="http://schemas.haansoft.com/office/presentation/8.0" sz="1000" b="0" i="0" u="none" strike="noStrike" baseline="0" mc:Ignorable="hp" hp:hslEmbossed="0">
                        <a:solidFill>
                          <a:srgbClr val="000000"/>
                        </a:solidFill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하</a:t>
                      </a:r>
                      <a:endParaRPr xmlns:mc="http://schemas.openxmlformats.org/markup-compatibility/2006" xmlns:hp="http://schemas.haansoft.com/office/presentation/8.0" sz="1000" b="0" i="0" u="none" strike="noStrike" baseline="0" mc:Ignorable="hp" hp:hslEmbossed="0">
                        <a:solidFill>
                          <a:srgbClr val="000000"/>
                        </a:solidFill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0150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000" b="1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최종 일정 </a:t>
                      </a:r>
                      <a:endParaRPr xmlns:mc="http://schemas.openxmlformats.org/markup-compatibility/2006" xmlns:hp="http://schemas.haansoft.com/office/presentation/8.0" sz="1000" b="1" i="0" u="none" strike="noStrike" baseline="0" mc:Ignorable="hp" hp:hslEmbossed="0">
                        <a:solidFill>
                          <a:srgbClr val="000000"/>
                        </a:solidFill>
                        <a:latin typeface="굴림"/>
                        <a:ea typeface="굴림"/>
                        <a:cs typeface="굴림"/>
                      </a:endParaRPr>
                    </a:p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000" b="1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확정 및 조회</a:t>
                      </a:r>
                      <a:endParaRPr xmlns:mc="http://schemas.openxmlformats.org/markup-compatibility/2006" xmlns:hp="http://schemas.haansoft.com/office/presentation/8.0" sz="1000" b="1" i="0" u="none" strike="noStrike" baseline="0" mc:Ignorable="hp" hp:hslEmbossed="0">
                        <a:solidFill>
                          <a:srgbClr val="000000"/>
                        </a:solidFill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</a:rPr>
                        <a:t>[</a:t>
                      </a:r>
                      <a:r>
                        <a:rPr xmlns:mc="http://schemas.openxmlformats.org/markup-compatibility/2006" xmlns:hp="http://schemas.haansoft.com/office/presentation/8.0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구현</a:t>
                      </a:r>
                      <a:r>
                        <a:rPr xmlns:mc="http://schemas.openxmlformats.org/markup-compatibility/2006" xmlns:hp="http://schemas.haansoft.com/office/presentation/8.0" lang="EN-US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</a:rPr>
                        <a:t>]</a:t>
                      </a:r>
                      <a:r>
                        <a:rPr xmlns:mc="http://schemas.openxmlformats.org/markup-compatibility/2006" xmlns:hp="http://schemas.haansoft.com/office/presentation/8.0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모임 구성원들의 의견을 반영하여 관리자가 결정한 최종 일정을 모두가 확인할 수 있어야 한다</a:t>
                      </a:r>
                      <a:r>
                        <a:rPr xmlns:mc="http://schemas.openxmlformats.org/markup-compatibility/2006" xmlns:hp="http://schemas.haansoft.com/office/presentation/8.0" lang="EN-US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</a:rPr>
                        <a:t>. </a:t>
                      </a:r>
                      <a:endParaRPr xmlns:mc="http://schemas.openxmlformats.org/markup-compatibility/2006" xmlns:hp="http://schemas.haansoft.com/office/presentation/8.0" lang="EN-US" sz="1000" b="0" i="0" u="none" strike="noStrike" baseline="0" mc:Ignorable="hp" hp:hslEmbossed="0">
                        <a:solidFill>
                          <a:srgbClr val="000000"/>
                        </a:solidFill>
                        <a:latin typeface="굴림"/>
                        <a:ea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하</a:t>
                      </a:r>
                      <a:endParaRPr xmlns:mc="http://schemas.openxmlformats.org/markup-compatibility/2006" xmlns:hp="http://schemas.haansoft.com/office/presentation/8.0" sz="1000" b="0" i="0" u="none" strike="noStrike" baseline="0" mc:Ignorable="hp" hp:hslEmbossed="0">
                        <a:solidFill>
                          <a:srgbClr val="000000"/>
                        </a:solidFill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중</a:t>
                      </a:r>
                      <a:endParaRPr xmlns:mc="http://schemas.openxmlformats.org/markup-compatibility/2006" xmlns:hp="http://schemas.haansoft.com/office/presentation/8.0" sz="1000" b="0" i="0" u="none" strike="noStrike" baseline="0" mc:Ignorable="hp" hp:hslEmbossed="0">
                        <a:solidFill>
                          <a:srgbClr val="000000"/>
                        </a:solidFill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30150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000" b="1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외부 캘린더 내보내기</a:t>
                      </a:r>
                      <a:endParaRPr xmlns:mc="http://schemas.openxmlformats.org/markup-compatibility/2006" xmlns:hp="http://schemas.haansoft.com/office/presentation/8.0" sz="1000" b="1" i="0" u="none" strike="noStrike" baseline="0" mc:Ignorable="hp" hp:hslEmbossed="0">
                        <a:solidFill>
                          <a:srgbClr val="000000"/>
                        </a:solidFill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</a:rPr>
                        <a:t>[</a:t>
                      </a:r>
                      <a:r>
                        <a:rPr xmlns:mc="http://schemas.openxmlformats.org/markup-compatibility/2006" xmlns:hp="http://schemas.haansoft.com/office/presentation/8.0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향후</a:t>
                      </a:r>
                      <a:r>
                        <a:rPr xmlns:mc="http://schemas.openxmlformats.org/markup-compatibility/2006" xmlns:hp="http://schemas.haansoft.com/office/presentation/8.0" lang="EN-US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</a:rPr>
                        <a:t>]</a:t>
                      </a:r>
                      <a:r>
                        <a:rPr xmlns:mc="http://schemas.openxmlformats.org/markup-compatibility/2006" xmlns:hp="http://schemas.haansoft.com/office/presentation/8.0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확정된 일정을 외부 캘린더로 내보낼 수 있어야 한다</a:t>
                      </a:r>
                      <a:r>
                        <a:rPr xmlns:mc="http://schemas.openxmlformats.org/markup-compatibility/2006" xmlns:hp="http://schemas.haansoft.com/office/presentation/8.0" lang="EN-US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</a:rPr>
                        <a:t>.</a:t>
                      </a:r>
                      <a:endParaRPr xmlns:mc="http://schemas.openxmlformats.org/markup-compatibility/2006" xmlns:hp="http://schemas.haansoft.com/office/presentation/8.0" lang="EN-US" sz="1000" b="0" i="0" u="none" strike="noStrike" baseline="0" mc:Ignorable="hp" hp:hslEmbossed="0">
                        <a:solidFill>
                          <a:srgbClr val="000000"/>
                        </a:solidFill>
                        <a:latin typeface="굴림"/>
                        <a:ea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중</a:t>
                      </a:r>
                      <a:endParaRPr xmlns:mc="http://schemas.openxmlformats.org/markup-compatibility/2006" xmlns:hp="http://schemas.haansoft.com/office/presentation/8.0" sz="1000" b="0" i="0" u="none" strike="noStrike" baseline="0" mc:Ignorable="hp" hp:hslEmbossed="0">
                        <a:solidFill>
                          <a:srgbClr val="000000"/>
                        </a:solidFill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u="none" strike="noStrike" baseline="0" mc:Ignorable="hp" hp:hslEmbossed="0">
                          <a:solidFill>
                            <a:srgbClr val="000000"/>
                          </a:solidFill>
                          <a:latin typeface="굴림"/>
                          <a:ea typeface="굴림"/>
                          <a:cs typeface="굴림"/>
                        </a:rPr>
                        <a:t>상</a:t>
                      </a:r>
                      <a:endParaRPr xmlns:mc="http://schemas.openxmlformats.org/markup-compatibility/2006" xmlns:hp="http://schemas.haansoft.com/office/presentation/8.0" sz="1000" b="0" i="0" u="none" strike="noStrike" baseline="0" mc:Ignorable="hp" hp:hslEmbossed="0">
                        <a:solidFill>
                          <a:srgbClr val="000000"/>
                        </a:solidFill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35" name="Google Shape;235;p21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50" b="1" i="0" u="none" strike="noStrike" cap="none">
                <a:solidFill>
                  <a:srgbClr val="ea580c"/>
                </a:solidFill>
                <a:latin typeface="Noto Sans KR"/>
                <a:ea typeface="Noto Sans KR"/>
                <a:cs typeface="Noto Sans KR"/>
                <a:sym typeface="Noto Sans KR"/>
              </a:rPr>
              <a:t>DIFFICULTY ANALYSIS</a:t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609600" y="647700"/>
            <a:ext cx="11582400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100" b="1" i="0" u="none" strike="noStrike" cap="non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기능 설계 및 구현 난이도 분석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76494953"/>
      </p:ext>
    </p:extLst>
  </p:cSld>
  <p:clrMapOvr>
    <a:masterClrMapping/>
  </p:clrMapOvr>
</p:sld>
</file>

<file path=ppt/slides/slide2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09600" y="3000375"/>
            <a:ext cx="3234690" cy="1752600"/>
          </a:xfrm>
          <a:custGeom>
            <a:avLst/>
            <a:gdLst/>
            <a:ahLst/>
            <a:cxnLst/>
            <a:rect l="l" t="t" r="r" b="b"/>
            <a:pathLst>
              <a:path w="3234690" h="1752600">
                <a:moveTo>
                  <a:pt x="3119895" y="1752599"/>
                </a:moveTo>
                <a:lnTo>
                  <a:pt x="114287" y="1752599"/>
                </a:lnTo>
                <a:lnTo>
                  <a:pt x="69801" y="1743618"/>
                </a:lnTo>
                <a:lnTo>
                  <a:pt x="33473" y="1719126"/>
                </a:lnTo>
                <a:lnTo>
                  <a:pt x="8981" y="1682798"/>
                </a:lnTo>
                <a:lnTo>
                  <a:pt x="0" y="1638312"/>
                </a:lnTo>
                <a:lnTo>
                  <a:pt x="0" y="114287"/>
                </a:lnTo>
                <a:lnTo>
                  <a:pt x="8981" y="69801"/>
                </a:lnTo>
                <a:lnTo>
                  <a:pt x="33473" y="33473"/>
                </a:lnTo>
                <a:lnTo>
                  <a:pt x="69801" y="8981"/>
                </a:lnTo>
                <a:lnTo>
                  <a:pt x="114287" y="0"/>
                </a:lnTo>
                <a:lnTo>
                  <a:pt x="3119895" y="0"/>
                </a:lnTo>
                <a:lnTo>
                  <a:pt x="3163631" y="8699"/>
                </a:lnTo>
                <a:lnTo>
                  <a:pt x="3200708" y="33473"/>
                </a:lnTo>
                <a:lnTo>
                  <a:pt x="3225483" y="70551"/>
                </a:lnTo>
                <a:lnTo>
                  <a:pt x="3234182" y="114287"/>
                </a:lnTo>
                <a:lnTo>
                  <a:pt x="3234182" y="1638312"/>
                </a:lnTo>
                <a:lnTo>
                  <a:pt x="3225201" y="1682798"/>
                </a:lnTo>
                <a:lnTo>
                  <a:pt x="3200708" y="1719126"/>
                </a:lnTo>
                <a:lnTo>
                  <a:pt x="3164381" y="1743618"/>
                </a:lnTo>
                <a:lnTo>
                  <a:pt x="3119895" y="1752599"/>
                </a:lnTo>
                <a:close/>
              </a:path>
            </a:pathLst>
          </a:custGeom>
          <a:solidFill>
            <a:srgbClr val="F7FA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4478832" y="3000375"/>
            <a:ext cx="3234690" cy="1752600"/>
          </a:xfrm>
          <a:custGeom>
            <a:avLst/>
            <a:gdLst/>
            <a:ahLst/>
            <a:cxnLst/>
            <a:rect l="l" t="t" r="r" b="b"/>
            <a:pathLst>
              <a:path w="3234690" h="1752600">
                <a:moveTo>
                  <a:pt x="3119896" y="1752599"/>
                </a:moveTo>
                <a:lnTo>
                  <a:pt x="114287" y="1752599"/>
                </a:lnTo>
                <a:lnTo>
                  <a:pt x="69801" y="1743618"/>
                </a:lnTo>
                <a:lnTo>
                  <a:pt x="33474" y="1719126"/>
                </a:lnTo>
                <a:lnTo>
                  <a:pt x="8981" y="1682798"/>
                </a:lnTo>
                <a:lnTo>
                  <a:pt x="0" y="1638312"/>
                </a:lnTo>
                <a:lnTo>
                  <a:pt x="0" y="114287"/>
                </a:lnTo>
                <a:lnTo>
                  <a:pt x="8981" y="69801"/>
                </a:lnTo>
                <a:lnTo>
                  <a:pt x="33474" y="33473"/>
                </a:lnTo>
                <a:lnTo>
                  <a:pt x="69801" y="8981"/>
                </a:lnTo>
                <a:lnTo>
                  <a:pt x="114287" y="0"/>
                </a:lnTo>
                <a:lnTo>
                  <a:pt x="3119896" y="0"/>
                </a:lnTo>
                <a:lnTo>
                  <a:pt x="3163632" y="8699"/>
                </a:lnTo>
                <a:lnTo>
                  <a:pt x="3200709" y="33473"/>
                </a:lnTo>
                <a:lnTo>
                  <a:pt x="3225483" y="70551"/>
                </a:lnTo>
                <a:lnTo>
                  <a:pt x="3234182" y="114287"/>
                </a:lnTo>
                <a:lnTo>
                  <a:pt x="3234182" y="1638312"/>
                </a:lnTo>
                <a:lnTo>
                  <a:pt x="3225201" y="1682798"/>
                </a:lnTo>
                <a:lnTo>
                  <a:pt x="3200708" y="1719126"/>
                </a:lnTo>
                <a:lnTo>
                  <a:pt x="3164381" y="1743618"/>
                </a:lnTo>
                <a:lnTo>
                  <a:pt x="3119896" y="1752599"/>
                </a:lnTo>
                <a:close/>
              </a:path>
            </a:pathLst>
          </a:custGeom>
          <a:solidFill>
            <a:srgbClr val="F7FA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8348067" y="3000375"/>
            <a:ext cx="3234690" cy="1752600"/>
          </a:xfrm>
          <a:custGeom>
            <a:avLst/>
            <a:gdLst/>
            <a:ahLst/>
            <a:cxnLst/>
            <a:rect l="l" t="t" r="r" b="b"/>
            <a:pathLst>
              <a:path w="3234690" h="1752600">
                <a:moveTo>
                  <a:pt x="3119895" y="1752599"/>
                </a:moveTo>
                <a:lnTo>
                  <a:pt x="114286" y="1752599"/>
                </a:lnTo>
                <a:lnTo>
                  <a:pt x="69800" y="1743618"/>
                </a:lnTo>
                <a:lnTo>
                  <a:pt x="33473" y="1719126"/>
                </a:lnTo>
                <a:lnTo>
                  <a:pt x="8981" y="1682798"/>
                </a:lnTo>
                <a:lnTo>
                  <a:pt x="0" y="1638312"/>
                </a:lnTo>
                <a:lnTo>
                  <a:pt x="0" y="114287"/>
                </a:lnTo>
                <a:lnTo>
                  <a:pt x="8981" y="69801"/>
                </a:lnTo>
                <a:lnTo>
                  <a:pt x="33473" y="33473"/>
                </a:lnTo>
                <a:lnTo>
                  <a:pt x="69800" y="8981"/>
                </a:lnTo>
                <a:lnTo>
                  <a:pt x="114286" y="0"/>
                </a:lnTo>
                <a:lnTo>
                  <a:pt x="3119895" y="0"/>
                </a:lnTo>
                <a:lnTo>
                  <a:pt x="3163631" y="8699"/>
                </a:lnTo>
                <a:lnTo>
                  <a:pt x="3200708" y="33473"/>
                </a:lnTo>
                <a:lnTo>
                  <a:pt x="3225483" y="70551"/>
                </a:lnTo>
                <a:lnTo>
                  <a:pt x="3234182" y="114287"/>
                </a:lnTo>
                <a:lnTo>
                  <a:pt x="3234182" y="1638312"/>
                </a:lnTo>
                <a:lnTo>
                  <a:pt x="3225201" y="1682798"/>
                </a:lnTo>
                <a:lnTo>
                  <a:pt x="3200708" y="1719126"/>
                </a:lnTo>
                <a:lnTo>
                  <a:pt x="3164381" y="1743618"/>
                </a:lnTo>
                <a:lnTo>
                  <a:pt x="3119895" y="1752599"/>
                </a:lnTo>
                <a:close/>
              </a:path>
            </a:pathLst>
          </a:custGeom>
          <a:solidFill>
            <a:srgbClr val="F7FAF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72382" y="3762375"/>
            <a:ext cx="177849" cy="22859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41617" y="3762375"/>
            <a:ext cx="177847" cy="22859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93266" y="3267075"/>
            <a:ext cx="266847" cy="34289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62501" y="3267075"/>
            <a:ext cx="266847" cy="342899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831734" y="3267075"/>
            <a:ext cx="266847" cy="342899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596900" y="439165"/>
            <a:ext cx="158369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 b="1">
                <a:solidFill>
                  <a:srgbClr val="EA580C"/>
                </a:solidFill>
                <a:latin typeface="함초롬돋움"/>
                <a:cs typeface="함초롬돋움"/>
              </a:rPr>
              <a:t>SYSTEM</a:t>
            </a:r>
            <a:r>
              <a:rPr dirty="0" sz="1050" spc="-55" b="1">
                <a:solidFill>
                  <a:srgbClr val="EA580C"/>
                </a:solidFill>
                <a:latin typeface="함초롬돋움"/>
                <a:cs typeface="함초롬돋움"/>
              </a:rPr>
              <a:t> </a:t>
            </a:r>
            <a:r>
              <a:rPr dirty="0" sz="1050" spc="-10" b="1">
                <a:solidFill>
                  <a:srgbClr val="EA580C"/>
                </a:solidFill>
                <a:latin typeface="함초롬돋움"/>
                <a:cs typeface="함초롬돋움"/>
              </a:rPr>
              <a:t>ARCHITECTURE</a:t>
            </a:r>
            <a:endParaRPr sz="1050">
              <a:latin typeface="함초롬돋움"/>
              <a:cs typeface="함초롬돋움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5"/>
              <a:t>시스템</a:t>
            </a:r>
            <a:r>
              <a:rPr dirty="0" spc="-170"/>
              <a:t> </a:t>
            </a:r>
            <a:r>
              <a:rPr dirty="0" spc="-145"/>
              <a:t>구성</a:t>
            </a:r>
            <a:r>
              <a:rPr dirty="0" spc="-170"/>
              <a:t> </a:t>
            </a:r>
            <a:r>
              <a:rPr dirty="0" spc="-145"/>
              <a:t>및</a:t>
            </a:r>
            <a:r>
              <a:rPr dirty="0" spc="-165"/>
              <a:t> </a:t>
            </a:r>
            <a:r>
              <a:rPr dirty="0" spc="-145"/>
              <a:t>데이터</a:t>
            </a:r>
            <a:r>
              <a:rPr dirty="0" spc="-170"/>
              <a:t> </a:t>
            </a:r>
            <a:r>
              <a:rPr dirty="0" spc="-25"/>
              <a:t>관리</a:t>
            </a:r>
          </a:p>
        </p:txBody>
      </p:sp>
      <p:sp>
        <p:nvSpPr>
          <p:cNvPr id="12" name="object 12" descr=""/>
          <p:cNvSpPr txBox="1"/>
          <p:nvPr/>
        </p:nvSpPr>
        <p:spPr>
          <a:xfrm>
            <a:off x="1361307" y="3573195"/>
            <a:ext cx="1762760" cy="815340"/>
          </a:xfrm>
          <a:prstGeom prst="rect">
            <a:avLst/>
          </a:prstGeom>
        </p:spPr>
        <p:txBody>
          <a:bodyPr wrap="square" lIns="0" tIns="143510" rIns="0" bIns="0" rtlCol="0" vert="horz">
            <a:spAutoFit/>
          </a:bodyPr>
          <a:lstStyle/>
          <a:p>
            <a:pPr algn="ctr" marR="24130">
              <a:lnSpc>
                <a:spcPct val="100000"/>
              </a:lnSpc>
              <a:spcBef>
                <a:spcPts val="1130"/>
              </a:spcBef>
            </a:pPr>
            <a:r>
              <a:rPr dirty="0" sz="1500" spc="-80" b="1">
                <a:solidFill>
                  <a:srgbClr val="0F172A"/>
                </a:solidFill>
                <a:latin typeface="함초롬돋움"/>
                <a:cs typeface="함초롬돋움"/>
              </a:rPr>
              <a:t>클라이언트</a:t>
            </a:r>
            <a:r>
              <a:rPr dirty="0" sz="1500" spc="-75" b="1">
                <a:solidFill>
                  <a:srgbClr val="0F172A"/>
                </a:solidFill>
                <a:latin typeface="함초롬돋움"/>
                <a:cs typeface="함초롬돋움"/>
              </a:rPr>
              <a:t> </a:t>
            </a:r>
            <a:r>
              <a:rPr dirty="0" sz="1500" spc="45" b="1">
                <a:solidFill>
                  <a:srgbClr val="0F172A"/>
                </a:solidFill>
                <a:latin typeface="함초롬돋움"/>
                <a:cs typeface="함초롬돋움"/>
              </a:rPr>
              <a:t>(UI)</a:t>
            </a:r>
            <a:endParaRPr sz="1500">
              <a:latin typeface="함초롬돋움"/>
              <a:cs typeface="함초롬돋움"/>
            </a:endParaRPr>
          </a:p>
          <a:p>
            <a:pPr algn="ctr" marL="12700" marR="5080" indent="-32384">
              <a:lnSpc>
                <a:spcPts val="1270"/>
              </a:lnSpc>
              <a:spcBef>
                <a:spcPts val="880"/>
              </a:spcBef>
            </a:pPr>
            <a:r>
              <a:rPr dirty="0" sz="1100" spc="-40">
                <a:solidFill>
                  <a:srgbClr val="475568"/>
                </a:solidFill>
                <a:latin typeface="함초롬돋움"/>
                <a:cs typeface="함초롬돋움"/>
              </a:rPr>
              <a:t>시간표</a:t>
            </a:r>
            <a:r>
              <a:rPr dirty="0" sz="1100" spc="-55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100" spc="-25">
                <a:solidFill>
                  <a:srgbClr val="475568"/>
                </a:solidFill>
                <a:latin typeface="함초롬돋움"/>
                <a:cs typeface="함초롬돋움"/>
              </a:rPr>
              <a:t>입력/수정</a:t>
            </a:r>
            <a:r>
              <a:rPr dirty="0" sz="1100" spc="-50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100" spc="-10">
                <a:solidFill>
                  <a:srgbClr val="475568"/>
                </a:solidFill>
                <a:latin typeface="함초롬돋움"/>
                <a:cs typeface="함초롬돋움"/>
              </a:rPr>
              <a:t>인터페이스 </a:t>
            </a:r>
            <a:r>
              <a:rPr dirty="0" sz="1100" spc="-40">
                <a:solidFill>
                  <a:srgbClr val="475568"/>
                </a:solidFill>
                <a:latin typeface="함초롬돋움"/>
                <a:cs typeface="함초롬돋움"/>
              </a:rPr>
              <a:t>모임</a:t>
            </a:r>
            <a:r>
              <a:rPr dirty="0" sz="1100" spc="-65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475568"/>
                </a:solidFill>
                <a:latin typeface="함초롬돋움"/>
                <a:cs typeface="함초롬돋움"/>
              </a:rPr>
              <a:t>관리</a:t>
            </a:r>
            <a:r>
              <a:rPr dirty="0" sz="1100" spc="-65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475568"/>
                </a:solidFill>
                <a:latin typeface="함초롬돋움"/>
                <a:cs typeface="함초롬돋움"/>
              </a:rPr>
              <a:t>및</a:t>
            </a:r>
            <a:r>
              <a:rPr dirty="0" sz="1100" spc="-65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475568"/>
                </a:solidFill>
                <a:latin typeface="함초롬돋움"/>
                <a:cs typeface="함초롬돋움"/>
              </a:rPr>
              <a:t>매칭</a:t>
            </a:r>
            <a:r>
              <a:rPr dirty="0" sz="1100" spc="-60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475568"/>
                </a:solidFill>
                <a:latin typeface="함초롬돋움"/>
                <a:cs typeface="함초롬돋움"/>
              </a:rPr>
              <a:t>시각화</a:t>
            </a:r>
            <a:r>
              <a:rPr dirty="0" sz="1100" spc="-65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100" spc="-25">
                <a:solidFill>
                  <a:srgbClr val="475568"/>
                </a:solidFill>
                <a:latin typeface="함초롬돋움"/>
                <a:cs typeface="함초롬돋움"/>
              </a:rPr>
              <a:t>화면</a:t>
            </a:r>
            <a:endParaRPr sz="1100">
              <a:latin typeface="함초롬돋움"/>
              <a:cs typeface="함초롬돋움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131583" y="3573195"/>
            <a:ext cx="1929130" cy="815340"/>
          </a:xfrm>
          <a:prstGeom prst="rect">
            <a:avLst/>
          </a:prstGeom>
        </p:spPr>
        <p:txBody>
          <a:bodyPr wrap="square" lIns="0" tIns="1435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30"/>
              </a:spcBef>
            </a:pPr>
            <a:r>
              <a:rPr dirty="0" sz="1500" spc="-80" b="1">
                <a:solidFill>
                  <a:srgbClr val="0F172A"/>
                </a:solidFill>
                <a:latin typeface="함초롬돋움"/>
                <a:cs typeface="함초롬돋움"/>
              </a:rPr>
              <a:t>서버</a:t>
            </a:r>
            <a:r>
              <a:rPr dirty="0" sz="1500" b="1">
                <a:solidFill>
                  <a:srgbClr val="0F172A"/>
                </a:solidFill>
                <a:latin typeface="함초롬돋움"/>
                <a:cs typeface="함초롬돋움"/>
              </a:rPr>
              <a:t> (Business </a:t>
            </a:r>
            <a:r>
              <a:rPr dirty="0" sz="1500" spc="-10" b="1">
                <a:solidFill>
                  <a:srgbClr val="0F172A"/>
                </a:solidFill>
                <a:latin typeface="함초롬돋움"/>
                <a:cs typeface="함초롬돋움"/>
              </a:rPr>
              <a:t>Logic)</a:t>
            </a:r>
            <a:endParaRPr sz="1500">
              <a:latin typeface="함초롬돋움"/>
              <a:cs typeface="함초롬돋움"/>
            </a:endParaRPr>
          </a:p>
          <a:p>
            <a:pPr algn="ctr" marL="128270" marR="88900" indent="-32384">
              <a:lnSpc>
                <a:spcPts val="1270"/>
              </a:lnSpc>
              <a:spcBef>
                <a:spcPts val="880"/>
              </a:spcBef>
            </a:pPr>
            <a:r>
              <a:rPr dirty="0" sz="1100" spc="-40">
                <a:solidFill>
                  <a:srgbClr val="475568"/>
                </a:solidFill>
                <a:latin typeface="함초롬돋움"/>
                <a:cs typeface="함초롬돋움"/>
              </a:rPr>
              <a:t>사용자</a:t>
            </a:r>
            <a:r>
              <a:rPr dirty="0" sz="1100" spc="-55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100" spc="-25">
                <a:solidFill>
                  <a:srgbClr val="475568"/>
                </a:solidFill>
                <a:latin typeface="함초롬돋움"/>
                <a:cs typeface="함초롬돋움"/>
              </a:rPr>
              <a:t>인증,</a:t>
            </a:r>
            <a:r>
              <a:rPr dirty="0" sz="1100" spc="-55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475568"/>
                </a:solidFill>
                <a:latin typeface="함초롬돋움"/>
                <a:cs typeface="함초롬돋움"/>
              </a:rPr>
              <a:t>데이터</a:t>
            </a:r>
            <a:r>
              <a:rPr dirty="0" sz="1100" spc="-55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100" spc="-25">
                <a:solidFill>
                  <a:srgbClr val="475568"/>
                </a:solidFill>
                <a:latin typeface="함초롬돋움"/>
                <a:cs typeface="함초롬돋움"/>
              </a:rPr>
              <a:t>검증 </a:t>
            </a:r>
            <a:r>
              <a:rPr dirty="0" sz="1100" spc="-40">
                <a:solidFill>
                  <a:srgbClr val="475568"/>
                </a:solidFill>
                <a:latin typeface="함초롬돋움"/>
                <a:cs typeface="함초롬돋움"/>
              </a:rPr>
              <a:t>시간표</a:t>
            </a:r>
            <a:r>
              <a:rPr dirty="0" sz="1100" spc="-65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475568"/>
                </a:solidFill>
                <a:latin typeface="함초롬돋움"/>
                <a:cs typeface="함초롬돋움"/>
              </a:rPr>
              <a:t>비트</a:t>
            </a:r>
            <a:r>
              <a:rPr dirty="0" sz="1100" spc="-65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475568"/>
                </a:solidFill>
                <a:latin typeface="함초롬돋움"/>
                <a:cs typeface="함초롬돋움"/>
              </a:rPr>
              <a:t>매칭</a:t>
            </a:r>
            <a:r>
              <a:rPr dirty="0" sz="1100" spc="-65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100" spc="-80">
                <a:solidFill>
                  <a:srgbClr val="475568"/>
                </a:solidFill>
                <a:latin typeface="함초롬돋움"/>
                <a:cs typeface="함초롬돋움"/>
              </a:rPr>
              <a:t>&amp;</a:t>
            </a:r>
            <a:r>
              <a:rPr dirty="0" sz="1100" spc="-65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475568"/>
                </a:solidFill>
                <a:latin typeface="함초롬돋움"/>
                <a:cs typeface="함초롬돋움"/>
              </a:rPr>
              <a:t>권한</a:t>
            </a:r>
            <a:r>
              <a:rPr dirty="0" sz="1100" spc="-65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100" spc="-25">
                <a:solidFill>
                  <a:srgbClr val="475568"/>
                </a:solidFill>
                <a:latin typeface="함초롬돋움"/>
                <a:cs typeface="함초롬돋움"/>
              </a:rPr>
              <a:t>확인</a:t>
            </a:r>
            <a:endParaRPr sz="1100">
              <a:latin typeface="함초롬돋움"/>
              <a:cs typeface="함초롬돋움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8975384" y="3573195"/>
            <a:ext cx="1979930" cy="815340"/>
          </a:xfrm>
          <a:prstGeom prst="rect">
            <a:avLst/>
          </a:prstGeom>
        </p:spPr>
        <p:txBody>
          <a:bodyPr wrap="square" lIns="0" tIns="1435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30"/>
              </a:spcBef>
            </a:pPr>
            <a:r>
              <a:rPr dirty="0" sz="1500" spc="-80" b="1">
                <a:solidFill>
                  <a:srgbClr val="0F172A"/>
                </a:solidFill>
                <a:latin typeface="함초롬돋움"/>
                <a:cs typeface="함초롬돋움"/>
              </a:rPr>
              <a:t>데이터베이스</a:t>
            </a:r>
            <a:r>
              <a:rPr dirty="0" sz="1500" spc="-65" b="1">
                <a:solidFill>
                  <a:srgbClr val="0F172A"/>
                </a:solidFill>
                <a:latin typeface="함초롬돋움"/>
                <a:cs typeface="함초롬돋움"/>
              </a:rPr>
              <a:t> </a:t>
            </a:r>
            <a:r>
              <a:rPr dirty="0" sz="1500" spc="-10" b="1">
                <a:solidFill>
                  <a:srgbClr val="0F172A"/>
                </a:solidFill>
                <a:latin typeface="함초롬돋움"/>
                <a:cs typeface="함초롬돋움"/>
              </a:rPr>
              <a:t>(Storage)</a:t>
            </a:r>
            <a:endParaRPr sz="1500">
              <a:latin typeface="함초롬돋움"/>
              <a:cs typeface="함초롬돋움"/>
            </a:endParaRPr>
          </a:p>
          <a:p>
            <a:pPr algn="ctr" marL="179070" marR="139065" indent="-32384">
              <a:lnSpc>
                <a:spcPts val="1270"/>
              </a:lnSpc>
              <a:spcBef>
                <a:spcPts val="880"/>
              </a:spcBef>
            </a:pPr>
            <a:r>
              <a:rPr dirty="0" sz="1100" spc="-40">
                <a:solidFill>
                  <a:srgbClr val="475568"/>
                </a:solidFill>
                <a:latin typeface="함초롬돋움"/>
                <a:cs typeface="함초롬돋움"/>
              </a:rPr>
              <a:t>사용자</a:t>
            </a:r>
            <a:r>
              <a:rPr dirty="0" sz="1100" spc="-60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100" spc="-25">
                <a:solidFill>
                  <a:srgbClr val="475568"/>
                </a:solidFill>
                <a:latin typeface="함초롬돋움"/>
                <a:cs typeface="함초롬돋움"/>
              </a:rPr>
              <a:t>계정,</a:t>
            </a:r>
            <a:r>
              <a:rPr dirty="0" sz="1100" spc="-60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475568"/>
                </a:solidFill>
                <a:latin typeface="함초롬돋움"/>
                <a:cs typeface="함초롬돋움"/>
              </a:rPr>
              <a:t>개별</a:t>
            </a:r>
            <a:r>
              <a:rPr dirty="0" sz="1100" spc="-55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100" spc="-25">
                <a:solidFill>
                  <a:srgbClr val="475568"/>
                </a:solidFill>
                <a:latin typeface="함초롬돋움"/>
                <a:cs typeface="함초롬돋움"/>
              </a:rPr>
              <a:t>시간표 </a:t>
            </a:r>
            <a:r>
              <a:rPr dirty="0" sz="1100" spc="-40">
                <a:solidFill>
                  <a:srgbClr val="475568"/>
                </a:solidFill>
                <a:latin typeface="함초롬돋움"/>
                <a:cs typeface="함초롬돋움"/>
              </a:rPr>
              <a:t>모임</a:t>
            </a:r>
            <a:r>
              <a:rPr dirty="0" sz="1100" spc="-60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100" spc="-25">
                <a:solidFill>
                  <a:srgbClr val="475568"/>
                </a:solidFill>
                <a:latin typeface="함초롬돋움"/>
                <a:cs typeface="함초롬돋움"/>
              </a:rPr>
              <a:t>정보,</a:t>
            </a:r>
            <a:r>
              <a:rPr dirty="0" sz="1100" spc="-60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100" spc="-25">
                <a:solidFill>
                  <a:srgbClr val="475568"/>
                </a:solidFill>
                <a:latin typeface="함초롬돋움"/>
                <a:cs typeface="함초롬돋움"/>
              </a:rPr>
              <a:t>구성원,</a:t>
            </a:r>
            <a:r>
              <a:rPr dirty="0" sz="1100" spc="-55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475568"/>
                </a:solidFill>
                <a:latin typeface="함초롬돋움"/>
                <a:cs typeface="함초롬돋움"/>
              </a:rPr>
              <a:t>확정</a:t>
            </a:r>
            <a:r>
              <a:rPr dirty="0" sz="1100" spc="-60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100" spc="-25">
                <a:solidFill>
                  <a:srgbClr val="475568"/>
                </a:solidFill>
                <a:latin typeface="함초롬돋움"/>
                <a:cs typeface="함초롬돋움"/>
              </a:rPr>
              <a:t>일정</a:t>
            </a:r>
            <a:endParaRPr sz="1100">
              <a:latin typeface="함초롬돋움"/>
              <a:cs typeface="함초롬돋움"/>
            </a:endParaRPr>
          </a:p>
        </p:txBody>
      </p:sp>
    </p:spTree>
  </p:cSld>
  <p:clrMapOvr>
    <a:masterClrMapping/>
  </p:clrMapOvr>
</p:sld>
</file>

<file path=ppt/slides/slide2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09600" y="2895600"/>
            <a:ext cx="5353050" cy="1962150"/>
          </a:xfrm>
          <a:custGeom>
            <a:avLst/>
            <a:gdLst/>
            <a:ahLst/>
            <a:cxnLst/>
            <a:rect l="l" t="t" r="r" b="b"/>
            <a:pathLst>
              <a:path w="5353050" h="1962150">
                <a:moveTo>
                  <a:pt x="5238754" y="1962149"/>
                </a:moveTo>
                <a:lnTo>
                  <a:pt x="114295" y="1962149"/>
                </a:lnTo>
                <a:lnTo>
                  <a:pt x="69806" y="1953168"/>
                </a:lnTo>
                <a:lnTo>
                  <a:pt x="33476" y="1928673"/>
                </a:lnTo>
                <a:lnTo>
                  <a:pt x="8981" y="1892343"/>
                </a:lnTo>
                <a:lnTo>
                  <a:pt x="0" y="1847854"/>
                </a:lnTo>
                <a:lnTo>
                  <a:pt x="0" y="114295"/>
                </a:lnTo>
                <a:lnTo>
                  <a:pt x="8981" y="69806"/>
                </a:lnTo>
                <a:lnTo>
                  <a:pt x="33476" y="33476"/>
                </a:lnTo>
                <a:lnTo>
                  <a:pt x="69806" y="8981"/>
                </a:lnTo>
                <a:lnTo>
                  <a:pt x="114295" y="0"/>
                </a:lnTo>
                <a:lnTo>
                  <a:pt x="5238754" y="0"/>
                </a:lnTo>
                <a:lnTo>
                  <a:pt x="5282493" y="8700"/>
                </a:lnTo>
                <a:lnTo>
                  <a:pt x="5319573" y="33476"/>
                </a:lnTo>
                <a:lnTo>
                  <a:pt x="5344349" y="70556"/>
                </a:lnTo>
                <a:lnTo>
                  <a:pt x="5353049" y="114295"/>
                </a:lnTo>
                <a:lnTo>
                  <a:pt x="5353049" y="1847854"/>
                </a:lnTo>
                <a:lnTo>
                  <a:pt x="5344068" y="1892343"/>
                </a:lnTo>
                <a:lnTo>
                  <a:pt x="5319573" y="1928673"/>
                </a:lnTo>
                <a:lnTo>
                  <a:pt x="5283243" y="1953168"/>
                </a:lnTo>
                <a:lnTo>
                  <a:pt x="5238754" y="1962149"/>
                </a:lnTo>
                <a:close/>
              </a:path>
            </a:pathLst>
          </a:custGeom>
          <a:solidFill>
            <a:srgbClr val="F7FA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6229350" y="2895600"/>
            <a:ext cx="5353050" cy="1962150"/>
          </a:xfrm>
          <a:custGeom>
            <a:avLst/>
            <a:gdLst/>
            <a:ahLst/>
            <a:cxnLst/>
            <a:rect l="l" t="t" r="r" b="b"/>
            <a:pathLst>
              <a:path w="5353050" h="1962150">
                <a:moveTo>
                  <a:pt x="5238754" y="1962149"/>
                </a:moveTo>
                <a:lnTo>
                  <a:pt x="114295" y="1962149"/>
                </a:lnTo>
                <a:lnTo>
                  <a:pt x="69806" y="1953168"/>
                </a:lnTo>
                <a:lnTo>
                  <a:pt x="33476" y="1928673"/>
                </a:lnTo>
                <a:lnTo>
                  <a:pt x="8981" y="1892343"/>
                </a:lnTo>
                <a:lnTo>
                  <a:pt x="0" y="1847854"/>
                </a:lnTo>
                <a:lnTo>
                  <a:pt x="0" y="114295"/>
                </a:lnTo>
                <a:lnTo>
                  <a:pt x="8981" y="69806"/>
                </a:lnTo>
                <a:lnTo>
                  <a:pt x="33476" y="33476"/>
                </a:lnTo>
                <a:lnTo>
                  <a:pt x="69806" y="8981"/>
                </a:lnTo>
                <a:lnTo>
                  <a:pt x="114295" y="0"/>
                </a:lnTo>
                <a:lnTo>
                  <a:pt x="5238754" y="0"/>
                </a:lnTo>
                <a:lnTo>
                  <a:pt x="5282493" y="8700"/>
                </a:lnTo>
                <a:lnTo>
                  <a:pt x="5319573" y="33476"/>
                </a:lnTo>
                <a:lnTo>
                  <a:pt x="5344349" y="70556"/>
                </a:lnTo>
                <a:lnTo>
                  <a:pt x="5353049" y="114295"/>
                </a:lnTo>
                <a:lnTo>
                  <a:pt x="5353049" y="1847854"/>
                </a:lnTo>
                <a:lnTo>
                  <a:pt x="5344068" y="1892343"/>
                </a:lnTo>
                <a:lnTo>
                  <a:pt x="5319573" y="1928673"/>
                </a:lnTo>
                <a:lnTo>
                  <a:pt x="5283243" y="1953168"/>
                </a:lnTo>
                <a:lnTo>
                  <a:pt x="5238754" y="1962149"/>
                </a:lnTo>
                <a:close/>
              </a:path>
            </a:pathLst>
          </a:custGeom>
          <a:solidFill>
            <a:srgbClr val="FFF6E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3238500"/>
            <a:ext cx="163114" cy="20954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34150" y="3238500"/>
            <a:ext cx="163114" cy="209549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596900" y="439165"/>
            <a:ext cx="124015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35" b="1">
                <a:solidFill>
                  <a:srgbClr val="EA580C"/>
                </a:solidFill>
                <a:latin typeface="함초롬돋움"/>
                <a:cs typeface="함초롬돋움"/>
              </a:rPr>
              <a:t>DATA</a:t>
            </a:r>
            <a:r>
              <a:rPr dirty="0" sz="1050" spc="-80" b="1">
                <a:solidFill>
                  <a:srgbClr val="EA580C"/>
                </a:solidFill>
                <a:latin typeface="함초롬돋움"/>
                <a:cs typeface="함초롬돋움"/>
              </a:rPr>
              <a:t> </a:t>
            </a:r>
            <a:r>
              <a:rPr dirty="0" sz="1050" spc="-10" b="1">
                <a:solidFill>
                  <a:srgbClr val="EA580C"/>
                </a:solidFill>
                <a:latin typeface="함초롬돋움"/>
                <a:cs typeface="함초롬돋움"/>
              </a:rPr>
              <a:t>PROCESSING</a:t>
            </a:r>
            <a:endParaRPr sz="1050">
              <a:latin typeface="함초롬돋움"/>
              <a:cs typeface="함초롬돋움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5"/>
              <a:t>시간표</a:t>
            </a:r>
            <a:r>
              <a:rPr dirty="0" spc="-170"/>
              <a:t> </a:t>
            </a:r>
            <a:r>
              <a:rPr dirty="0" spc="-145"/>
              <a:t>입력</a:t>
            </a:r>
            <a:r>
              <a:rPr dirty="0" spc="-170"/>
              <a:t> </a:t>
            </a:r>
            <a:r>
              <a:rPr dirty="0" spc="-145"/>
              <a:t>및</a:t>
            </a:r>
            <a:r>
              <a:rPr dirty="0" spc="-165"/>
              <a:t> </a:t>
            </a:r>
            <a:r>
              <a:rPr dirty="0" spc="-145"/>
              <a:t>데이터</a:t>
            </a:r>
            <a:r>
              <a:rPr dirty="0" spc="-170"/>
              <a:t> </a:t>
            </a:r>
            <a:r>
              <a:rPr dirty="0" spc="-25"/>
              <a:t>파싱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901700" y="3179317"/>
            <a:ext cx="3917315" cy="12585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9875">
              <a:lnSpc>
                <a:spcPct val="100000"/>
              </a:lnSpc>
              <a:spcBef>
                <a:spcPts val="100"/>
              </a:spcBef>
            </a:pPr>
            <a:r>
              <a:rPr dirty="0" sz="1650" b="1">
                <a:solidFill>
                  <a:srgbClr val="0F172A"/>
                </a:solidFill>
                <a:latin typeface="함초롬돋움"/>
                <a:cs typeface="함초롬돋움"/>
              </a:rPr>
              <a:t>CSV</a:t>
            </a:r>
            <a:r>
              <a:rPr dirty="0" sz="1650" spc="-105" b="1">
                <a:solidFill>
                  <a:srgbClr val="0F172A"/>
                </a:solidFill>
                <a:latin typeface="함초롬돋움"/>
                <a:cs typeface="함초롬돋움"/>
              </a:rPr>
              <a:t> 데이터</a:t>
            </a:r>
            <a:r>
              <a:rPr dirty="0" sz="1650" spc="-100" b="1">
                <a:solidFill>
                  <a:srgbClr val="0F172A"/>
                </a:solidFill>
                <a:latin typeface="함초롬돋움"/>
                <a:cs typeface="함초롬돋움"/>
              </a:rPr>
              <a:t> </a:t>
            </a:r>
            <a:r>
              <a:rPr dirty="0" sz="1650" spc="-105" b="1">
                <a:solidFill>
                  <a:srgbClr val="0F172A"/>
                </a:solidFill>
                <a:latin typeface="함초롬돋움"/>
                <a:cs typeface="함초롬돋움"/>
              </a:rPr>
              <a:t>파싱 </a:t>
            </a:r>
            <a:r>
              <a:rPr dirty="0" sz="1650" spc="-30" b="1">
                <a:solidFill>
                  <a:srgbClr val="0F172A"/>
                </a:solidFill>
                <a:latin typeface="함초롬돋움"/>
                <a:cs typeface="함초롬돋움"/>
              </a:rPr>
              <a:t>(우선</a:t>
            </a:r>
            <a:r>
              <a:rPr dirty="0" sz="1650" spc="-100" b="1">
                <a:solidFill>
                  <a:srgbClr val="0F172A"/>
                </a:solidFill>
                <a:latin typeface="함초롬돋움"/>
                <a:cs typeface="함초롬돋움"/>
              </a:rPr>
              <a:t> </a:t>
            </a:r>
            <a:r>
              <a:rPr dirty="0" sz="1650" spc="-25" b="1">
                <a:solidFill>
                  <a:srgbClr val="0F172A"/>
                </a:solidFill>
                <a:latin typeface="함초롬돋움"/>
                <a:cs typeface="함초롬돋움"/>
              </a:rPr>
              <a:t>검토)</a:t>
            </a:r>
            <a:endParaRPr sz="1650">
              <a:latin typeface="함초롬돋움"/>
              <a:cs typeface="함초롬돋움"/>
            </a:endParaRPr>
          </a:p>
          <a:p>
            <a:pPr marL="12700">
              <a:lnSpc>
                <a:spcPct val="100000"/>
              </a:lnSpc>
              <a:spcBef>
                <a:spcPts val="1485"/>
              </a:spcBef>
            </a:pPr>
            <a:r>
              <a:rPr dirty="0" sz="1200" spc="-75" b="1">
                <a:solidFill>
                  <a:srgbClr val="334155"/>
                </a:solidFill>
                <a:latin typeface="함초롬돋움"/>
                <a:cs typeface="함초롬돋움"/>
              </a:rPr>
              <a:t>필수 추출</a:t>
            </a:r>
            <a:r>
              <a:rPr dirty="0" sz="1200" spc="-70" b="1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200" spc="-45" b="1">
                <a:solidFill>
                  <a:srgbClr val="334155"/>
                </a:solidFill>
                <a:latin typeface="함초롬돋움"/>
                <a:cs typeface="함초롬돋움"/>
              </a:rPr>
              <a:t>항목:</a:t>
            </a:r>
            <a:r>
              <a:rPr dirty="0" sz="1200" spc="-75" b="1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200" spc="-45">
                <a:solidFill>
                  <a:srgbClr val="334155"/>
                </a:solidFill>
                <a:latin typeface="함초롬돋움"/>
                <a:cs typeface="함초롬돋움"/>
              </a:rPr>
              <a:t>요일,</a:t>
            </a:r>
            <a:r>
              <a:rPr dirty="0" sz="1200" spc="-8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200" spc="-75">
                <a:solidFill>
                  <a:srgbClr val="334155"/>
                </a:solidFill>
                <a:latin typeface="함초롬돋움"/>
                <a:cs typeface="함초롬돋움"/>
              </a:rPr>
              <a:t>시작 </a:t>
            </a:r>
            <a:r>
              <a:rPr dirty="0" sz="1200" spc="-45">
                <a:solidFill>
                  <a:srgbClr val="334155"/>
                </a:solidFill>
                <a:latin typeface="함초롬돋움"/>
                <a:cs typeface="함초롬돋움"/>
              </a:rPr>
              <a:t>시각,</a:t>
            </a:r>
            <a:r>
              <a:rPr dirty="0" sz="1200" spc="-8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200" spc="-75">
                <a:solidFill>
                  <a:srgbClr val="334155"/>
                </a:solidFill>
                <a:latin typeface="함초롬돋움"/>
                <a:cs typeface="함초롬돋움"/>
              </a:rPr>
              <a:t>종료 </a:t>
            </a:r>
            <a:r>
              <a:rPr dirty="0" sz="1200" spc="-25">
                <a:solidFill>
                  <a:srgbClr val="334155"/>
                </a:solidFill>
                <a:latin typeface="함초롬돋움"/>
                <a:cs typeface="함초롬돋움"/>
              </a:rPr>
              <a:t>시각</a:t>
            </a:r>
            <a:endParaRPr sz="1200">
              <a:latin typeface="함초롬돋움"/>
              <a:cs typeface="함초롬돋움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200" spc="-75" b="1">
                <a:solidFill>
                  <a:srgbClr val="334155"/>
                </a:solidFill>
                <a:latin typeface="함초롬돋움"/>
                <a:cs typeface="함초롬돋움"/>
              </a:rPr>
              <a:t>유효성 </a:t>
            </a:r>
            <a:r>
              <a:rPr dirty="0" sz="1200" spc="-45" b="1">
                <a:solidFill>
                  <a:srgbClr val="334155"/>
                </a:solidFill>
                <a:latin typeface="함초롬돋움"/>
                <a:cs typeface="함초롬돋움"/>
              </a:rPr>
              <a:t>검사:</a:t>
            </a:r>
            <a:r>
              <a:rPr dirty="0" sz="1200" spc="-80" b="1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200" spc="-75">
                <a:solidFill>
                  <a:srgbClr val="334155"/>
                </a:solidFill>
                <a:latin typeface="함초롬돋움"/>
                <a:cs typeface="함초롬돋움"/>
              </a:rPr>
              <a:t>항목</a:t>
            </a:r>
            <a:r>
              <a:rPr dirty="0" sz="1200" spc="-8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200" spc="-45">
                <a:solidFill>
                  <a:srgbClr val="334155"/>
                </a:solidFill>
                <a:latin typeface="함초롬돋움"/>
                <a:cs typeface="함초롬돋움"/>
              </a:rPr>
              <a:t>누락,</a:t>
            </a:r>
            <a:r>
              <a:rPr dirty="0" sz="1200" spc="-8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200" spc="-75">
                <a:solidFill>
                  <a:srgbClr val="334155"/>
                </a:solidFill>
                <a:latin typeface="함초롬돋움"/>
                <a:cs typeface="함초롬돋움"/>
              </a:rPr>
              <a:t>시간</a:t>
            </a:r>
            <a:r>
              <a:rPr dirty="0" sz="1200" spc="-8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200" spc="-75">
                <a:solidFill>
                  <a:srgbClr val="334155"/>
                </a:solidFill>
                <a:latin typeface="함초롬돋움"/>
                <a:cs typeface="함초롬돋움"/>
              </a:rPr>
              <a:t>역전</a:t>
            </a:r>
            <a:r>
              <a:rPr dirty="0" sz="1200" spc="-8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200" spc="-75">
                <a:solidFill>
                  <a:srgbClr val="334155"/>
                </a:solidFill>
                <a:latin typeface="함초롬돋움"/>
                <a:cs typeface="함초롬돋움"/>
              </a:rPr>
              <a:t>오류</a:t>
            </a:r>
            <a:r>
              <a:rPr dirty="0" sz="1200" spc="-8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200" spc="-75">
                <a:solidFill>
                  <a:srgbClr val="334155"/>
                </a:solidFill>
                <a:latin typeface="함초롬돋움"/>
                <a:cs typeface="함초롬돋움"/>
              </a:rPr>
              <a:t>자동</a:t>
            </a:r>
            <a:r>
              <a:rPr dirty="0" sz="1200" spc="-8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200" spc="-25">
                <a:solidFill>
                  <a:srgbClr val="334155"/>
                </a:solidFill>
                <a:latin typeface="함초롬돋움"/>
                <a:cs typeface="함초롬돋움"/>
              </a:rPr>
              <a:t>감지</a:t>
            </a:r>
            <a:endParaRPr sz="1200">
              <a:latin typeface="함초롬돋움"/>
              <a:cs typeface="함초롬돋움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200" spc="-75" b="1">
                <a:solidFill>
                  <a:srgbClr val="334155"/>
                </a:solidFill>
                <a:latin typeface="함초롬돋움"/>
                <a:cs typeface="함초롬돋움"/>
              </a:rPr>
              <a:t>미입력</a:t>
            </a:r>
            <a:r>
              <a:rPr dirty="0" sz="1200" spc="-70" b="1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200" spc="-45" b="1">
                <a:solidFill>
                  <a:srgbClr val="334155"/>
                </a:solidFill>
                <a:latin typeface="함초롬돋움"/>
                <a:cs typeface="함초롬돋움"/>
              </a:rPr>
              <a:t>예외:</a:t>
            </a:r>
            <a:r>
              <a:rPr dirty="0" sz="1200" spc="-75" b="1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200" spc="-75">
                <a:solidFill>
                  <a:srgbClr val="334155"/>
                </a:solidFill>
                <a:latin typeface="함초롬돋움"/>
                <a:cs typeface="함초롬돋움"/>
              </a:rPr>
              <a:t>미입력자는 </a:t>
            </a:r>
            <a:r>
              <a:rPr dirty="0" sz="1200" spc="-45">
                <a:solidFill>
                  <a:srgbClr val="334155"/>
                </a:solidFill>
                <a:latin typeface="함초롬돋움"/>
                <a:cs typeface="함초롬돋움"/>
              </a:rPr>
              <a:t>'전원</a:t>
            </a:r>
            <a:r>
              <a:rPr dirty="0" sz="1200" spc="-75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200" spc="-45">
                <a:solidFill>
                  <a:srgbClr val="334155"/>
                </a:solidFill>
                <a:latin typeface="함초롬돋움"/>
                <a:cs typeface="함초롬돋움"/>
              </a:rPr>
              <a:t>가능'</a:t>
            </a:r>
            <a:r>
              <a:rPr dirty="0" sz="1200" spc="-7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200" spc="-75">
                <a:solidFill>
                  <a:srgbClr val="334155"/>
                </a:solidFill>
                <a:latin typeface="함초롬돋움"/>
                <a:cs typeface="함초롬돋움"/>
              </a:rPr>
              <a:t>처리 금지 및 </a:t>
            </a:r>
            <a:r>
              <a:rPr dirty="0" sz="1200" spc="-40">
                <a:solidFill>
                  <a:srgbClr val="334155"/>
                </a:solidFill>
                <a:latin typeface="함초롬돋움"/>
                <a:cs typeface="함초롬돋움"/>
              </a:rPr>
              <a:t>'미입력'</a:t>
            </a:r>
            <a:r>
              <a:rPr dirty="0" sz="1200" spc="-75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200" spc="-25">
                <a:solidFill>
                  <a:srgbClr val="334155"/>
                </a:solidFill>
                <a:latin typeface="함초롬돋움"/>
                <a:cs typeface="함초롬돋움"/>
              </a:rPr>
              <a:t>표시</a:t>
            </a:r>
            <a:endParaRPr sz="1200">
              <a:latin typeface="함초롬돋움"/>
              <a:cs typeface="함초롬돋움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521450" y="3179317"/>
            <a:ext cx="3387725" cy="12585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9875">
              <a:lnSpc>
                <a:spcPct val="100000"/>
              </a:lnSpc>
              <a:spcBef>
                <a:spcPts val="100"/>
              </a:spcBef>
            </a:pPr>
            <a:r>
              <a:rPr dirty="0" sz="1650" spc="-105" b="1">
                <a:solidFill>
                  <a:srgbClr val="EA580C"/>
                </a:solidFill>
                <a:latin typeface="함초롬돋움"/>
                <a:cs typeface="함초롬돋움"/>
              </a:rPr>
              <a:t>수기</a:t>
            </a:r>
            <a:r>
              <a:rPr dirty="0" sz="1650" spc="-110" b="1">
                <a:solidFill>
                  <a:srgbClr val="EA580C"/>
                </a:solidFill>
                <a:latin typeface="함초롬돋움"/>
                <a:cs typeface="함초롬돋움"/>
              </a:rPr>
              <a:t> </a:t>
            </a:r>
            <a:r>
              <a:rPr dirty="0" sz="1650" spc="-105" b="1">
                <a:solidFill>
                  <a:srgbClr val="EA580C"/>
                </a:solidFill>
                <a:latin typeface="함초롬돋움"/>
                <a:cs typeface="함초롬돋움"/>
              </a:rPr>
              <a:t>수정</a:t>
            </a:r>
            <a:r>
              <a:rPr dirty="0" sz="1650" spc="-110" b="1">
                <a:solidFill>
                  <a:srgbClr val="EA580C"/>
                </a:solidFill>
                <a:latin typeface="함초롬돋움"/>
                <a:cs typeface="함초롬돋움"/>
              </a:rPr>
              <a:t> </a:t>
            </a:r>
            <a:r>
              <a:rPr dirty="0" sz="1650" spc="-45" b="1">
                <a:solidFill>
                  <a:srgbClr val="EA580C"/>
                </a:solidFill>
                <a:latin typeface="함초롬돋움"/>
                <a:cs typeface="함초롬돋움"/>
              </a:rPr>
              <a:t>&amp;</a:t>
            </a:r>
            <a:r>
              <a:rPr dirty="0" sz="1650" spc="-110" b="1">
                <a:solidFill>
                  <a:srgbClr val="EA580C"/>
                </a:solidFill>
                <a:latin typeface="함초롬돋움"/>
                <a:cs typeface="함초롬돋움"/>
              </a:rPr>
              <a:t> </a:t>
            </a:r>
            <a:r>
              <a:rPr dirty="0" sz="1650" spc="-105" b="1">
                <a:solidFill>
                  <a:srgbClr val="EA580C"/>
                </a:solidFill>
                <a:latin typeface="함초롬돋움"/>
                <a:cs typeface="함초롬돋움"/>
              </a:rPr>
              <a:t>개인</a:t>
            </a:r>
            <a:r>
              <a:rPr dirty="0" sz="1650" spc="-110" b="1">
                <a:solidFill>
                  <a:srgbClr val="EA580C"/>
                </a:solidFill>
                <a:latin typeface="함초롬돋움"/>
                <a:cs typeface="함초롬돋움"/>
              </a:rPr>
              <a:t> </a:t>
            </a:r>
            <a:r>
              <a:rPr dirty="0" sz="1650" spc="-25" b="1">
                <a:solidFill>
                  <a:srgbClr val="EA580C"/>
                </a:solidFill>
                <a:latin typeface="함초롬돋움"/>
                <a:cs typeface="함초롬돋움"/>
              </a:rPr>
              <a:t>일정</a:t>
            </a:r>
            <a:endParaRPr sz="1650">
              <a:latin typeface="함초롬돋움"/>
              <a:cs typeface="함초롬돋움"/>
            </a:endParaRPr>
          </a:p>
          <a:p>
            <a:pPr marL="12700" marR="5080">
              <a:lnSpc>
                <a:spcPct val="166700"/>
              </a:lnSpc>
              <a:spcBef>
                <a:spcPts val="525"/>
              </a:spcBef>
            </a:pPr>
            <a:r>
              <a:rPr dirty="0" sz="1200" spc="-75" b="1">
                <a:solidFill>
                  <a:srgbClr val="334155"/>
                </a:solidFill>
                <a:latin typeface="함초롬돋움"/>
                <a:cs typeface="함초롬돋움"/>
              </a:rPr>
              <a:t>개인 일정 </a:t>
            </a:r>
            <a:r>
              <a:rPr dirty="0" sz="1200" spc="-45" b="1">
                <a:solidFill>
                  <a:srgbClr val="334155"/>
                </a:solidFill>
                <a:latin typeface="함초롬돋움"/>
                <a:cs typeface="함초롬돋움"/>
              </a:rPr>
              <a:t>반영:</a:t>
            </a:r>
            <a:r>
              <a:rPr dirty="0" sz="1200" spc="-80" b="1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200" spc="-75">
                <a:solidFill>
                  <a:srgbClr val="334155"/>
                </a:solidFill>
                <a:latin typeface="함초롬돋움"/>
                <a:cs typeface="함초롬돋움"/>
              </a:rPr>
              <a:t>강의</a:t>
            </a:r>
            <a:r>
              <a:rPr dirty="0" sz="1200" spc="-8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200" spc="-75">
                <a:solidFill>
                  <a:srgbClr val="334155"/>
                </a:solidFill>
                <a:latin typeface="함초롬돋움"/>
                <a:cs typeface="함초롬돋움"/>
              </a:rPr>
              <a:t>외</a:t>
            </a:r>
            <a:r>
              <a:rPr dirty="0" sz="1200" spc="-8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200" spc="-75">
                <a:solidFill>
                  <a:srgbClr val="334155"/>
                </a:solidFill>
                <a:latin typeface="함초롬돋움"/>
                <a:cs typeface="함초롬돋움"/>
              </a:rPr>
              <a:t>개인</a:t>
            </a:r>
            <a:r>
              <a:rPr dirty="0" sz="1200" spc="-8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200" spc="-60">
                <a:solidFill>
                  <a:srgbClr val="334155"/>
                </a:solidFill>
                <a:latin typeface="함초롬돋움"/>
                <a:cs typeface="함초롬돋움"/>
              </a:rPr>
              <a:t>약속/불가</a:t>
            </a:r>
            <a:r>
              <a:rPr dirty="0" sz="1200" spc="-8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200" spc="-75">
                <a:solidFill>
                  <a:srgbClr val="334155"/>
                </a:solidFill>
                <a:latin typeface="함초롬돋움"/>
                <a:cs typeface="함초롬돋움"/>
              </a:rPr>
              <a:t>시간</a:t>
            </a:r>
            <a:r>
              <a:rPr dirty="0" sz="1200" spc="-8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200" spc="-75">
                <a:solidFill>
                  <a:srgbClr val="334155"/>
                </a:solidFill>
                <a:latin typeface="함초롬돋움"/>
                <a:cs typeface="함초롬돋움"/>
              </a:rPr>
              <a:t>추가 </a:t>
            </a:r>
            <a:r>
              <a:rPr dirty="0" sz="1200" spc="-35">
                <a:solidFill>
                  <a:srgbClr val="334155"/>
                </a:solidFill>
                <a:latin typeface="함초롬돋움"/>
                <a:cs typeface="함초롬돋움"/>
              </a:rPr>
              <a:t>지원 </a:t>
            </a:r>
            <a:r>
              <a:rPr dirty="0" sz="1200" spc="-75" b="1">
                <a:solidFill>
                  <a:srgbClr val="334155"/>
                </a:solidFill>
                <a:latin typeface="함초롬돋움"/>
                <a:cs typeface="함초롬돋움"/>
              </a:rPr>
              <a:t>직관적</a:t>
            </a:r>
            <a:r>
              <a:rPr dirty="0" sz="1200" spc="-70" b="1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200" b="1">
                <a:solidFill>
                  <a:srgbClr val="334155"/>
                </a:solidFill>
                <a:latin typeface="함초롬돋움"/>
                <a:cs typeface="함초롬돋움"/>
              </a:rPr>
              <a:t>UI:</a:t>
            </a:r>
            <a:r>
              <a:rPr dirty="0" sz="1200" spc="-70" b="1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200" spc="-75">
                <a:solidFill>
                  <a:srgbClr val="334155"/>
                </a:solidFill>
                <a:latin typeface="함초롬돋움"/>
                <a:cs typeface="함초롬돋움"/>
              </a:rPr>
              <a:t>드래그</a:t>
            </a:r>
            <a:r>
              <a:rPr dirty="0" sz="1200" spc="-7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200" spc="-75">
                <a:solidFill>
                  <a:srgbClr val="334155"/>
                </a:solidFill>
                <a:latin typeface="함초롬돋움"/>
                <a:cs typeface="함초롬돋움"/>
              </a:rPr>
              <a:t>또는</a:t>
            </a:r>
            <a:r>
              <a:rPr dirty="0" sz="1200" spc="-7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200" spc="-75">
                <a:solidFill>
                  <a:srgbClr val="334155"/>
                </a:solidFill>
                <a:latin typeface="함초롬돋움"/>
                <a:cs typeface="함초롬돋움"/>
              </a:rPr>
              <a:t>터치</a:t>
            </a:r>
            <a:r>
              <a:rPr dirty="0" sz="1200" spc="-7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200" spc="-75">
                <a:solidFill>
                  <a:srgbClr val="334155"/>
                </a:solidFill>
                <a:latin typeface="함초롬돋움"/>
                <a:cs typeface="함초롬돋움"/>
              </a:rPr>
              <a:t>기반 슬롯</a:t>
            </a:r>
            <a:r>
              <a:rPr dirty="0" sz="1200" spc="-7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200" spc="-25">
                <a:solidFill>
                  <a:srgbClr val="334155"/>
                </a:solidFill>
                <a:latin typeface="함초롬돋움"/>
                <a:cs typeface="함초롬돋움"/>
              </a:rPr>
              <a:t>활성화 </a:t>
            </a:r>
            <a:r>
              <a:rPr dirty="0" sz="1200" spc="-60" b="1">
                <a:solidFill>
                  <a:srgbClr val="334155"/>
                </a:solidFill>
                <a:latin typeface="함초롬돋움"/>
                <a:cs typeface="함초롬돋움"/>
              </a:rPr>
              <a:t>재활용성:</a:t>
            </a:r>
            <a:r>
              <a:rPr dirty="0" sz="1200" spc="-75" b="1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200" spc="-75">
                <a:solidFill>
                  <a:srgbClr val="334155"/>
                </a:solidFill>
                <a:latin typeface="함초롬돋움"/>
                <a:cs typeface="함초롬돋움"/>
              </a:rPr>
              <a:t>사용자 계정에 저장하여</a:t>
            </a:r>
            <a:r>
              <a:rPr dirty="0" sz="1200" spc="-7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200" spc="-75">
                <a:solidFill>
                  <a:srgbClr val="334155"/>
                </a:solidFill>
                <a:latin typeface="함초롬돋움"/>
                <a:cs typeface="함초롬돋움"/>
              </a:rPr>
              <a:t>타 모임에서 </a:t>
            </a:r>
            <a:r>
              <a:rPr dirty="0" sz="1200" spc="-25">
                <a:solidFill>
                  <a:srgbClr val="334155"/>
                </a:solidFill>
                <a:latin typeface="함초롬돋움"/>
                <a:cs typeface="함초롬돋움"/>
              </a:rPr>
              <a:t>재사용</a:t>
            </a:r>
            <a:endParaRPr sz="1200">
              <a:latin typeface="함초롬돋움"/>
              <a:cs typeface="함초롬돋움"/>
            </a:endParaRPr>
          </a:p>
        </p:txBody>
      </p:sp>
    </p:spTree>
  </p:cSld>
  <p:clrMapOvr>
    <a:masterClrMapping/>
  </p:clrMapOvr>
</p:sld>
</file>

<file path=ppt/slides/slide2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09600" y="270986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04799" y="380999"/>
                </a:moveTo>
                <a:lnTo>
                  <a:pt x="76199" y="380999"/>
                </a:lnTo>
                <a:lnTo>
                  <a:pt x="46539" y="375011"/>
                </a:lnTo>
                <a:lnTo>
                  <a:pt x="22318" y="358681"/>
                </a:lnTo>
                <a:lnTo>
                  <a:pt x="5988" y="334460"/>
                </a:lnTo>
                <a:lnTo>
                  <a:pt x="0" y="304799"/>
                </a:lnTo>
                <a:lnTo>
                  <a:pt x="0" y="76199"/>
                </a:lnTo>
                <a:lnTo>
                  <a:pt x="5988" y="46539"/>
                </a:lnTo>
                <a:lnTo>
                  <a:pt x="22318" y="22318"/>
                </a:lnTo>
                <a:lnTo>
                  <a:pt x="46539" y="5988"/>
                </a:lnTo>
                <a:lnTo>
                  <a:pt x="76199" y="0"/>
                </a:lnTo>
                <a:lnTo>
                  <a:pt x="304799" y="0"/>
                </a:lnTo>
                <a:lnTo>
                  <a:pt x="347075" y="12802"/>
                </a:lnTo>
                <a:lnTo>
                  <a:pt x="375199" y="47039"/>
                </a:lnTo>
                <a:lnTo>
                  <a:pt x="380999" y="76199"/>
                </a:lnTo>
                <a:lnTo>
                  <a:pt x="380999" y="304799"/>
                </a:lnTo>
                <a:lnTo>
                  <a:pt x="375011" y="334460"/>
                </a:lnTo>
                <a:lnTo>
                  <a:pt x="358681" y="358681"/>
                </a:lnTo>
                <a:lnTo>
                  <a:pt x="334460" y="375011"/>
                </a:lnTo>
                <a:lnTo>
                  <a:pt x="304799" y="380999"/>
                </a:lnTo>
                <a:close/>
              </a:path>
            </a:pathLst>
          </a:custGeom>
          <a:solidFill>
            <a:srgbClr val="0F17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143000" y="2509836"/>
            <a:ext cx="10439400" cy="781050"/>
          </a:xfrm>
          <a:custGeom>
            <a:avLst/>
            <a:gdLst/>
            <a:ahLst/>
            <a:cxnLst/>
            <a:rect l="l" t="t" r="r" b="b"/>
            <a:pathLst>
              <a:path w="10439400" h="781050">
                <a:moveTo>
                  <a:pt x="10363200" y="781049"/>
                </a:moveTo>
                <a:lnTo>
                  <a:pt x="76199" y="781049"/>
                </a:lnTo>
                <a:lnTo>
                  <a:pt x="46539" y="775061"/>
                </a:lnTo>
                <a:lnTo>
                  <a:pt x="22318" y="758731"/>
                </a:lnTo>
                <a:lnTo>
                  <a:pt x="5988" y="734510"/>
                </a:lnTo>
                <a:lnTo>
                  <a:pt x="0" y="704850"/>
                </a:lnTo>
                <a:lnTo>
                  <a:pt x="0" y="76199"/>
                </a:lnTo>
                <a:lnTo>
                  <a:pt x="5988" y="46539"/>
                </a:lnTo>
                <a:lnTo>
                  <a:pt x="22318" y="22318"/>
                </a:lnTo>
                <a:lnTo>
                  <a:pt x="46539" y="5988"/>
                </a:lnTo>
                <a:lnTo>
                  <a:pt x="76199" y="0"/>
                </a:lnTo>
                <a:lnTo>
                  <a:pt x="10363200" y="0"/>
                </a:lnTo>
                <a:lnTo>
                  <a:pt x="10405476" y="12802"/>
                </a:lnTo>
                <a:lnTo>
                  <a:pt x="10433599" y="47039"/>
                </a:lnTo>
                <a:lnTo>
                  <a:pt x="10439399" y="76199"/>
                </a:lnTo>
                <a:lnTo>
                  <a:pt x="10439399" y="704850"/>
                </a:lnTo>
                <a:lnTo>
                  <a:pt x="10433411" y="734510"/>
                </a:lnTo>
                <a:lnTo>
                  <a:pt x="10417081" y="758731"/>
                </a:lnTo>
                <a:lnTo>
                  <a:pt x="10392860" y="775061"/>
                </a:lnTo>
                <a:lnTo>
                  <a:pt x="10363200" y="781049"/>
                </a:lnTo>
                <a:close/>
              </a:path>
            </a:pathLst>
          </a:custGeom>
          <a:solidFill>
            <a:srgbClr val="F7FA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609600" y="364331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04799" y="380999"/>
                </a:moveTo>
                <a:lnTo>
                  <a:pt x="76199" y="380999"/>
                </a:lnTo>
                <a:lnTo>
                  <a:pt x="46539" y="375011"/>
                </a:lnTo>
                <a:lnTo>
                  <a:pt x="22318" y="358681"/>
                </a:lnTo>
                <a:lnTo>
                  <a:pt x="5988" y="334460"/>
                </a:lnTo>
                <a:lnTo>
                  <a:pt x="0" y="304799"/>
                </a:lnTo>
                <a:lnTo>
                  <a:pt x="0" y="76199"/>
                </a:lnTo>
                <a:lnTo>
                  <a:pt x="5988" y="46539"/>
                </a:lnTo>
                <a:lnTo>
                  <a:pt x="22318" y="22318"/>
                </a:lnTo>
                <a:lnTo>
                  <a:pt x="46539" y="5988"/>
                </a:lnTo>
                <a:lnTo>
                  <a:pt x="76199" y="0"/>
                </a:lnTo>
                <a:lnTo>
                  <a:pt x="304799" y="0"/>
                </a:lnTo>
                <a:lnTo>
                  <a:pt x="347075" y="12802"/>
                </a:lnTo>
                <a:lnTo>
                  <a:pt x="375199" y="47039"/>
                </a:lnTo>
                <a:lnTo>
                  <a:pt x="380999" y="76199"/>
                </a:lnTo>
                <a:lnTo>
                  <a:pt x="380999" y="304799"/>
                </a:lnTo>
                <a:lnTo>
                  <a:pt x="375011" y="334460"/>
                </a:lnTo>
                <a:lnTo>
                  <a:pt x="358681" y="358681"/>
                </a:lnTo>
                <a:lnTo>
                  <a:pt x="334460" y="375011"/>
                </a:lnTo>
                <a:lnTo>
                  <a:pt x="304799" y="380999"/>
                </a:lnTo>
                <a:close/>
              </a:path>
            </a:pathLst>
          </a:custGeom>
          <a:solidFill>
            <a:srgbClr val="EA580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143000" y="3443287"/>
            <a:ext cx="10439400" cy="781050"/>
          </a:xfrm>
          <a:custGeom>
            <a:avLst/>
            <a:gdLst/>
            <a:ahLst/>
            <a:cxnLst/>
            <a:rect l="l" t="t" r="r" b="b"/>
            <a:pathLst>
              <a:path w="10439400" h="781050">
                <a:moveTo>
                  <a:pt x="10363200" y="781049"/>
                </a:moveTo>
                <a:lnTo>
                  <a:pt x="76199" y="781049"/>
                </a:lnTo>
                <a:lnTo>
                  <a:pt x="46539" y="775061"/>
                </a:lnTo>
                <a:lnTo>
                  <a:pt x="22318" y="758731"/>
                </a:lnTo>
                <a:lnTo>
                  <a:pt x="5988" y="734511"/>
                </a:lnTo>
                <a:lnTo>
                  <a:pt x="0" y="704850"/>
                </a:lnTo>
                <a:lnTo>
                  <a:pt x="0" y="76199"/>
                </a:lnTo>
                <a:lnTo>
                  <a:pt x="5988" y="46539"/>
                </a:lnTo>
                <a:lnTo>
                  <a:pt x="22318" y="22318"/>
                </a:lnTo>
                <a:lnTo>
                  <a:pt x="46539" y="5988"/>
                </a:lnTo>
                <a:lnTo>
                  <a:pt x="76199" y="0"/>
                </a:lnTo>
                <a:lnTo>
                  <a:pt x="10363200" y="0"/>
                </a:lnTo>
                <a:lnTo>
                  <a:pt x="10405476" y="12802"/>
                </a:lnTo>
                <a:lnTo>
                  <a:pt x="10433599" y="47038"/>
                </a:lnTo>
                <a:lnTo>
                  <a:pt x="10439399" y="76199"/>
                </a:lnTo>
                <a:lnTo>
                  <a:pt x="10439399" y="704850"/>
                </a:lnTo>
                <a:lnTo>
                  <a:pt x="10433411" y="734511"/>
                </a:lnTo>
                <a:lnTo>
                  <a:pt x="10417081" y="758731"/>
                </a:lnTo>
                <a:lnTo>
                  <a:pt x="10392860" y="775061"/>
                </a:lnTo>
                <a:lnTo>
                  <a:pt x="10363200" y="781049"/>
                </a:lnTo>
                <a:close/>
              </a:path>
            </a:pathLst>
          </a:custGeom>
          <a:solidFill>
            <a:srgbClr val="FFF6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609600" y="457676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04799" y="380999"/>
                </a:moveTo>
                <a:lnTo>
                  <a:pt x="76199" y="380999"/>
                </a:lnTo>
                <a:lnTo>
                  <a:pt x="46539" y="375011"/>
                </a:lnTo>
                <a:lnTo>
                  <a:pt x="22318" y="358681"/>
                </a:lnTo>
                <a:lnTo>
                  <a:pt x="5988" y="334460"/>
                </a:lnTo>
                <a:lnTo>
                  <a:pt x="0" y="304799"/>
                </a:lnTo>
                <a:lnTo>
                  <a:pt x="0" y="76199"/>
                </a:lnTo>
                <a:lnTo>
                  <a:pt x="5988" y="46539"/>
                </a:lnTo>
                <a:lnTo>
                  <a:pt x="22318" y="22318"/>
                </a:lnTo>
                <a:lnTo>
                  <a:pt x="46539" y="5988"/>
                </a:lnTo>
                <a:lnTo>
                  <a:pt x="76199" y="0"/>
                </a:lnTo>
                <a:lnTo>
                  <a:pt x="304799" y="0"/>
                </a:lnTo>
                <a:lnTo>
                  <a:pt x="347075" y="12802"/>
                </a:lnTo>
                <a:lnTo>
                  <a:pt x="375199" y="47039"/>
                </a:lnTo>
                <a:lnTo>
                  <a:pt x="380999" y="76199"/>
                </a:lnTo>
                <a:lnTo>
                  <a:pt x="380999" y="304799"/>
                </a:lnTo>
                <a:lnTo>
                  <a:pt x="375011" y="334460"/>
                </a:lnTo>
                <a:lnTo>
                  <a:pt x="358681" y="358681"/>
                </a:lnTo>
                <a:lnTo>
                  <a:pt x="334460" y="375011"/>
                </a:lnTo>
                <a:lnTo>
                  <a:pt x="304799" y="380999"/>
                </a:lnTo>
                <a:close/>
              </a:path>
            </a:pathLst>
          </a:custGeom>
          <a:solidFill>
            <a:srgbClr val="16A34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143000" y="4376737"/>
            <a:ext cx="10439400" cy="781050"/>
          </a:xfrm>
          <a:custGeom>
            <a:avLst/>
            <a:gdLst/>
            <a:ahLst/>
            <a:cxnLst/>
            <a:rect l="l" t="t" r="r" b="b"/>
            <a:pathLst>
              <a:path w="10439400" h="781050">
                <a:moveTo>
                  <a:pt x="10363200" y="781049"/>
                </a:moveTo>
                <a:lnTo>
                  <a:pt x="76199" y="781049"/>
                </a:lnTo>
                <a:lnTo>
                  <a:pt x="46539" y="775061"/>
                </a:lnTo>
                <a:lnTo>
                  <a:pt x="22318" y="758731"/>
                </a:lnTo>
                <a:lnTo>
                  <a:pt x="5988" y="734511"/>
                </a:lnTo>
                <a:lnTo>
                  <a:pt x="0" y="704850"/>
                </a:lnTo>
                <a:lnTo>
                  <a:pt x="0" y="76199"/>
                </a:lnTo>
                <a:lnTo>
                  <a:pt x="5988" y="46539"/>
                </a:lnTo>
                <a:lnTo>
                  <a:pt x="22318" y="22318"/>
                </a:lnTo>
                <a:lnTo>
                  <a:pt x="46539" y="5988"/>
                </a:lnTo>
                <a:lnTo>
                  <a:pt x="76199" y="0"/>
                </a:lnTo>
                <a:lnTo>
                  <a:pt x="10363200" y="0"/>
                </a:lnTo>
                <a:lnTo>
                  <a:pt x="10405476" y="12802"/>
                </a:lnTo>
                <a:lnTo>
                  <a:pt x="10433599" y="47038"/>
                </a:lnTo>
                <a:lnTo>
                  <a:pt x="10439399" y="76199"/>
                </a:lnTo>
                <a:lnTo>
                  <a:pt x="10439399" y="704850"/>
                </a:lnTo>
                <a:lnTo>
                  <a:pt x="10433411" y="734511"/>
                </a:lnTo>
                <a:lnTo>
                  <a:pt x="10417081" y="758731"/>
                </a:lnTo>
                <a:lnTo>
                  <a:pt x="10392860" y="775061"/>
                </a:lnTo>
                <a:lnTo>
                  <a:pt x="10363200" y="781049"/>
                </a:lnTo>
                <a:close/>
              </a:path>
            </a:pathLst>
          </a:custGeom>
          <a:solidFill>
            <a:srgbClr val="F0FC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596900" y="439165"/>
            <a:ext cx="153924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b="1">
                <a:solidFill>
                  <a:srgbClr val="EA580C"/>
                </a:solidFill>
                <a:latin typeface="함초롬돋움"/>
                <a:cs typeface="함초롬돋움"/>
              </a:rPr>
              <a:t>MATCHING</a:t>
            </a:r>
            <a:r>
              <a:rPr dirty="0" sz="1050" spc="50" b="1">
                <a:solidFill>
                  <a:srgbClr val="EA580C"/>
                </a:solidFill>
                <a:latin typeface="함초롬돋움"/>
                <a:cs typeface="함초롬돋움"/>
              </a:rPr>
              <a:t> </a:t>
            </a:r>
            <a:r>
              <a:rPr dirty="0" sz="1050" spc="-10" b="1">
                <a:solidFill>
                  <a:srgbClr val="EA580C"/>
                </a:solidFill>
                <a:latin typeface="함초롬돋움"/>
                <a:cs typeface="함초롬돋움"/>
              </a:rPr>
              <a:t>ALGORITHM</a:t>
            </a:r>
            <a:endParaRPr sz="1050">
              <a:latin typeface="함초롬돋움"/>
              <a:cs typeface="함초롬돋움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596900" y="623570"/>
            <a:ext cx="4030345" cy="3683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50" spc="-135"/>
              <a:t>공통</a:t>
            </a:r>
            <a:r>
              <a:rPr dirty="0" sz="2250" spc="-160"/>
              <a:t> </a:t>
            </a:r>
            <a:r>
              <a:rPr dirty="0" sz="2250" spc="-135"/>
              <a:t>참석</a:t>
            </a:r>
            <a:r>
              <a:rPr dirty="0" sz="2250" spc="-155"/>
              <a:t> </a:t>
            </a:r>
            <a:r>
              <a:rPr dirty="0" sz="2250" spc="-135"/>
              <a:t>가능</a:t>
            </a:r>
            <a:r>
              <a:rPr dirty="0" sz="2250" spc="-160"/>
              <a:t> </a:t>
            </a:r>
            <a:r>
              <a:rPr dirty="0" sz="2250" spc="-135"/>
              <a:t>시간</a:t>
            </a:r>
            <a:r>
              <a:rPr dirty="0" sz="2250" spc="-155"/>
              <a:t> </a:t>
            </a:r>
            <a:r>
              <a:rPr dirty="0" sz="2250" spc="-135"/>
              <a:t>탐색</a:t>
            </a:r>
            <a:r>
              <a:rPr dirty="0" sz="2250" spc="-160"/>
              <a:t> </a:t>
            </a:r>
            <a:r>
              <a:rPr dirty="0" sz="2250" spc="-75"/>
              <a:t>알고리즘</a:t>
            </a:r>
            <a:endParaRPr sz="2250"/>
          </a:p>
        </p:txBody>
      </p:sp>
      <p:sp>
        <p:nvSpPr>
          <p:cNvPr id="10" name="object 10" descr=""/>
          <p:cNvSpPr txBox="1"/>
          <p:nvPr/>
        </p:nvSpPr>
        <p:spPr>
          <a:xfrm>
            <a:off x="742441" y="2790126"/>
            <a:ext cx="1155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 b="1">
                <a:solidFill>
                  <a:srgbClr val="FFFFFF"/>
                </a:solidFill>
                <a:latin typeface="함초롬돋움"/>
                <a:cs typeface="함초롬돋움"/>
              </a:rPr>
              <a:t>1</a:t>
            </a:r>
            <a:endParaRPr sz="1200">
              <a:latin typeface="함초롬돋움"/>
              <a:cs typeface="함초롬돋움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742441" y="3723575"/>
            <a:ext cx="1155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 b="1">
                <a:solidFill>
                  <a:srgbClr val="FFFFFF"/>
                </a:solidFill>
                <a:latin typeface="함초롬돋움"/>
                <a:cs typeface="함초롬돋움"/>
              </a:rPr>
              <a:t>2</a:t>
            </a:r>
            <a:endParaRPr sz="1200">
              <a:latin typeface="함초롬돋움"/>
              <a:cs typeface="함초롬돋움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742441" y="4657025"/>
            <a:ext cx="1155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 b="1">
                <a:solidFill>
                  <a:srgbClr val="FFFFFF"/>
                </a:solidFill>
                <a:latin typeface="함초롬돋움"/>
                <a:cs typeface="함초롬돋움"/>
              </a:rPr>
              <a:t>3</a:t>
            </a:r>
            <a:endParaRPr sz="1200">
              <a:latin typeface="함초롬돋움"/>
              <a:cs typeface="함초롬돋움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358900" y="2589999"/>
            <a:ext cx="4326255" cy="527050"/>
          </a:xfrm>
          <a:prstGeom prst="rect">
            <a:avLst/>
          </a:prstGeom>
        </p:spPr>
        <p:txBody>
          <a:bodyPr wrap="square" lIns="0" tIns="876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dirty="0" sz="1250" spc="-55" b="1">
                <a:solidFill>
                  <a:srgbClr val="0F172A"/>
                </a:solidFill>
                <a:latin typeface="함초롬돋움"/>
                <a:cs typeface="함초롬돋움"/>
              </a:rPr>
              <a:t>시간</a:t>
            </a:r>
            <a:r>
              <a:rPr dirty="0" sz="1250" spc="-80" b="1">
                <a:solidFill>
                  <a:srgbClr val="0F172A"/>
                </a:solidFill>
                <a:latin typeface="함초롬돋움"/>
                <a:cs typeface="함초롬돋움"/>
              </a:rPr>
              <a:t> </a:t>
            </a:r>
            <a:r>
              <a:rPr dirty="0" sz="1250" spc="-55" b="1">
                <a:solidFill>
                  <a:srgbClr val="0F172A"/>
                </a:solidFill>
                <a:latin typeface="함초롬돋움"/>
                <a:cs typeface="함초롬돋움"/>
              </a:rPr>
              <a:t>슬롯</a:t>
            </a:r>
            <a:r>
              <a:rPr dirty="0" sz="1250" spc="-75" b="1">
                <a:solidFill>
                  <a:srgbClr val="0F172A"/>
                </a:solidFill>
                <a:latin typeface="함초롬돋움"/>
                <a:cs typeface="함초롬돋움"/>
              </a:rPr>
              <a:t> </a:t>
            </a:r>
            <a:r>
              <a:rPr dirty="0" sz="1250" spc="-55" b="1">
                <a:solidFill>
                  <a:srgbClr val="0F172A"/>
                </a:solidFill>
                <a:latin typeface="함초롬돋움"/>
                <a:cs typeface="함초롬돋움"/>
              </a:rPr>
              <a:t>비트</a:t>
            </a:r>
            <a:r>
              <a:rPr dirty="0" sz="1250" spc="-80" b="1">
                <a:solidFill>
                  <a:srgbClr val="0F172A"/>
                </a:solidFill>
                <a:latin typeface="함초롬돋움"/>
                <a:cs typeface="함초롬돋움"/>
              </a:rPr>
              <a:t> </a:t>
            </a:r>
            <a:r>
              <a:rPr dirty="0" sz="1250" spc="-25" b="1">
                <a:solidFill>
                  <a:srgbClr val="0F172A"/>
                </a:solidFill>
                <a:latin typeface="함초롬돋움"/>
                <a:cs typeface="함초롬돋움"/>
              </a:rPr>
              <a:t>변환</a:t>
            </a:r>
            <a:endParaRPr sz="1250">
              <a:latin typeface="함초롬돋움"/>
              <a:cs typeface="함초롬돋움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1100" spc="-40">
                <a:solidFill>
                  <a:srgbClr val="475568"/>
                </a:solidFill>
                <a:latin typeface="함초롬돋움"/>
                <a:cs typeface="함초롬돋움"/>
              </a:rPr>
              <a:t>일정</a:t>
            </a:r>
            <a:r>
              <a:rPr dirty="0" sz="1100" spc="-60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475568"/>
                </a:solidFill>
                <a:latin typeface="함초롬돋움"/>
                <a:cs typeface="함초롬돋움"/>
              </a:rPr>
              <a:t>시간을</a:t>
            </a:r>
            <a:r>
              <a:rPr dirty="0" sz="1100" spc="-60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475568"/>
                </a:solidFill>
                <a:latin typeface="함초롬돋움"/>
                <a:cs typeface="함초롬돋움"/>
              </a:rPr>
              <a:t>고정</a:t>
            </a:r>
            <a:r>
              <a:rPr dirty="0" sz="1100" spc="-60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475568"/>
                </a:solidFill>
                <a:latin typeface="함초롬돋움"/>
                <a:cs typeface="함초롬돋움"/>
              </a:rPr>
              <a:t>단위</a:t>
            </a:r>
            <a:r>
              <a:rPr dirty="0" sz="1100" spc="-60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475568"/>
                </a:solidFill>
                <a:latin typeface="함초롬돋움"/>
                <a:cs typeface="함초롬돋움"/>
              </a:rPr>
              <a:t>슬롯으로</a:t>
            </a:r>
            <a:r>
              <a:rPr dirty="0" sz="1100" spc="-55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100" spc="-25">
                <a:solidFill>
                  <a:srgbClr val="475568"/>
                </a:solidFill>
                <a:latin typeface="함초롬돋움"/>
                <a:cs typeface="함초롬돋움"/>
              </a:rPr>
              <a:t>분할,</a:t>
            </a:r>
            <a:r>
              <a:rPr dirty="0" sz="1100" spc="-60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475568"/>
                </a:solidFill>
                <a:latin typeface="함초롬돋움"/>
                <a:cs typeface="함초롬돋움"/>
              </a:rPr>
              <a:t>참석</a:t>
            </a:r>
            <a:r>
              <a:rPr dirty="0" sz="1100" spc="-60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100">
                <a:solidFill>
                  <a:srgbClr val="475568"/>
                </a:solidFill>
                <a:latin typeface="함초롬돋움"/>
                <a:cs typeface="함초롬돋움"/>
              </a:rPr>
              <a:t>가능(1),</a:t>
            </a:r>
            <a:r>
              <a:rPr dirty="0" sz="1100" spc="-60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100">
                <a:solidFill>
                  <a:srgbClr val="475568"/>
                </a:solidFill>
                <a:latin typeface="함초롬돋움"/>
                <a:cs typeface="함초롬돋움"/>
              </a:rPr>
              <a:t>불가능(0)</a:t>
            </a:r>
            <a:r>
              <a:rPr dirty="0" sz="1100" spc="-60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475568"/>
                </a:solidFill>
                <a:latin typeface="함초롬돋움"/>
                <a:cs typeface="함초롬돋움"/>
              </a:rPr>
              <a:t>비트열</a:t>
            </a:r>
            <a:r>
              <a:rPr dirty="0" sz="1100" spc="-55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100" spc="-25">
                <a:solidFill>
                  <a:srgbClr val="475568"/>
                </a:solidFill>
                <a:latin typeface="함초롬돋움"/>
                <a:cs typeface="함초롬돋움"/>
              </a:rPr>
              <a:t>생성</a:t>
            </a:r>
            <a:endParaRPr sz="1100">
              <a:latin typeface="함초롬돋움"/>
              <a:cs typeface="함초롬돋움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358900" y="3523449"/>
            <a:ext cx="4013200" cy="527050"/>
          </a:xfrm>
          <a:prstGeom prst="rect">
            <a:avLst/>
          </a:prstGeom>
        </p:spPr>
        <p:txBody>
          <a:bodyPr wrap="square" lIns="0" tIns="876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dirty="0" sz="1250" spc="-55" b="1">
                <a:solidFill>
                  <a:srgbClr val="EA580C"/>
                </a:solidFill>
                <a:latin typeface="함초롬돋움"/>
                <a:cs typeface="함초롬돋움"/>
              </a:rPr>
              <a:t>여유</a:t>
            </a:r>
            <a:r>
              <a:rPr dirty="0" sz="1250" spc="-80" b="1">
                <a:solidFill>
                  <a:srgbClr val="EA580C"/>
                </a:solidFill>
                <a:latin typeface="함초롬돋움"/>
                <a:cs typeface="함초롬돋움"/>
              </a:rPr>
              <a:t> </a:t>
            </a:r>
            <a:r>
              <a:rPr dirty="0" sz="1250" spc="-55" b="1">
                <a:solidFill>
                  <a:srgbClr val="EA580C"/>
                </a:solidFill>
                <a:latin typeface="함초롬돋움"/>
                <a:cs typeface="함초롬돋움"/>
              </a:rPr>
              <a:t>시간</a:t>
            </a:r>
            <a:r>
              <a:rPr dirty="0" sz="1250" spc="-70" b="1">
                <a:solidFill>
                  <a:srgbClr val="EA580C"/>
                </a:solidFill>
                <a:latin typeface="함초롬돋움"/>
                <a:cs typeface="함초롬돋움"/>
              </a:rPr>
              <a:t> </a:t>
            </a:r>
            <a:r>
              <a:rPr dirty="0" sz="1250" spc="-55" b="1">
                <a:solidFill>
                  <a:srgbClr val="EA580C"/>
                </a:solidFill>
                <a:latin typeface="함초롬돋움"/>
                <a:cs typeface="함초롬돋움"/>
              </a:rPr>
              <a:t>오프셋</a:t>
            </a:r>
            <a:r>
              <a:rPr dirty="0" sz="1250" spc="-70" b="1">
                <a:solidFill>
                  <a:srgbClr val="EA580C"/>
                </a:solidFill>
                <a:latin typeface="함초롬돋움"/>
                <a:cs typeface="함초롬돋움"/>
              </a:rPr>
              <a:t> </a:t>
            </a:r>
            <a:r>
              <a:rPr dirty="0" sz="1250" spc="-55" b="1">
                <a:solidFill>
                  <a:srgbClr val="EA580C"/>
                </a:solidFill>
                <a:latin typeface="함초롬돋움"/>
                <a:cs typeface="함초롬돋움"/>
              </a:rPr>
              <a:t>반영</a:t>
            </a:r>
            <a:r>
              <a:rPr dirty="0" sz="1250" spc="-65" b="1">
                <a:solidFill>
                  <a:srgbClr val="EA580C"/>
                </a:solidFill>
                <a:latin typeface="함초롬돋움"/>
                <a:cs typeface="함초롬돋움"/>
              </a:rPr>
              <a:t> </a:t>
            </a:r>
            <a:r>
              <a:rPr dirty="0" sz="1250" spc="-10" b="1">
                <a:solidFill>
                  <a:srgbClr val="EA580C"/>
                </a:solidFill>
                <a:latin typeface="함초롬돋움"/>
                <a:cs typeface="함초롬돋움"/>
              </a:rPr>
              <a:t>&amp;</a:t>
            </a:r>
            <a:r>
              <a:rPr dirty="0" sz="1250" spc="-70" b="1">
                <a:solidFill>
                  <a:srgbClr val="EA580C"/>
                </a:solidFill>
                <a:latin typeface="함초롬돋움"/>
                <a:cs typeface="함초롬돋움"/>
              </a:rPr>
              <a:t> </a:t>
            </a:r>
            <a:r>
              <a:rPr dirty="0" sz="1250" spc="-55" b="1">
                <a:solidFill>
                  <a:srgbClr val="EA580C"/>
                </a:solidFill>
                <a:latin typeface="함초롬돋움"/>
                <a:cs typeface="함초롬돋움"/>
              </a:rPr>
              <a:t>비트</a:t>
            </a:r>
            <a:r>
              <a:rPr dirty="0" sz="1250" spc="-70" b="1">
                <a:solidFill>
                  <a:srgbClr val="EA580C"/>
                </a:solidFill>
                <a:latin typeface="함초롬돋움"/>
                <a:cs typeface="함초롬돋움"/>
              </a:rPr>
              <a:t> </a:t>
            </a:r>
            <a:r>
              <a:rPr dirty="0" sz="1250" b="1">
                <a:solidFill>
                  <a:srgbClr val="EA580C"/>
                </a:solidFill>
                <a:latin typeface="함초롬돋움"/>
                <a:cs typeface="함초롬돋움"/>
              </a:rPr>
              <a:t>AND</a:t>
            </a:r>
            <a:r>
              <a:rPr dirty="0" sz="1250" spc="-65" b="1">
                <a:solidFill>
                  <a:srgbClr val="EA580C"/>
                </a:solidFill>
                <a:latin typeface="함초롬돋움"/>
                <a:cs typeface="함초롬돋움"/>
              </a:rPr>
              <a:t> </a:t>
            </a:r>
            <a:r>
              <a:rPr dirty="0" sz="1250" spc="-25" b="1">
                <a:solidFill>
                  <a:srgbClr val="EA580C"/>
                </a:solidFill>
                <a:latin typeface="함초롬돋움"/>
                <a:cs typeface="함초롬돋움"/>
              </a:rPr>
              <a:t>연산</a:t>
            </a:r>
            <a:endParaRPr sz="1250">
              <a:latin typeface="함초롬돋움"/>
              <a:cs typeface="함초롬돋움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1100" spc="-40">
                <a:solidFill>
                  <a:srgbClr val="334155"/>
                </a:solidFill>
                <a:latin typeface="함초롬돋움"/>
                <a:cs typeface="함초롬돋움"/>
              </a:rPr>
              <a:t>이동</a:t>
            </a:r>
            <a:r>
              <a:rPr dirty="0" sz="1100" spc="-55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334155"/>
                </a:solidFill>
                <a:latin typeface="함초롬돋움"/>
                <a:cs typeface="함초롬돋움"/>
              </a:rPr>
              <a:t>여유</a:t>
            </a:r>
            <a:r>
              <a:rPr dirty="0" sz="1100" spc="-55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334155"/>
                </a:solidFill>
                <a:latin typeface="함초롬돋움"/>
                <a:cs typeface="함초롬돋움"/>
              </a:rPr>
              <a:t>시간을</a:t>
            </a:r>
            <a:r>
              <a:rPr dirty="0" sz="1100" spc="-55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334155"/>
                </a:solidFill>
                <a:latin typeface="함초롬돋움"/>
                <a:cs typeface="함초롬돋움"/>
              </a:rPr>
              <a:t>반영한</a:t>
            </a:r>
            <a:r>
              <a:rPr dirty="0" sz="1100" spc="-55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334155"/>
                </a:solidFill>
                <a:latin typeface="함초롬돋움"/>
                <a:cs typeface="함초롬돋움"/>
              </a:rPr>
              <a:t>후</a:t>
            </a:r>
            <a:r>
              <a:rPr dirty="0" sz="1100" spc="-55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334155"/>
                </a:solidFill>
                <a:latin typeface="함초롬돋움"/>
                <a:cs typeface="함초롬돋움"/>
              </a:rPr>
              <a:t>구성원</a:t>
            </a:r>
            <a:r>
              <a:rPr dirty="0" sz="1100" spc="-55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334155"/>
                </a:solidFill>
                <a:latin typeface="함초롬돋움"/>
                <a:cs typeface="함초롬돋움"/>
              </a:rPr>
              <a:t>비트열에</a:t>
            </a:r>
            <a:r>
              <a:rPr dirty="0" sz="1100" spc="-55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>
                <a:solidFill>
                  <a:srgbClr val="334155"/>
                </a:solidFill>
                <a:latin typeface="함초롬돋움"/>
                <a:cs typeface="함초롬돋움"/>
              </a:rPr>
              <a:t>Bitwise</a:t>
            </a:r>
            <a:r>
              <a:rPr dirty="0" sz="1100" spc="-55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20">
                <a:solidFill>
                  <a:srgbClr val="334155"/>
                </a:solidFill>
                <a:latin typeface="함초롬돋움"/>
                <a:cs typeface="함초롬돋움"/>
              </a:rPr>
              <a:t>AND</a:t>
            </a:r>
            <a:r>
              <a:rPr dirty="0" sz="1100" spc="-55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334155"/>
                </a:solidFill>
                <a:latin typeface="함초롬돋움"/>
                <a:cs typeface="함초롬돋움"/>
              </a:rPr>
              <a:t>연산</a:t>
            </a:r>
            <a:r>
              <a:rPr dirty="0" sz="1100" spc="-55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25">
                <a:solidFill>
                  <a:srgbClr val="334155"/>
                </a:solidFill>
                <a:latin typeface="함초롬돋움"/>
                <a:cs typeface="함초롬돋움"/>
              </a:rPr>
              <a:t>수행</a:t>
            </a:r>
            <a:endParaRPr sz="1100">
              <a:latin typeface="함초롬돋움"/>
              <a:cs typeface="함초롬돋움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358900" y="4456899"/>
            <a:ext cx="4006215" cy="527050"/>
          </a:xfrm>
          <a:prstGeom prst="rect">
            <a:avLst/>
          </a:prstGeom>
        </p:spPr>
        <p:txBody>
          <a:bodyPr wrap="square" lIns="0" tIns="876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dirty="0" sz="1250" spc="-55" b="1">
                <a:solidFill>
                  <a:srgbClr val="16A34A"/>
                </a:solidFill>
                <a:latin typeface="함초롬돋움"/>
                <a:cs typeface="함초롬돋움"/>
              </a:rPr>
              <a:t>최소</a:t>
            </a:r>
            <a:r>
              <a:rPr dirty="0" sz="1250" spc="-80" b="1">
                <a:solidFill>
                  <a:srgbClr val="16A34A"/>
                </a:solidFill>
                <a:latin typeface="함초롬돋움"/>
                <a:cs typeface="함초롬돋움"/>
              </a:rPr>
              <a:t> </a:t>
            </a:r>
            <a:r>
              <a:rPr dirty="0" sz="1250" spc="-55" b="1">
                <a:solidFill>
                  <a:srgbClr val="16A34A"/>
                </a:solidFill>
                <a:latin typeface="함초롬돋움"/>
                <a:cs typeface="함초롬돋움"/>
              </a:rPr>
              <a:t>회의</a:t>
            </a:r>
            <a:r>
              <a:rPr dirty="0" sz="1250" spc="-80" b="1">
                <a:solidFill>
                  <a:srgbClr val="16A34A"/>
                </a:solidFill>
                <a:latin typeface="함초롬돋움"/>
                <a:cs typeface="함초롬돋움"/>
              </a:rPr>
              <a:t> </a:t>
            </a:r>
            <a:r>
              <a:rPr dirty="0" sz="1250" spc="-55" b="1">
                <a:solidFill>
                  <a:srgbClr val="16A34A"/>
                </a:solidFill>
                <a:latin typeface="함초롬돋움"/>
                <a:cs typeface="함초롬돋움"/>
              </a:rPr>
              <a:t>시간</a:t>
            </a:r>
            <a:r>
              <a:rPr dirty="0" sz="1250" spc="-75" b="1">
                <a:solidFill>
                  <a:srgbClr val="16A34A"/>
                </a:solidFill>
                <a:latin typeface="함초롬돋움"/>
                <a:cs typeface="함초롬돋움"/>
              </a:rPr>
              <a:t> </a:t>
            </a:r>
            <a:r>
              <a:rPr dirty="0" sz="1250" spc="-55" b="1">
                <a:solidFill>
                  <a:srgbClr val="16A34A"/>
                </a:solidFill>
                <a:latin typeface="함초롬돋움"/>
                <a:cs typeface="함초롬돋움"/>
              </a:rPr>
              <a:t>필터링</a:t>
            </a:r>
            <a:r>
              <a:rPr dirty="0" sz="1250" spc="-80" b="1">
                <a:solidFill>
                  <a:srgbClr val="16A34A"/>
                </a:solidFill>
                <a:latin typeface="함초롬돋움"/>
                <a:cs typeface="함초롬돋움"/>
              </a:rPr>
              <a:t> </a:t>
            </a:r>
            <a:r>
              <a:rPr dirty="0" sz="1250" spc="-10" b="1">
                <a:solidFill>
                  <a:srgbClr val="16A34A"/>
                </a:solidFill>
                <a:latin typeface="함초롬돋움"/>
                <a:cs typeface="함초롬돋움"/>
              </a:rPr>
              <a:t>&amp;</a:t>
            </a:r>
            <a:r>
              <a:rPr dirty="0" sz="1250" spc="-75" b="1">
                <a:solidFill>
                  <a:srgbClr val="16A34A"/>
                </a:solidFill>
                <a:latin typeface="함초롬돋움"/>
                <a:cs typeface="함초롬돋움"/>
              </a:rPr>
              <a:t> </a:t>
            </a:r>
            <a:r>
              <a:rPr dirty="0" sz="1250" spc="-55" b="1">
                <a:solidFill>
                  <a:srgbClr val="16A34A"/>
                </a:solidFill>
                <a:latin typeface="함초롬돋움"/>
                <a:cs typeface="함초롬돋움"/>
              </a:rPr>
              <a:t>후보</a:t>
            </a:r>
            <a:r>
              <a:rPr dirty="0" sz="1250" spc="-80" b="1">
                <a:solidFill>
                  <a:srgbClr val="16A34A"/>
                </a:solidFill>
                <a:latin typeface="함초롬돋움"/>
                <a:cs typeface="함초롬돋움"/>
              </a:rPr>
              <a:t> </a:t>
            </a:r>
            <a:r>
              <a:rPr dirty="0" sz="1250" spc="-25" b="1">
                <a:solidFill>
                  <a:srgbClr val="16A34A"/>
                </a:solidFill>
                <a:latin typeface="함초롬돋움"/>
                <a:cs typeface="함초롬돋움"/>
              </a:rPr>
              <a:t>추천</a:t>
            </a:r>
            <a:endParaRPr sz="1250">
              <a:latin typeface="함초롬돋움"/>
              <a:cs typeface="함초롬돋움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1100" spc="-40">
                <a:solidFill>
                  <a:srgbClr val="334155"/>
                </a:solidFill>
                <a:latin typeface="함초롬돋움"/>
                <a:cs typeface="함초롬돋움"/>
              </a:rPr>
              <a:t>연속</a:t>
            </a:r>
            <a:r>
              <a:rPr dirty="0" sz="1100" spc="-65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10">
                <a:solidFill>
                  <a:srgbClr val="334155"/>
                </a:solidFill>
                <a:latin typeface="함초롬돋움"/>
                <a:cs typeface="함초롬돋움"/>
              </a:rPr>
              <a:t>1의</a:t>
            </a:r>
            <a:r>
              <a:rPr dirty="0" sz="1100" spc="-6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334155"/>
                </a:solidFill>
                <a:latin typeface="함초롬돋움"/>
                <a:cs typeface="함초롬돋움"/>
              </a:rPr>
              <a:t>길이가</a:t>
            </a:r>
            <a:r>
              <a:rPr dirty="0" sz="1100" spc="-65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334155"/>
                </a:solidFill>
                <a:latin typeface="함초롬돋움"/>
                <a:cs typeface="함초롬돋움"/>
              </a:rPr>
              <a:t>최소</a:t>
            </a:r>
            <a:r>
              <a:rPr dirty="0" sz="1100" spc="-6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334155"/>
                </a:solidFill>
                <a:latin typeface="함초롬돋움"/>
                <a:cs typeface="함초롬돋움"/>
              </a:rPr>
              <a:t>회의</a:t>
            </a:r>
            <a:r>
              <a:rPr dirty="0" sz="1100" spc="-6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334155"/>
                </a:solidFill>
                <a:latin typeface="함초롬돋움"/>
                <a:cs typeface="함초롬돋움"/>
              </a:rPr>
              <a:t>시간</a:t>
            </a:r>
            <a:r>
              <a:rPr dirty="0" sz="1100" spc="-65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334155"/>
                </a:solidFill>
                <a:latin typeface="함초롬돋움"/>
                <a:cs typeface="함초롬돋움"/>
              </a:rPr>
              <a:t>이상인</a:t>
            </a:r>
            <a:r>
              <a:rPr dirty="0" sz="1100" spc="-6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334155"/>
                </a:solidFill>
                <a:latin typeface="함초롬돋움"/>
                <a:cs typeface="함초롬돋움"/>
              </a:rPr>
              <a:t>구간만</a:t>
            </a:r>
            <a:r>
              <a:rPr dirty="0" sz="1100" spc="-65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334155"/>
                </a:solidFill>
                <a:latin typeface="함초롬돋움"/>
                <a:cs typeface="함초롬돋움"/>
              </a:rPr>
              <a:t>최종</a:t>
            </a:r>
            <a:r>
              <a:rPr dirty="0" sz="1100" spc="-6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334155"/>
                </a:solidFill>
                <a:latin typeface="함초롬돋움"/>
                <a:cs typeface="함초롬돋움"/>
              </a:rPr>
              <a:t>모임</a:t>
            </a:r>
            <a:r>
              <a:rPr dirty="0" sz="1100" spc="-6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334155"/>
                </a:solidFill>
                <a:latin typeface="함초롬돋움"/>
                <a:cs typeface="함초롬돋움"/>
              </a:rPr>
              <a:t>후보로</a:t>
            </a:r>
            <a:r>
              <a:rPr dirty="0" sz="1100" spc="-65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25">
                <a:solidFill>
                  <a:srgbClr val="334155"/>
                </a:solidFill>
                <a:latin typeface="함초롬돋움"/>
                <a:cs typeface="함초롬돋움"/>
              </a:rPr>
              <a:t>제공</a:t>
            </a:r>
            <a:endParaRPr sz="1100">
              <a:latin typeface="함초롬돋움"/>
              <a:cs typeface="함초롬돋움"/>
            </a:endParaRPr>
          </a:p>
        </p:txBody>
      </p:sp>
    </p:spTree>
  </p:cSld>
  <p:clrMapOvr>
    <a:masterClrMapping/>
  </p:clrMapOvr>
</p:sld>
</file>

<file path=ppt/slides/slide2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09600" y="3018532"/>
            <a:ext cx="5353050" cy="1716405"/>
          </a:xfrm>
          <a:custGeom>
            <a:avLst/>
            <a:gdLst/>
            <a:ahLst/>
            <a:cxnLst/>
            <a:rect l="l" t="t" r="r" b="b"/>
            <a:pathLst>
              <a:path w="5353050" h="1716404">
                <a:moveTo>
                  <a:pt x="5238762" y="1716285"/>
                </a:moveTo>
                <a:lnTo>
                  <a:pt x="114287" y="1716285"/>
                </a:lnTo>
                <a:lnTo>
                  <a:pt x="69801" y="1707303"/>
                </a:lnTo>
                <a:lnTo>
                  <a:pt x="33474" y="1682811"/>
                </a:lnTo>
                <a:lnTo>
                  <a:pt x="8981" y="1646483"/>
                </a:lnTo>
                <a:lnTo>
                  <a:pt x="0" y="1601997"/>
                </a:lnTo>
                <a:lnTo>
                  <a:pt x="0" y="114287"/>
                </a:lnTo>
                <a:lnTo>
                  <a:pt x="8981" y="69801"/>
                </a:lnTo>
                <a:lnTo>
                  <a:pt x="33474" y="33473"/>
                </a:lnTo>
                <a:lnTo>
                  <a:pt x="69801" y="8981"/>
                </a:lnTo>
                <a:lnTo>
                  <a:pt x="114287" y="0"/>
                </a:lnTo>
                <a:lnTo>
                  <a:pt x="5238762" y="0"/>
                </a:lnTo>
                <a:lnTo>
                  <a:pt x="5282498" y="8699"/>
                </a:lnTo>
                <a:lnTo>
                  <a:pt x="5319576" y="33473"/>
                </a:lnTo>
                <a:lnTo>
                  <a:pt x="5344350" y="70551"/>
                </a:lnTo>
                <a:lnTo>
                  <a:pt x="5353049" y="114287"/>
                </a:lnTo>
                <a:lnTo>
                  <a:pt x="5353049" y="1601997"/>
                </a:lnTo>
                <a:lnTo>
                  <a:pt x="5344068" y="1646483"/>
                </a:lnTo>
                <a:lnTo>
                  <a:pt x="5319575" y="1682811"/>
                </a:lnTo>
                <a:lnTo>
                  <a:pt x="5283248" y="1707303"/>
                </a:lnTo>
                <a:lnTo>
                  <a:pt x="5238762" y="1716285"/>
                </a:lnTo>
                <a:close/>
              </a:path>
            </a:pathLst>
          </a:custGeom>
          <a:solidFill>
            <a:srgbClr val="F7FA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6229350" y="3019425"/>
            <a:ext cx="5353050" cy="1714500"/>
          </a:xfrm>
          <a:custGeom>
            <a:avLst/>
            <a:gdLst/>
            <a:ahLst/>
            <a:cxnLst/>
            <a:rect l="l" t="t" r="r" b="b"/>
            <a:pathLst>
              <a:path w="5353050" h="1714500">
                <a:moveTo>
                  <a:pt x="5238761" y="1714499"/>
                </a:moveTo>
                <a:lnTo>
                  <a:pt x="114288" y="1714499"/>
                </a:lnTo>
                <a:lnTo>
                  <a:pt x="69802" y="1705518"/>
                </a:lnTo>
                <a:lnTo>
                  <a:pt x="33474" y="1681025"/>
                </a:lnTo>
                <a:lnTo>
                  <a:pt x="8981" y="1644697"/>
                </a:lnTo>
                <a:lnTo>
                  <a:pt x="0" y="1600211"/>
                </a:lnTo>
                <a:lnTo>
                  <a:pt x="0" y="114288"/>
                </a:lnTo>
                <a:lnTo>
                  <a:pt x="8981" y="69802"/>
                </a:lnTo>
                <a:lnTo>
                  <a:pt x="33474" y="33474"/>
                </a:lnTo>
                <a:lnTo>
                  <a:pt x="69802" y="8981"/>
                </a:lnTo>
                <a:lnTo>
                  <a:pt x="114288" y="0"/>
                </a:lnTo>
                <a:lnTo>
                  <a:pt x="5238761" y="0"/>
                </a:lnTo>
                <a:lnTo>
                  <a:pt x="5282497" y="8699"/>
                </a:lnTo>
                <a:lnTo>
                  <a:pt x="5319575" y="33474"/>
                </a:lnTo>
                <a:lnTo>
                  <a:pt x="5344350" y="70552"/>
                </a:lnTo>
                <a:lnTo>
                  <a:pt x="5353049" y="114288"/>
                </a:lnTo>
                <a:lnTo>
                  <a:pt x="5353049" y="1600211"/>
                </a:lnTo>
                <a:lnTo>
                  <a:pt x="5344068" y="1644697"/>
                </a:lnTo>
                <a:lnTo>
                  <a:pt x="5319575" y="1681025"/>
                </a:lnTo>
                <a:lnTo>
                  <a:pt x="5283247" y="1705518"/>
                </a:lnTo>
                <a:lnTo>
                  <a:pt x="5238761" y="1714499"/>
                </a:lnTo>
                <a:close/>
              </a:path>
            </a:pathLst>
          </a:custGeom>
          <a:solidFill>
            <a:srgbClr val="F7FAF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6300" y="3313807"/>
            <a:ext cx="148231" cy="19049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96050" y="3314700"/>
            <a:ext cx="148231" cy="190499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596900" y="439165"/>
            <a:ext cx="159131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b="1">
                <a:solidFill>
                  <a:srgbClr val="EA580C"/>
                </a:solidFill>
                <a:latin typeface="함초롬돋움"/>
                <a:cs typeface="함초롬돋움"/>
              </a:rPr>
              <a:t>UX</a:t>
            </a:r>
            <a:r>
              <a:rPr dirty="0" sz="1050" spc="5" b="1">
                <a:solidFill>
                  <a:srgbClr val="EA580C"/>
                </a:solidFill>
                <a:latin typeface="함초롬돋움"/>
                <a:cs typeface="함초롬돋움"/>
              </a:rPr>
              <a:t> </a:t>
            </a:r>
            <a:r>
              <a:rPr dirty="0" sz="1050" spc="-30" b="1">
                <a:solidFill>
                  <a:srgbClr val="EA580C"/>
                </a:solidFill>
                <a:latin typeface="함초롬돋움"/>
                <a:cs typeface="함초롬돋움"/>
              </a:rPr>
              <a:t>&amp;</a:t>
            </a:r>
            <a:r>
              <a:rPr dirty="0" sz="1050" spc="5" b="1">
                <a:solidFill>
                  <a:srgbClr val="EA580C"/>
                </a:solidFill>
                <a:latin typeface="함초롬돋움"/>
                <a:cs typeface="함초롬돋움"/>
              </a:rPr>
              <a:t> </a:t>
            </a:r>
            <a:r>
              <a:rPr dirty="0" sz="1050" b="1">
                <a:solidFill>
                  <a:srgbClr val="EA580C"/>
                </a:solidFill>
                <a:latin typeface="함초롬돋움"/>
                <a:cs typeface="함초롬돋움"/>
              </a:rPr>
              <a:t>GROUP</a:t>
            </a:r>
            <a:r>
              <a:rPr dirty="0" sz="1050" spc="10" b="1">
                <a:solidFill>
                  <a:srgbClr val="EA580C"/>
                </a:solidFill>
                <a:latin typeface="함초롬돋움"/>
                <a:cs typeface="함초롬돋움"/>
              </a:rPr>
              <a:t> </a:t>
            </a:r>
            <a:r>
              <a:rPr dirty="0" sz="1050" spc="-10" b="1">
                <a:solidFill>
                  <a:srgbClr val="EA580C"/>
                </a:solidFill>
                <a:latin typeface="함초롬돋움"/>
                <a:cs typeface="함초롬돋움"/>
              </a:rPr>
              <a:t>CONTROLS</a:t>
            </a:r>
            <a:endParaRPr sz="1050">
              <a:latin typeface="함초롬돋움"/>
              <a:cs typeface="함초롬돋움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5"/>
              <a:t>결과</a:t>
            </a:r>
            <a:r>
              <a:rPr dirty="0" spc="-180"/>
              <a:t> </a:t>
            </a:r>
            <a:r>
              <a:rPr dirty="0" spc="-145"/>
              <a:t>시각화</a:t>
            </a:r>
            <a:r>
              <a:rPr dirty="0" spc="-170"/>
              <a:t> </a:t>
            </a:r>
            <a:r>
              <a:rPr dirty="0" spc="-145"/>
              <a:t>및</a:t>
            </a:r>
            <a:r>
              <a:rPr dirty="0" spc="-170"/>
              <a:t> </a:t>
            </a:r>
            <a:r>
              <a:rPr dirty="0" spc="-145"/>
              <a:t>모임</a:t>
            </a:r>
            <a:r>
              <a:rPr dirty="0" spc="-170"/>
              <a:t> </a:t>
            </a:r>
            <a:r>
              <a:rPr dirty="0" spc="-145"/>
              <a:t>권한</a:t>
            </a:r>
            <a:r>
              <a:rPr dirty="0" spc="-165"/>
              <a:t> </a:t>
            </a:r>
            <a:r>
              <a:rPr dirty="0" spc="-25"/>
              <a:t>제어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863600" y="3264911"/>
            <a:ext cx="4683760" cy="9124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1775">
              <a:lnSpc>
                <a:spcPct val="100000"/>
              </a:lnSpc>
              <a:spcBef>
                <a:spcPts val="100"/>
              </a:spcBef>
            </a:pPr>
            <a:r>
              <a:rPr dirty="0" sz="1500" spc="-80" b="1">
                <a:solidFill>
                  <a:srgbClr val="0F172A"/>
                </a:solidFill>
                <a:latin typeface="함초롬돋움"/>
                <a:cs typeface="함초롬돋움"/>
              </a:rPr>
              <a:t>참석률</a:t>
            </a:r>
            <a:r>
              <a:rPr dirty="0" sz="1500" spc="-90" b="1">
                <a:solidFill>
                  <a:srgbClr val="0F172A"/>
                </a:solidFill>
                <a:latin typeface="함초롬돋움"/>
                <a:cs typeface="함초롬돋움"/>
              </a:rPr>
              <a:t> </a:t>
            </a:r>
            <a:r>
              <a:rPr dirty="0" sz="1500" spc="-80" b="1">
                <a:solidFill>
                  <a:srgbClr val="0F172A"/>
                </a:solidFill>
                <a:latin typeface="함초롬돋움"/>
                <a:cs typeface="함초롬돋움"/>
              </a:rPr>
              <a:t>시각화</a:t>
            </a:r>
            <a:r>
              <a:rPr dirty="0" sz="1500" spc="-85" b="1">
                <a:solidFill>
                  <a:srgbClr val="0F172A"/>
                </a:solidFill>
                <a:latin typeface="함초롬돋움"/>
                <a:cs typeface="함초롬돋움"/>
              </a:rPr>
              <a:t> </a:t>
            </a:r>
            <a:r>
              <a:rPr dirty="0" sz="1500" spc="-20" b="1">
                <a:solidFill>
                  <a:srgbClr val="0F172A"/>
                </a:solidFill>
                <a:latin typeface="함초롬돋움"/>
                <a:cs typeface="함초롬돋움"/>
              </a:rPr>
              <a:t>(컬러맵)</a:t>
            </a:r>
            <a:endParaRPr sz="1500">
              <a:latin typeface="함초롬돋움"/>
              <a:cs typeface="함초롬돋움"/>
            </a:endParaRPr>
          </a:p>
          <a:p>
            <a:pPr marL="12700" marR="5080">
              <a:lnSpc>
                <a:spcPct val="160000"/>
              </a:lnSpc>
              <a:spcBef>
                <a:spcPts val="570"/>
              </a:spcBef>
            </a:pPr>
            <a:r>
              <a:rPr dirty="0" sz="1200" spc="-75">
                <a:solidFill>
                  <a:srgbClr val="475568"/>
                </a:solidFill>
                <a:latin typeface="함초롬돋움"/>
                <a:cs typeface="함초롬돋움"/>
              </a:rPr>
              <a:t>참석</a:t>
            </a:r>
            <a:r>
              <a:rPr dirty="0" sz="1200" spc="-85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200" spc="-75">
                <a:solidFill>
                  <a:srgbClr val="475568"/>
                </a:solidFill>
                <a:latin typeface="함초롬돋움"/>
                <a:cs typeface="함초롬돋움"/>
              </a:rPr>
              <a:t>가능</a:t>
            </a:r>
            <a:r>
              <a:rPr dirty="0" sz="1200" spc="-80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200" spc="-75">
                <a:solidFill>
                  <a:srgbClr val="475568"/>
                </a:solidFill>
                <a:latin typeface="함초롬돋움"/>
                <a:cs typeface="함초롬돋움"/>
              </a:rPr>
              <a:t>인원수에</a:t>
            </a:r>
            <a:r>
              <a:rPr dirty="0" sz="1200" spc="-85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200" spc="-75">
                <a:solidFill>
                  <a:srgbClr val="475568"/>
                </a:solidFill>
                <a:latin typeface="함초롬돋움"/>
                <a:cs typeface="함초롬돋움"/>
              </a:rPr>
              <a:t>따라</a:t>
            </a:r>
            <a:r>
              <a:rPr dirty="0" sz="1200" spc="-80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200" spc="-75">
                <a:solidFill>
                  <a:srgbClr val="475568"/>
                </a:solidFill>
                <a:latin typeface="함초롬돋움"/>
                <a:cs typeface="함초롬돋움"/>
              </a:rPr>
              <a:t>시간표</a:t>
            </a:r>
            <a:r>
              <a:rPr dirty="0" sz="1200" spc="-85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200" spc="-75">
                <a:solidFill>
                  <a:srgbClr val="475568"/>
                </a:solidFill>
                <a:latin typeface="함초롬돋움"/>
                <a:cs typeface="함초롬돋움"/>
              </a:rPr>
              <a:t>셀</a:t>
            </a:r>
            <a:r>
              <a:rPr dirty="0" sz="1200" spc="-80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200" spc="-75">
                <a:solidFill>
                  <a:srgbClr val="475568"/>
                </a:solidFill>
                <a:latin typeface="함초롬돋움"/>
                <a:cs typeface="함초롬돋움"/>
              </a:rPr>
              <a:t>색상의</a:t>
            </a:r>
            <a:r>
              <a:rPr dirty="0" sz="1200" spc="-85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200" spc="-75">
                <a:solidFill>
                  <a:srgbClr val="475568"/>
                </a:solidFill>
                <a:latin typeface="함초롬돋움"/>
                <a:cs typeface="함초롬돋움"/>
              </a:rPr>
              <a:t>농도를</a:t>
            </a:r>
            <a:r>
              <a:rPr dirty="0" sz="1200" spc="-80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200" spc="-75">
                <a:solidFill>
                  <a:srgbClr val="475568"/>
                </a:solidFill>
                <a:latin typeface="함초롬돋움"/>
                <a:cs typeface="함초롬돋움"/>
              </a:rPr>
              <a:t>달리</a:t>
            </a:r>
            <a:r>
              <a:rPr dirty="0" sz="1200" spc="-80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200" spc="-50">
                <a:solidFill>
                  <a:srgbClr val="475568"/>
                </a:solidFill>
                <a:latin typeface="함초롬돋움"/>
                <a:cs typeface="함초롬돋움"/>
              </a:rPr>
              <a:t>표현.</a:t>
            </a:r>
            <a:r>
              <a:rPr dirty="0" sz="1200" spc="-85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200" spc="-75">
                <a:solidFill>
                  <a:srgbClr val="475568"/>
                </a:solidFill>
                <a:latin typeface="함초롬돋움"/>
                <a:cs typeface="함초롬돋움"/>
              </a:rPr>
              <a:t>전원</a:t>
            </a:r>
            <a:r>
              <a:rPr dirty="0" sz="1200" spc="-80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200" spc="-75">
                <a:solidFill>
                  <a:srgbClr val="475568"/>
                </a:solidFill>
                <a:latin typeface="함초롬돋움"/>
                <a:cs typeface="함초롬돋움"/>
              </a:rPr>
              <a:t>참석</a:t>
            </a:r>
            <a:r>
              <a:rPr dirty="0" sz="1200" spc="-85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200" spc="-25">
                <a:solidFill>
                  <a:srgbClr val="475568"/>
                </a:solidFill>
                <a:latin typeface="함초롬돋움"/>
                <a:cs typeface="함초롬돋움"/>
              </a:rPr>
              <a:t>가능 </a:t>
            </a:r>
            <a:r>
              <a:rPr dirty="0" sz="1200" spc="-75">
                <a:solidFill>
                  <a:srgbClr val="475568"/>
                </a:solidFill>
                <a:latin typeface="함초롬돋움"/>
                <a:cs typeface="함초롬돋움"/>
              </a:rPr>
              <a:t>시간과</a:t>
            </a:r>
            <a:r>
              <a:rPr dirty="0" sz="1200" spc="-80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200" spc="-75">
                <a:solidFill>
                  <a:srgbClr val="475568"/>
                </a:solidFill>
                <a:latin typeface="함초롬돋움"/>
                <a:cs typeface="함초롬돋움"/>
              </a:rPr>
              <a:t>차선책</a:t>
            </a:r>
            <a:r>
              <a:rPr dirty="0" sz="1200" spc="-80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200" spc="-75">
                <a:solidFill>
                  <a:srgbClr val="475568"/>
                </a:solidFill>
                <a:latin typeface="함초롬돋움"/>
                <a:cs typeface="함초롬돋움"/>
              </a:rPr>
              <a:t>구간을</a:t>
            </a:r>
            <a:r>
              <a:rPr dirty="0" sz="1200" spc="-80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200" spc="-75">
                <a:solidFill>
                  <a:srgbClr val="475568"/>
                </a:solidFill>
                <a:latin typeface="함초롬돋움"/>
                <a:cs typeface="함초롬돋움"/>
              </a:rPr>
              <a:t>한눈에</a:t>
            </a:r>
            <a:r>
              <a:rPr dirty="0" sz="1200" spc="-80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200" spc="-25">
                <a:solidFill>
                  <a:srgbClr val="475568"/>
                </a:solidFill>
                <a:latin typeface="함초롬돋움"/>
                <a:cs typeface="함초롬돋움"/>
              </a:rPr>
              <a:t>식별.</a:t>
            </a:r>
            <a:endParaRPr sz="1200">
              <a:latin typeface="함초롬돋움"/>
              <a:cs typeface="함초롬돋움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483350" y="3265804"/>
            <a:ext cx="2997835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1775">
              <a:lnSpc>
                <a:spcPct val="100000"/>
              </a:lnSpc>
              <a:spcBef>
                <a:spcPts val="100"/>
              </a:spcBef>
            </a:pPr>
            <a:r>
              <a:rPr dirty="0" sz="1500" spc="-80" b="1">
                <a:solidFill>
                  <a:srgbClr val="0F172A"/>
                </a:solidFill>
                <a:latin typeface="함초롬돋움"/>
                <a:cs typeface="함초롬돋움"/>
              </a:rPr>
              <a:t>관리자</a:t>
            </a:r>
            <a:r>
              <a:rPr dirty="0" sz="1500" spc="-95" b="1">
                <a:solidFill>
                  <a:srgbClr val="0F172A"/>
                </a:solidFill>
                <a:latin typeface="함초롬돋움"/>
                <a:cs typeface="함초롬돋움"/>
              </a:rPr>
              <a:t> </a:t>
            </a:r>
            <a:r>
              <a:rPr dirty="0" sz="1500" spc="55" b="1">
                <a:solidFill>
                  <a:srgbClr val="0F172A"/>
                </a:solidFill>
                <a:latin typeface="함초롬돋움"/>
                <a:cs typeface="함초롬돋움"/>
              </a:rPr>
              <a:t>vs</a:t>
            </a:r>
            <a:r>
              <a:rPr dirty="0" sz="1500" spc="-95" b="1">
                <a:solidFill>
                  <a:srgbClr val="0F172A"/>
                </a:solidFill>
                <a:latin typeface="함초롬돋움"/>
                <a:cs typeface="함초롬돋움"/>
              </a:rPr>
              <a:t> </a:t>
            </a:r>
            <a:r>
              <a:rPr dirty="0" sz="1500" spc="-80" b="1">
                <a:solidFill>
                  <a:srgbClr val="0F172A"/>
                </a:solidFill>
                <a:latin typeface="함초롬돋움"/>
                <a:cs typeface="함초롬돋움"/>
              </a:rPr>
              <a:t>멤버</a:t>
            </a:r>
            <a:r>
              <a:rPr dirty="0" sz="1500" spc="-95" b="1">
                <a:solidFill>
                  <a:srgbClr val="0F172A"/>
                </a:solidFill>
                <a:latin typeface="함초롬돋움"/>
                <a:cs typeface="함초롬돋움"/>
              </a:rPr>
              <a:t> </a:t>
            </a:r>
            <a:r>
              <a:rPr dirty="0" sz="1500" spc="-80" b="1">
                <a:solidFill>
                  <a:srgbClr val="0F172A"/>
                </a:solidFill>
                <a:latin typeface="함초롬돋움"/>
                <a:cs typeface="함초롬돋움"/>
              </a:rPr>
              <a:t>권한</a:t>
            </a:r>
            <a:r>
              <a:rPr dirty="0" sz="1500" spc="-95" b="1">
                <a:solidFill>
                  <a:srgbClr val="0F172A"/>
                </a:solidFill>
                <a:latin typeface="함초롬돋움"/>
                <a:cs typeface="함초롬돋움"/>
              </a:rPr>
              <a:t> </a:t>
            </a:r>
            <a:r>
              <a:rPr dirty="0" sz="1500" spc="-25" b="1">
                <a:solidFill>
                  <a:srgbClr val="0F172A"/>
                </a:solidFill>
                <a:latin typeface="함초롬돋움"/>
                <a:cs typeface="함초롬돋움"/>
              </a:rPr>
              <a:t>분리</a:t>
            </a:r>
            <a:endParaRPr sz="1500">
              <a:latin typeface="함초롬돋움"/>
              <a:cs typeface="함초롬돋움"/>
            </a:endParaRPr>
          </a:p>
          <a:p>
            <a:pPr marL="12700" marR="5080">
              <a:lnSpc>
                <a:spcPct val="153400"/>
              </a:lnSpc>
              <a:spcBef>
                <a:spcPts val="760"/>
              </a:spcBef>
            </a:pPr>
            <a:r>
              <a:rPr dirty="0" sz="1100" spc="-35" b="1">
                <a:solidFill>
                  <a:srgbClr val="334155"/>
                </a:solidFill>
                <a:latin typeface="함초롬돋움"/>
                <a:cs typeface="함초롬돋움"/>
              </a:rPr>
              <a:t>방장</a:t>
            </a:r>
            <a:r>
              <a:rPr dirty="0" sz="1100" spc="-45" b="1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b="1">
                <a:solidFill>
                  <a:srgbClr val="334155"/>
                </a:solidFill>
                <a:latin typeface="함초롬돋움"/>
                <a:cs typeface="함초롬돋움"/>
              </a:rPr>
              <a:t>(관리자):</a:t>
            </a:r>
            <a:r>
              <a:rPr dirty="0" sz="1100" spc="-55" b="1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334155"/>
                </a:solidFill>
                <a:latin typeface="함초롬돋움"/>
                <a:cs typeface="함초롬돋움"/>
              </a:rPr>
              <a:t>모임</a:t>
            </a:r>
            <a:r>
              <a:rPr dirty="0" sz="1100" spc="-5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334155"/>
                </a:solidFill>
                <a:latin typeface="함초롬돋움"/>
                <a:cs typeface="함초롬돋움"/>
              </a:rPr>
              <a:t>정보</a:t>
            </a:r>
            <a:r>
              <a:rPr dirty="0" sz="1100" spc="-5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25">
                <a:solidFill>
                  <a:srgbClr val="334155"/>
                </a:solidFill>
                <a:latin typeface="함초롬돋움"/>
                <a:cs typeface="함초롬돋움"/>
              </a:rPr>
              <a:t>수정/삭제,</a:t>
            </a:r>
            <a:r>
              <a:rPr dirty="0" sz="1100" spc="-5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334155"/>
                </a:solidFill>
                <a:latin typeface="함초롬돋움"/>
                <a:cs typeface="함초롬돋움"/>
              </a:rPr>
              <a:t>최종</a:t>
            </a:r>
            <a:r>
              <a:rPr dirty="0" sz="1100" spc="-5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334155"/>
                </a:solidFill>
                <a:latin typeface="함초롬돋움"/>
                <a:cs typeface="함초롬돋움"/>
              </a:rPr>
              <a:t>일정</a:t>
            </a:r>
            <a:r>
              <a:rPr dirty="0" sz="1100" spc="-5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25">
                <a:solidFill>
                  <a:srgbClr val="334155"/>
                </a:solidFill>
                <a:latin typeface="함초롬돋움"/>
                <a:cs typeface="함초롬돋움"/>
              </a:rPr>
              <a:t>확정 </a:t>
            </a:r>
            <a:r>
              <a:rPr dirty="0" sz="1100" spc="-35" b="1">
                <a:solidFill>
                  <a:srgbClr val="334155"/>
                </a:solidFill>
                <a:latin typeface="함초롬돋움"/>
                <a:cs typeface="함초롬돋움"/>
              </a:rPr>
              <a:t>일반</a:t>
            </a:r>
            <a:r>
              <a:rPr dirty="0" sz="1100" spc="-55" b="1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25" b="1">
                <a:solidFill>
                  <a:srgbClr val="334155"/>
                </a:solidFill>
                <a:latin typeface="함초롬돋움"/>
                <a:cs typeface="함초롬돋움"/>
              </a:rPr>
              <a:t>멤버:</a:t>
            </a:r>
            <a:r>
              <a:rPr dirty="0" sz="1100" spc="-60" b="1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334155"/>
                </a:solidFill>
                <a:latin typeface="함초롬돋움"/>
                <a:cs typeface="함초롬돋움"/>
              </a:rPr>
              <a:t>초대</a:t>
            </a:r>
            <a:r>
              <a:rPr dirty="0" sz="1100" spc="-6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334155"/>
                </a:solidFill>
                <a:latin typeface="함초롬돋움"/>
                <a:cs typeface="함초롬돋움"/>
              </a:rPr>
              <a:t>코드로</a:t>
            </a:r>
            <a:r>
              <a:rPr dirty="0" sz="1100" spc="-55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25">
                <a:solidFill>
                  <a:srgbClr val="334155"/>
                </a:solidFill>
                <a:latin typeface="함초롬돋움"/>
                <a:cs typeface="함초롬돋움"/>
              </a:rPr>
              <a:t>참여,</a:t>
            </a:r>
            <a:r>
              <a:rPr dirty="0" sz="1100" spc="-6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334155"/>
                </a:solidFill>
                <a:latin typeface="함초롬돋움"/>
                <a:cs typeface="함초롬돋움"/>
              </a:rPr>
              <a:t>시간표</a:t>
            </a:r>
            <a:r>
              <a:rPr dirty="0" sz="1100" spc="-6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25">
                <a:solidFill>
                  <a:srgbClr val="334155"/>
                </a:solidFill>
                <a:latin typeface="함초롬돋움"/>
                <a:cs typeface="함초롬돋움"/>
              </a:rPr>
              <a:t>수정,</a:t>
            </a:r>
            <a:r>
              <a:rPr dirty="0" sz="1100" spc="-55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25">
                <a:solidFill>
                  <a:srgbClr val="334155"/>
                </a:solidFill>
                <a:latin typeface="함초롬돋움"/>
                <a:cs typeface="함초롬돋움"/>
              </a:rPr>
              <a:t>탈퇴</a:t>
            </a:r>
            <a:r>
              <a:rPr dirty="0" sz="1100" spc="50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35" b="1">
                <a:solidFill>
                  <a:srgbClr val="334155"/>
                </a:solidFill>
                <a:latin typeface="함초롬돋움"/>
                <a:cs typeface="함초롬돋움"/>
              </a:rPr>
              <a:t>예외</a:t>
            </a:r>
            <a:r>
              <a:rPr dirty="0" sz="1100" spc="-60" b="1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25" b="1">
                <a:solidFill>
                  <a:srgbClr val="334155"/>
                </a:solidFill>
                <a:latin typeface="함초롬돋움"/>
                <a:cs typeface="함초롬돋움"/>
              </a:rPr>
              <a:t>처리:</a:t>
            </a:r>
            <a:r>
              <a:rPr dirty="0" sz="1100" spc="-65" b="1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334155"/>
                </a:solidFill>
                <a:latin typeface="함초롬돋움"/>
                <a:cs typeface="함초롬돋움"/>
              </a:rPr>
              <a:t>방장</a:t>
            </a:r>
            <a:r>
              <a:rPr dirty="0" sz="1100" spc="-65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334155"/>
                </a:solidFill>
                <a:latin typeface="함초롬돋움"/>
                <a:cs typeface="함초롬돋움"/>
              </a:rPr>
              <a:t>탈퇴</a:t>
            </a:r>
            <a:r>
              <a:rPr dirty="0" sz="1100" spc="-65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334155"/>
                </a:solidFill>
                <a:latin typeface="함초롬돋움"/>
                <a:cs typeface="함초롬돋움"/>
              </a:rPr>
              <a:t>시</a:t>
            </a:r>
            <a:r>
              <a:rPr dirty="0" sz="1100" spc="-65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334155"/>
                </a:solidFill>
                <a:latin typeface="함초롬돋움"/>
                <a:cs typeface="함초롬돋움"/>
              </a:rPr>
              <a:t>권한</a:t>
            </a:r>
            <a:r>
              <a:rPr dirty="0" sz="1100" spc="-65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334155"/>
                </a:solidFill>
                <a:latin typeface="함초롬돋움"/>
                <a:cs typeface="함초롬돋움"/>
              </a:rPr>
              <a:t>위임</a:t>
            </a:r>
            <a:r>
              <a:rPr dirty="0" sz="1100" spc="-65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334155"/>
                </a:solidFill>
                <a:latin typeface="함초롬돋움"/>
                <a:cs typeface="함초롬돋움"/>
              </a:rPr>
              <a:t>절차</a:t>
            </a:r>
            <a:r>
              <a:rPr dirty="0" sz="1100" spc="-65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25">
                <a:solidFill>
                  <a:srgbClr val="334155"/>
                </a:solidFill>
                <a:latin typeface="함초롬돋움"/>
                <a:cs typeface="함초롬돋움"/>
              </a:rPr>
              <a:t>수행</a:t>
            </a:r>
            <a:endParaRPr sz="1100">
              <a:latin typeface="함초롬돋움"/>
              <a:cs typeface="함초롬돋움"/>
            </a:endParaRPr>
          </a:p>
        </p:txBody>
      </p:sp>
    </p:spTree>
  </p:cSld>
  <p:clrMapOvr>
    <a:masterClrMapping/>
  </p:clrMapOvr>
</p:sld>
</file>

<file path=ppt/slides/slide2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09600" y="2633661"/>
            <a:ext cx="10972800" cy="514350"/>
          </a:xfrm>
          <a:custGeom>
            <a:avLst/>
            <a:gdLst/>
            <a:ahLst/>
            <a:cxnLst/>
            <a:rect l="l" t="t" r="r" b="b"/>
            <a:pathLst>
              <a:path w="10972800" h="514350">
                <a:moveTo>
                  <a:pt x="10896603" y="514349"/>
                </a:moveTo>
                <a:lnTo>
                  <a:pt x="76195" y="514349"/>
                </a:lnTo>
                <a:lnTo>
                  <a:pt x="46536" y="508362"/>
                </a:lnTo>
                <a:lnTo>
                  <a:pt x="22317" y="492032"/>
                </a:lnTo>
                <a:lnTo>
                  <a:pt x="5987" y="467813"/>
                </a:lnTo>
                <a:lnTo>
                  <a:pt x="0" y="438154"/>
                </a:lnTo>
                <a:lnTo>
                  <a:pt x="0" y="76195"/>
                </a:lnTo>
                <a:lnTo>
                  <a:pt x="5987" y="46536"/>
                </a:lnTo>
                <a:lnTo>
                  <a:pt x="22317" y="22317"/>
                </a:lnTo>
                <a:lnTo>
                  <a:pt x="46536" y="5987"/>
                </a:lnTo>
                <a:lnTo>
                  <a:pt x="76195" y="0"/>
                </a:lnTo>
                <a:lnTo>
                  <a:pt x="10896603" y="0"/>
                </a:lnTo>
                <a:lnTo>
                  <a:pt x="10938877" y="12801"/>
                </a:lnTo>
                <a:lnTo>
                  <a:pt x="10966999" y="47036"/>
                </a:lnTo>
                <a:lnTo>
                  <a:pt x="10972799" y="76195"/>
                </a:lnTo>
                <a:lnTo>
                  <a:pt x="10972799" y="438154"/>
                </a:lnTo>
                <a:lnTo>
                  <a:pt x="10966812" y="467813"/>
                </a:lnTo>
                <a:lnTo>
                  <a:pt x="10950482" y="492032"/>
                </a:lnTo>
                <a:lnTo>
                  <a:pt x="10926262" y="508362"/>
                </a:lnTo>
                <a:lnTo>
                  <a:pt x="10896603" y="514349"/>
                </a:lnTo>
                <a:close/>
              </a:path>
            </a:pathLst>
          </a:custGeom>
          <a:solidFill>
            <a:srgbClr val="F7FA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609600" y="3262312"/>
            <a:ext cx="10972800" cy="514350"/>
          </a:xfrm>
          <a:custGeom>
            <a:avLst/>
            <a:gdLst/>
            <a:ahLst/>
            <a:cxnLst/>
            <a:rect l="l" t="t" r="r" b="b"/>
            <a:pathLst>
              <a:path w="10972800" h="514350">
                <a:moveTo>
                  <a:pt x="10896603" y="514349"/>
                </a:moveTo>
                <a:lnTo>
                  <a:pt x="76195" y="514349"/>
                </a:lnTo>
                <a:lnTo>
                  <a:pt x="46536" y="508362"/>
                </a:lnTo>
                <a:lnTo>
                  <a:pt x="22317" y="492032"/>
                </a:lnTo>
                <a:lnTo>
                  <a:pt x="5987" y="467812"/>
                </a:lnTo>
                <a:lnTo>
                  <a:pt x="0" y="438153"/>
                </a:lnTo>
                <a:lnTo>
                  <a:pt x="0" y="76195"/>
                </a:lnTo>
                <a:lnTo>
                  <a:pt x="5987" y="46537"/>
                </a:lnTo>
                <a:lnTo>
                  <a:pt x="22317" y="22317"/>
                </a:lnTo>
                <a:lnTo>
                  <a:pt x="46536" y="5987"/>
                </a:lnTo>
                <a:lnTo>
                  <a:pt x="76195" y="0"/>
                </a:lnTo>
                <a:lnTo>
                  <a:pt x="10896603" y="0"/>
                </a:lnTo>
                <a:lnTo>
                  <a:pt x="10938877" y="12801"/>
                </a:lnTo>
                <a:lnTo>
                  <a:pt x="10966999" y="47036"/>
                </a:lnTo>
                <a:lnTo>
                  <a:pt x="10972799" y="76195"/>
                </a:lnTo>
                <a:lnTo>
                  <a:pt x="10972799" y="438153"/>
                </a:lnTo>
                <a:lnTo>
                  <a:pt x="10966812" y="467812"/>
                </a:lnTo>
                <a:lnTo>
                  <a:pt x="10950482" y="492032"/>
                </a:lnTo>
                <a:lnTo>
                  <a:pt x="10926262" y="508362"/>
                </a:lnTo>
                <a:lnTo>
                  <a:pt x="10896603" y="514349"/>
                </a:lnTo>
                <a:close/>
              </a:path>
            </a:pathLst>
          </a:custGeom>
          <a:solidFill>
            <a:srgbClr val="FFF6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609600" y="3890962"/>
            <a:ext cx="10972800" cy="514350"/>
          </a:xfrm>
          <a:custGeom>
            <a:avLst/>
            <a:gdLst/>
            <a:ahLst/>
            <a:cxnLst/>
            <a:rect l="l" t="t" r="r" b="b"/>
            <a:pathLst>
              <a:path w="10972800" h="514350">
                <a:moveTo>
                  <a:pt x="10896603" y="514349"/>
                </a:moveTo>
                <a:lnTo>
                  <a:pt x="76195" y="514349"/>
                </a:lnTo>
                <a:lnTo>
                  <a:pt x="46536" y="508362"/>
                </a:lnTo>
                <a:lnTo>
                  <a:pt x="22317" y="492032"/>
                </a:lnTo>
                <a:lnTo>
                  <a:pt x="5987" y="467812"/>
                </a:lnTo>
                <a:lnTo>
                  <a:pt x="0" y="438153"/>
                </a:lnTo>
                <a:lnTo>
                  <a:pt x="0" y="76195"/>
                </a:lnTo>
                <a:lnTo>
                  <a:pt x="5987" y="46537"/>
                </a:lnTo>
                <a:lnTo>
                  <a:pt x="22317" y="22317"/>
                </a:lnTo>
                <a:lnTo>
                  <a:pt x="46536" y="5987"/>
                </a:lnTo>
                <a:lnTo>
                  <a:pt x="76195" y="0"/>
                </a:lnTo>
                <a:lnTo>
                  <a:pt x="10896603" y="0"/>
                </a:lnTo>
                <a:lnTo>
                  <a:pt x="10938877" y="12801"/>
                </a:lnTo>
                <a:lnTo>
                  <a:pt x="10966999" y="47036"/>
                </a:lnTo>
                <a:lnTo>
                  <a:pt x="10972799" y="76195"/>
                </a:lnTo>
                <a:lnTo>
                  <a:pt x="10972799" y="438153"/>
                </a:lnTo>
                <a:lnTo>
                  <a:pt x="10966812" y="467812"/>
                </a:lnTo>
                <a:lnTo>
                  <a:pt x="10950482" y="492032"/>
                </a:lnTo>
                <a:lnTo>
                  <a:pt x="10926262" y="508362"/>
                </a:lnTo>
                <a:lnTo>
                  <a:pt x="10896603" y="514349"/>
                </a:lnTo>
                <a:close/>
              </a:path>
            </a:pathLst>
          </a:custGeom>
          <a:solidFill>
            <a:srgbClr val="F7FA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609600" y="4519612"/>
            <a:ext cx="10972800" cy="514350"/>
          </a:xfrm>
          <a:custGeom>
            <a:avLst/>
            <a:gdLst/>
            <a:ahLst/>
            <a:cxnLst/>
            <a:rect l="l" t="t" r="r" b="b"/>
            <a:pathLst>
              <a:path w="10972800" h="514350">
                <a:moveTo>
                  <a:pt x="10896603" y="514349"/>
                </a:moveTo>
                <a:lnTo>
                  <a:pt x="76195" y="514349"/>
                </a:lnTo>
                <a:lnTo>
                  <a:pt x="46536" y="508362"/>
                </a:lnTo>
                <a:lnTo>
                  <a:pt x="22317" y="492032"/>
                </a:lnTo>
                <a:lnTo>
                  <a:pt x="5987" y="467812"/>
                </a:lnTo>
                <a:lnTo>
                  <a:pt x="0" y="438153"/>
                </a:lnTo>
                <a:lnTo>
                  <a:pt x="0" y="76195"/>
                </a:lnTo>
                <a:lnTo>
                  <a:pt x="5987" y="46537"/>
                </a:lnTo>
                <a:lnTo>
                  <a:pt x="22317" y="22317"/>
                </a:lnTo>
                <a:lnTo>
                  <a:pt x="46536" y="5987"/>
                </a:lnTo>
                <a:lnTo>
                  <a:pt x="76195" y="0"/>
                </a:lnTo>
                <a:lnTo>
                  <a:pt x="10896603" y="0"/>
                </a:lnTo>
                <a:lnTo>
                  <a:pt x="10938877" y="12801"/>
                </a:lnTo>
                <a:lnTo>
                  <a:pt x="10966999" y="47036"/>
                </a:lnTo>
                <a:lnTo>
                  <a:pt x="10972799" y="76195"/>
                </a:lnTo>
                <a:lnTo>
                  <a:pt x="10972799" y="438153"/>
                </a:lnTo>
                <a:lnTo>
                  <a:pt x="10966812" y="467812"/>
                </a:lnTo>
                <a:lnTo>
                  <a:pt x="10950482" y="492032"/>
                </a:lnTo>
                <a:lnTo>
                  <a:pt x="10926262" y="508362"/>
                </a:lnTo>
                <a:lnTo>
                  <a:pt x="10896603" y="514349"/>
                </a:lnTo>
                <a:close/>
              </a:path>
            </a:pathLst>
          </a:custGeom>
          <a:solidFill>
            <a:srgbClr val="F0FC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800100" y="2767011"/>
            <a:ext cx="721995" cy="247650"/>
          </a:xfrm>
          <a:custGeom>
            <a:avLst/>
            <a:gdLst/>
            <a:ahLst/>
            <a:cxnLst/>
            <a:rect l="l" t="t" r="r" b="b"/>
            <a:pathLst>
              <a:path w="721994" h="247650">
                <a:moveTo>
                  <a:pt x="683419" y="247649"/>
                </a:moveTo>
                <a:lnTo>
                  <a:pt x="38098" y="247649"/>
                </a:lnTo>
                <a:lnTo>
                  <a:pt x="23268" y="244656"/>
                </a:lnTo>
                <a:lnTo>
                  <a:pt x="11158" y="236491"/>
                </a:lnTo>
                <a:lnTo>
                  <a:pt x="2993" y="224381"/>
                </a:lnTo>
                <a:lnTo>
                  <a:pt x="0" y="209551"/>
                </a:lnTo>
                <a:lnTo>
                  <a:pt x="0" y="38098"/>
                </a:lnTo>
                <a:lnTo>
                  <a:pt x="2993" y="23268"/>
                </a:lnTo>
                <a:lnTo>
                  <a:pt x="11158" y="11158"/>
                </a:lnTo>
                <a:lnTo>
                  <a:pt x="23268" y="2993"/>
                </a:lnTo>
                <a:lnTo>
                  <a:pt x="38098" y="0"/>
                </a:lnTo>
                <a:lnTo>
                  <a:pt x="683419" y="0"/>
                </a:lnTo>
                <a:lnTo>
                  <a:pt x="718617" y="23518"/>
                </a:lnTo>
                <a:lnTo>
                  <a:pt x="721517" y="38098"/>
                </a:lnTo>
                <a:lnTo>
                  <a:pt x="721517" y="209551"/>
                </a:lnTo>
                <a:lnTo>
                  <a:pt x="718524" y="224381"/>
                </a:lnTo>
                <a:lnTo>
                  <a:pt x="710359" y="236491"/>
                </a:lnTo>
                <a:lnTo>
                  <a:pt x="698249" y="244656"/>
                </a:lnTo>
                <a:lnTo>
                  <a:pt x="683419" y="247649"/>
                </a:lnTo>
                <a:close/>
              </a:path>
            </a:pathLst>
          </a:custGeom>
          <a:solidFill>
            <a:srgbClr val="0F17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800100" y="3395662"/>
            <a:ext cx="721995" cy="247650"/>
          </a:xfrm>
          <a:custGeom>
            <a:avLst/>
            <a:gdLst/>
            <a:ahLst/>
            <a:cxnLst/>
            <a:rect l="l" t="t" r="r" b="b"/>
            <a:pathLst>
              <a:path w="721994" h="247650">
                <a:moveTo>
                  <a:pt x="683419" y="247649"/>
                </a:moveTo>
                <a:lnTo>
                  <a:pt x="38098" y="247649"/>
                </a:lnTo>
                <a:lnTo>
                  <a:pt x="23268" y="244656"/>
                </a:lnTo>
                <a:lnTo>
                  <a:pt x="11158" y="236491"/>
                </a:lnTo>
                <a:lnTo>
                  <a:pt x="2993" y="224381"/>
                </a:lnTo>
                <a:lnTo>
                  <a:pt x="0" y="209551"/>
                </a:lnTo>
                <a:lnTo>
                  <a:pt x="0" y="38098"/>
                </a:lnTo>
                <a:lnTo>
                  <a:pt x="2993" y="23268"/>
                </a:lnTo>
                <a:lnTo>
                  <a:pt x="11158" y="11158"/>
                </a:lnTo>
                <a:lnTo>
                  <a:pt x="23268" y="2993"/>
                </a:lnTo>
                <a:lnTo>
                  <a:pt x="38098" y="0"/>
                </a:lnTo>
                <a:lnTo>
                  <a:pt x="683419" y="0"/>
                </a:lnTo>
                <a:lnTo>
                  <a:pt x="718617" y="23518"/>
                </a:lnTo>
                <a:lnTo>
                  <a:pt x="721517" y="38098"/>
                </a:lnTo>
                <a:lnTo>
                  <a:pt x="721517" y="209551"/>
                </a:lnTo>
                <a:lnTo>
                  <a:pt x="718524" y="224381"/>
                </a:lnTo>
                <a:lnTo>
                  <a:pt x="710359" y="236491"/>
                </a:lnTo>
                <a:lnTo>
                  <a:pt x="698249" y="244656"/>
                </a:lnTo>
                <a:lnTo>
                  <a:pt x="683419" y="247649"/>
                </a:lnTo>
                <a:close/>
              </a:path>
            </a:pathLst>
          </a:custGeom>
          <a:solidFill>
            <a:srgbClr val="EA580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800100" y="4024312"/>
            <a:ext cx="721995" cy="247650"/>
          </a:xfrm>
          <a:custGeom>
            <a:avLst/>
            <a:gdLst/>
            <a:ahLst/>
            <a:cxnLst/>
            <a:rect l="l" t="t" r="r" b="b"/>
            <a:pathLst>
              <a:path w="721994" h="247650">
                <a:moveTo>
                  <a:pt x="683419" y="247649"/>
                </a:moveTo>
                <a:lnTo>
                  <a:pt x="38098" y="247649"/>
                </a:lnTo>
                <a:lnTo>
                  <a:pt x="23268" y="244656"/>
                </a:lnTo>
                <a:lnTo>
                  <a:pt x="11158" y="236491"/>
                </a:lnTo>
                <a:lnTo>
                  <a:pt x="2993" y="224381"/>
                </a:lnTo>
                <a:lnTo>
                  <a:pt x="0" y="209551"/>
                </a:lnTo>
                <a:lnTo>
                  <a:pt x="0" y="38098"/>
                </a:lnTo>
                <a:lnTo>
                  <a:pt x="2993" y="23268"/>
                </a:lnTo>
                <a:lnTo>
                  <a:pt x="11158" y="11158"/>
                </a:lnTo>
                <a:lnTo>
                  <a:pt x="23268" y="2993"/>
                </a:lnTo>
                <a:lnTo>
                  <a:pt x="38098" y="0"/>
                </a:lnTo>
                <a:lnTo>
                  <a:pt x="683419" y="0"/>
                </a:lnTo>
                <a:lnTo>
                  <a:pt x="718617" y="23518"/>
                </a:lnTo>
                <a:lnTo>
                  <a:pt x="721517" y="38098"/>
                </a:lnTo>
                <a:lnTo>
                  <a:pt x="721517" y="209551"/>
                </a:lnTo>
                <a:lnTo>
                  <a:pt x="718524" y="224381"/>
                </a:lnTo>
                <a:lnTo>
                  <a:pt x="710359" y="236491"/>
                </a:lnTo>
                <a:lnTo>
                  <a:pt x="698249" y="244656"/>
                </a:lnTo>
                <a:lnTo>
                  <a:pt x="683419" y="247649"/>
                </a:lnTo>
                <a:close/>
              </a:path>
            </a:pathLst>
          </a:custGeom>
          <a:solidFill>
            <a:srgbClr val="2563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800100" y="4652962"/>
            <a:ext cx="869950" cy="247650"/>
          </a:xfrm>
          <a:custGeom>
            <a:avLst/>
            <a:gdLst/>
            <a:ahLst/>
            <a:cxnLst/>
            <a:rect l="l" t="t" r="r" b="b"/>
            <a:pathLst>
              <a:path w="869950" h="247650">
                <a:moveTo>
                  <a:pt x="831801" y="247649"/>
                </a:moveTo>
                <a:lnTo>
                  <a:pt x="38098" y="247649"/>
                </a:lnTo>
                <a:lnTo>
                  <a:pt x="23268" y="244656"/>
                </a:lnTo>
                <a:lnTo>
                  <a:pt x="11158" y="236491"/>
                </a:lnTo>
                <a:lnTo>
                  <a:pt x="2993" y="224381"/>
                </a:lnTo>
                <a:lnTo>
                  <a:pt x="0" y="209551"/>
                </a:lnTo>
                <a:lnTo>
                  <a:pt x="0" y="38098"/>
                </a:lnTo>
                <a:lnTo>
                  <a:pt x="2993" y="23268"/>
                </a:lnTo>
                <a:lnTo>
                  <a:pt x="11158" y="11158"/>
                </a:lnTo>
                <a:lnTo>
                  <a:pt x="23268" y="2993"/>
                </a:lnTo>
                <a:lnTo>
                  <a:pt x="38098" y="0"/>
                </a:lnTo>
                <a:lnTo>
                  <a:pt x="831801" y="0"/>
                </a:lnTo>
                <a:lnTo>
                  <a:pt x="866999" y="23518"/>
                </a:lnTo>
                <a:lnTo>
                  <a:pt x="869899" y="38098"/>
                </a:lnTo>
                <a:lnTo>
                  <a:pt x="869899" y="209551"/>
                </a:lnTo>
                <a:lnTo>
                  <a:pt x="866906" y="224381"/>
                </a:lnTo>
                <a:lnTo>
                  <a:pt x="858741" y="236491"/>
                </a:lnTo>
                <a:lnTo>
                  <a:pt x="846631" y="244656"/>
                </a:lnTo>
                <a:lnTo>
                  <a:pt x="831801" y="247649"/>
                </a:lnTo>
                <a:close/>
              </a:path>
            </a:pathLst>
          </a:custGeom>
          <a:solidFill>
            <a:srgbClr val="16A34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596900" y="439165"/>
            <a:ext cx="136398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b="1">
                <a:solidFill>
                  <a:srgbClr val="EA580C"/>
                </a:solidFill>
                <a:latin typeface="함초롬돋움"/>
                <a:cs typeface="함초롬돋움"/>
              </a:rPr>
              <a:t>PROJECT</a:t>
            </a:r>
            <a:r>
              <a:rPr dirty="0" sz="1050" spc="45" b="1">
                <a:solidFill>
                  <a:srgbClr val="EA580C"/>
                </a:solidFill>
                <a:latin typeface="함초롬돋움"/>
                <a:cs typeface="함초롬돋움"/>
              </a:rPr>
              <a:t> </a:t>
            </a:r>
            <a:r>
              <a:rPr dirty="0" sz="1050" spc="-10" b="1">
                <a:solidFill>
                  <a:srgbClr val="EA580C"/>
                </a:solidFill>
                <a:latin typeface="함초롬돋움"/>
                <a:cs typeface="함초롬돋움"/>
              </a:rPr>
              <a:t>SCHEDULE</a:t>
            </a:r>
            <a:endParaRPr sz="1050">
              <a:latin typeface="함초롬돋움"/>
              <a:cs typeface="함초롬돋움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596900" y="623570"/>
            <a:ext cx="3578860" cy="3683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50"/>
              <a:t>12주</a:t>
            </a:r>
            <a:r>
              <a:rPr dirty="0" sz="2250" spc="-150"/>
              <a:t> </a:t>
            </a:r>
            <a:r>
              <a:rPr dirty="0" sz="2250" spc="-135"/>
              <a:t>개발</a:t>
            </a:r>
            <a:r>
              <a:rPr dirty="0" sz="2250" spc="-145"/>
              <a:t> </a:t>
            </a:r>
            <a:r>
              <a:rPr dirty="0" sz="2250" spc="-140"/>
              <a:t>로드맵</a:t>
            </a:r>
            <a:r>
              <a:rPr dirty="0" sz="2250" spc="-145"/>
              <a:t> </a:t>
            </a:r>
            <a:r>
              <a:rPr dirty="0" sz="2250" spc="-135"/>
              <a:t>및</a:t>
            </a:r>
            <a:r>
              <a:rPr dirty="0" sz="2250" spc="-150"/>
              <a:t> </a:t>
            </a:r>
            <a:r>
              <a:rPr dirty="0" sz="2250" spc="-135"/>
              <a:t>역할</a:t>
            </a:r>
            <a:r>
              <a:rPr dirty="0" sz="2250" spc="-145"/>
              <a:t> </a:t>
            </a:r>
            <a:r>
              <a:rPr dirty="0" sz="2250" spc="-35"/>
              <a:t>분담</a:t>
            </a:r>
            <a:endParaRPr sz="2250"/>
          </a:p>
        </p:txBody>
      </p:sp>
      <p:sp>
        <p:nvSpPr>
          <p:cNvPr id="12" name="object 12" descr=""/>
          <p:cNvSpPr txBox="1"/>
          <p:nvPr/>
        </p:nvSpPr>
        <p:spPr>
          <a:xfrm>
            <a:off x="901700" y="2772029"/>
            <a:ext cx="16681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2160" algn="l"/>
              </a:tabLst>
            </a:pPr>
            <a:r>
              <a:rPr dirty="0" baseline="2645" sz="1575" spc="-15" b="1">
                <a:solidFill>
                  <a:srgbClr val="FFFFFF"/>
                </a:solidFill>
                <a:latin typeface="함초롬돋움"/>
                <a:cs typeface="함초롬돋움"/>
              </a:rPr>
              <a:t>1~4주차</a:t>
            </a:r>
            <a:r>
              <a:rPr dirty="0" baseline="2645" sz="1575" b="1">
                <a:solidFill>
                  <a:srgbClr val="FFFFFF"/>
                </a:solidFill>
                <a:latin typeface="함초롬돋움"/>
                <a:cs typeface="함초롬돋움"/>
              </a:rPr>
              <a:t>	</a:t>
            </a:r>
            <a:r>
              <a:rPr dirty="0" sz="1200" spc="-75" b="1">
                <a:solidFill>
                  <a:srgbClr val="0F172A"/>
                </a:solidFill>
                <a:latin typeface="함초롬돋움"/>
                <a:cs typeface="함초롬돋움"/>
              </a:rPr>
              <a:t>설계</a:t>
            </a:r>
            <a:r>
              <a:rPr dirty="0" sz="1200" spc="-85" b="1">
                <a:solidFill>
                  <a:srgbClr val="0F172A"/>
                </a:solidFill>
                <a:latin typeface="함초롬돋움"/>
                <a:cs typeface="함초롬돋움"/>
              </a:rPr>
              <a:t> </a:t>
            </a:r>
            <a:r>
              <a:rPr dirty="0" sz="1200" spc="-35" b="1">
                <a:solidFill>
                  <a:srgbClr val="0F172A"/>
                </a:solidFill>
                <a:latin typeface="함초롬돋움"/>
                <a:cs typeface="함초롬돋움"/>
              </a:rPr>
              <a:t>&amp;</a:t>
            </a:r>
            <a:r>
              <a:rPr dirty="0" sz="1200" spc="-80" b="1">
                <a:solidFill>
                  <a:srgbClr val="0F172A"/>
                </a:solidFill>
                <a:latin typeface="함초롬돋움"/>
                <a:cs typeface="함초롬돋움"/>
              </a:rPr>
              <a:t> </a:t>
            </a:r>
            <a:r>
              <a:rPr dirty="0" sz="1200" spc="-40" b="1">
                <a:solidFill>
                  <a:srgbClr val="0F172A"/>
                </a:solidFill>
                <a:latin typeface="함초롬돋움"/>
                <a:cs typeface="함초롬돋움"/>
              </a:rPr>
              <a:t>구조화</a:t>
            </a:r>
            <a:endParaRPr sz="1200">
              <a:latin typeface="함초롬돋움"/>
              <a:cs typeface="함초롬돋움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3147217" y="2787077"/>
            <a:ext cx="3926204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60">
                <a:solidFill>
                  <a:srgbClr val="475568"/>
                </a:solidFill>
                <a:latin typeface="함초롬돋움"/>
                <a:cs typeface="함초롬돋움"/>
              </a:rPr>
              <a:t>요구사항</a:t>
            </a:r>
            <a:r>
              <a:rPr dirty="0" sz="1050" spc="-55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050" spc="-40">
                <a:solidFill>
                  <a:srgbClr val="475568"/>
                </a:solidFill>
                <a:latin typeface="함초롬돋움"/>
                <a:cs typeface="함초롬돋움"/>
              </a:rPr>
              <a:t>확정,</a:t>
            </a:r>
            <a:r>
              <a:rPr dirty="0" sz="1050" spc="-50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050" spc="-60">
                <a:solidFill>
                  <a:srgbClr val="475568"/>
                </a:solidFill>
                <a:latin typeface="함초롬돋움"/>
                <a:cs typeface="함초롬돋움"/>
              </a:rPr>
              <a:t>화면</a:t>
            </a:r>
            <a:r>
              <a:rPr dirty="0" sz="1050" spc="-50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050" spc="-60">
                <a:solidFill>
                  <a:srgbClr val="475568"/>
                </a:solidFill>
                <a:latin typeface="함초롬돋움"/>
                <a:cs typeface="함초롬돋움"/>
              </a:rPr>
              <a:t>흐름도</a:t>
            </a:r>
            <a:r>
              <a:rPr dirty="0" sz="1050" spc="-50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050" spc="-60">
                <a:solidFill>
                  <a:srgbClr val="475568"/>
                </a:solidFill>
                <a:latin typeface="함초롬돋움"/>
                <a:cs typeface="함초롬돋움"/>
              </a:rPr>
              <a:t>및</a:t>
            </a:r>
            <a:r>
              <a:rPr dirty="0" sz="1050" spc="-50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050" spc="-60">
                <a:solidFill>
                  <a:srgbClr val="475568"/>
                </a:solidFill>
                <a:latin typeface="함초롬돋움"/>
                <a:cs typeface="함초롬돋움"/>
              </a:rPr>
              <a:t>데이터베이스</a:t>
            </a:r>
            <a:r>
              <a:rPr dirty="0" sz="1050" spc="-55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050" spc="-60">
                <a:solidFill>
                  <a:srgbClr val="475568"/>
                </a:solidFill>
                <a:latin typeface="함초롬돋움"/>
                <a:cs typeface="함초롬돋움"/>
              </a:rPr>
              <a:t>구조</a:t>
            </a:r>
            <a:r>
              <a:rPr dirty="0" sz="1050" spc="-50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050" spc="-40">
                <a:solidFill>
                  <a:srgbClr val="475568"/>
                </a:solidFill>
                <a:latin typeface="함초롬돋움"/>
                <a:cs typeface="함초롬돋움"/>
              </a:rPr>
              <a:t>설계,</a:t>
            </a:r>
            <a:r>
              <a:rPr dirty="0" sz="1050" spc="-50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050" spc="-60">
                <a:solidFill>
                  <a:srgbClr val="475568"/>
                </a:solidFill>
                <a:latin typeface="함초롬돋움"/>
                <a:cs typeface="함초롬돋움"/>
              </a:rPr>
              <a:t>알고리즘</a:t>
            </a:r>
            <a:r>
              <a:rPr dirty="0" sz="1050" spc="-50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050" spc="-25">
                <a:solidFill>
                  <a:srgbClr val="475568"/>
                </a:solidFill>
                <a:latin typeface="함초롬돋움"/>
                <a:cs typeface="함초롬돋움"/>
              </a:rPr>
              <a:t>모델링</a:t>
            </a:r>
            <a:endParaRPr sz="1050">
              <a:latin typeface="함초롬돋움"/>
              <a:cs typeface="함초롬돋움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901700" y="3415727"/>
            <a:ext cx="50736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 b="1">
                <a:solidFill>
                  <a:srgbClr val="FFFFFF"/>
                </a:solidFill>
                <a:latin typeface="함초롬돋움"/>
                <a:cs typeface="함초롬돋움"/>
              </a:rPr>
              <a:t>5~7주차</a:t>
            </a:r>
            <a:endParaRPr sz="1050">
              <a:latin typeface="함초롬돋움"/>
              <a:cs typeface="함초롬돋움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661317" y="3400679"/>
            <a:ext cx="9359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75" b="1">
                <a:solidFill>
                  <a:srgbClr val="EA580C"/>
                </a:solidFill>
                <a:latin typeface="함초롬돋움"/>
                <a:cs typeface="함초롬돋움"/>
              </a:rPr>
              <a:t>핵심</a:t>
            </a:r>
            <a:r>
              <a:rPr dirty="0" sz="1200" spc="-80" b="1">
                <a:solidFill>
                  <a:srgbClr val="EA580C"/>
                </a:solidFill>
                <a:latin typeface="함초롬돋움"/>
                <a:cs typeface="함초롬돋움"/>
              </a:rPr>
              <a:t> </a:t>
            </a:r>
            <a:r>
              <a:rPr dirty="0" sz="1200" spc="-75" b="1">
                <a:solidFill>
                  <a:srgbClr val="EA580C"/>
                </a:solidFill>
                <a:latin typeface="함초롬돋움"/>
                <a:cs typeface="함초롬돋움"/>
              </a:rPr>
              <a:t>기능</a:t>
            </a:r>
            <a:r>
              <a:rPr dirty="0" sz="1200" spc="-80" b="1">
                <a:solidFill>
                  <a:srgbClr val="EA580C"/>
                </a:solidFill>
                <a:latin typeface="함초롬돋움"/>
                <a:cs typeface="함초롬돋움"/>
              </a:rPr>
              <a:t> </a:t>
            </a:r>
            <a:r>
              <a:rPr dirty="0" sz="1200" spc="-35" b="1">
                <a:solidFill>
                  <a:srgbClr val="EA580C"/>
                </a:solidFill>
                <a:latin typeface="함초롬돋움"/>
                <a:cs typeface="함초롬돋움"/>
              </a:rPr>
              <a:t>구현</a:t>
            </a:r>
            <a:endParaRPr sz="1200">
              <a:latin typeface="함초롬돋움"/>
              <a:cs typeface="함초롬돋움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3147217" y="3415727"/>
            <a:ext cx="374078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60">
                <a:solidFill>
                  <a:srgbClr val="334155"/>
                </a:solidFill>
                <a:latin typeface="함초롬돋움"/>
                <a:cs typeface="함초롬돋움"/>
              </a:rPr>
              <a:t>시간표 파싱</a:t>
            </a:r>
            <a:r>
              <a:rPr dirty="0" sz="1050" spc="-55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050" spc="-60">
                <a:solidFill>
                  <a:srgbClr val="334155"/>
                </a:solidFill>
                <a:latin typeface="함초롬돋움"/>
                <a:cs typeface="함초롬돋움"/>
              </a:rPr>
              <a:t>및 수기</a:t>
            </a:r>
            <a:r>
              <a:rPr dirty="0" sz="1050" spc="-55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050" spc="-40">
                <a:solidFill>
                  <a:srgbClr val="334155"/>
                </a:solidFill>
                <a:latin typeface="함초롬돋움"/>
                <a:cs typeface="함초롬돋움"/>
              </a:rPr>
              <a:t>입력,</a:t>
            </a:r>
            <a:r>
              <a:rPr dirty="0" sz="1050" spc="-60">
                <a:solidFill>
                  <a:srgbClr val="334155"/>
                </a:solidFill>
                <a:latin typeface="함초롬돋움"/>
                <a:cs typeface="함초롬돋움"/>
              </a:rPr>
              <a:t> 비트</a:t>
            </a:r>
            <a:r>
              <a:rPr dirty="0" sz="1050" spc="-55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050" spc="-60">
                <a:solidFill>
                  <a:srgbClr val="334155"/>
                </a:solidFill>
                <a:latin typeface="함초롬돋움"/>
                <a:cs typeface="함초롬돋움"/>
              </a:rPr>
              <a:t>매칭</a:t>
            </a:r>
            <a:r>
              <a:rPr dirty="0" sz="1050" spc="-55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050" spc="-60">
                <a:solidFill>
                  <a:srgbClr val="334155"/>
                </a:solidFill>
                <a:latin typeface="함초롬돋움"/>
                <a:cs typeface="함초롬돋움"/>
              </a:rPr>
              <a:t>알고리즘 </a:t>
            </a:r>
            <a:r>
              <a:rPr dirty="0" sz="1050" spc="-40">
                <a:solidFill>
                  <a:srgbClr val="334155"/>
                </a:solidFill>
                <a:latin typeface="함초롬돋움"/>
                <a:cs typeface="함초롬돋움"/>
              </a:rPr>
              <a:t>구현,</a:t>
            </a:r>
            <a:r>
              <a:rPr dirty="0" sz="1050" spc="-55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050" spc="-60">
                <a:solidFill>
                  <a:srgbClr val="334155"/>
                </a:solidFill>
                <a:latin typeface="함초롬돋움"/>
                <a:cs typeface="함초롬돋움"/>
              </a:rPr>
              <a:t>소셜 로그인</a:t>
            </a:r>
            <a:r>
              <a:rPr dirty="0" sz="1050" spc="-55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050" spc="-25">
                <a:solidFill>
                  <a:srgbClr val="334155"/>
                </a:solidFill>
                <a:latin typeface="함초롬돋움"/>
                <a:cs typeface="함초롬돋움"/>
              </a:rPr>
              <a:t>연동</a:t>
            </a:r>
            <a:endParaRPr sz="1050">
              <a:latin typeface="함초롬돋움"/>
              <a:cs typeface="함초롬돋움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901700" y="4029328"/>
            <a:ext cx="16681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2160" algn="l"/>
              </a:tabLst>
            </a:pPr>
            <a:r>
              <a:rPr dirty="0" baseline="2645" sz="1575" spc="-15" b="1">
                <a:solidFill>
                  <a:srgbClr val="FFFFFF"/>
                </a:solidFill>
                <a:latin typeface="함초롬돋움"/>
                <a:cs typeface="함초롬돋움"/>
              </a:rPr>
              <a:t>8~9주차</a:t>
            </a:r>
            <a:r>
              <a:rPr dirty="0" baseline="2645" sz="1575" b="1">
                <a:solidFill>
                  <a:srgbClr val="FFFFFF"/>
                </a:solidFill>
                <a:latin typeface="함초롬돋움"/>
                <a:cs typeface="함초롬돋움"/>
              </a:rPr>
              <a:t>	</a:t>
            </a:r>
            <a:r>
              <a:rPr dirty="0" sz="1200" spc="-75" b="1">
                <a:solidFill>
                  <a:srgbClr val="0F172A"/>
                </a:solidFill>
                <a:latin typeface="함초롬돋움"/>
                <a:cs typeface="함초롬돋움"/>
              </a:rPr>
              <a:t>통합</a:t>
            </a:r>
            <a:r>
              <a:rPr dirty="0" sz="1200" spc="-85" b="1">
                <a:solidFill>
                  <a:srgbClr val="0F172A"/>
                </a:solidFill>
                <a:latin typeface="함초롬돋움"/>
                <a:cs typeface="함초롬돋움"/>
              </a:rPr>
              <a:t> </a:t>
            </a:r>
            <a:r>
              <a:rPr dirty="0" sz="1200" spc="-35" b="1">
                <a:solidFill>
                  <a:srgbClr val="0F172A"/>
                </a:solidFill>
                <a:latin typeface="함초롬돋움"/>
                <a:cs typeface="함초롬돋움"/>
              </a:rPr>
              <a:t>&amp;</a:t>
            </a:r>
            <a:r>
              <a:rPr dirty="0" sz="1200" spc="-80" b="1">
                <a:solidFill>
                  <a:srgbClr val="0F172A"/>
                </a:solidFill>
                <a:latin typeface="함초롬돋움"/>
                <a:cs typeface="함초롬돋움"/>
              </a:rPr>
              <a:t> </a:t>
            </a:r>
            <a:r>
              <a:rPr dirty="0" sz="1200" spc="-40" b="1">
                <a:solidFill>
                  <a:srgbClr val="0F172A"/>
                </a:solidFill>
                <a:latin typeface="함초롬돋움"/>
                <a:cs typeface="함초롬돋움"/>
              </a:rPr>
              <a:t>시각화</a:t>
            </a:r>
            <a:endParaRPr sz="1200">
              <a:latin typeface="함초롬돋움"/>
              <a:cs typeface="함초롬돋움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3147217" y="4044377"/>
            <a:ext cx="303085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60">
                <a:solidFill>
                  <a:srgbClr val="475568"/>
                </a:solidFill>
                <a:latin typeface="함초롬돋움"/>
                <a:cs typeface="함초롬돋움"/>
              </a:rPr>
              <a:t>참석률 컬러맵 </a:t>
            </a:r>
            <a:r>
              <a:rPr dirty="0" sz="1050" spc="-40">
                <a:solidFill>
                  <a:srgbClr val="475568"/>
                </a:solidFill>
                <a:latin typeface="함초롬돋움"/>
                <a:cs typeface="함초롬돋움"/>
              </a:rPr>
              <a:t>시각화,</a:t>
            </a:r>
            <a:r>
              <a:rPr dirty="0" sz="1050" spc="-60">
                <a:solidFill>
                  <a:srgbClr val="475568"/>
                </a:solidFill>
                <a:latin typeface="함초롬돋움"/>
                <a:cs typeface="함초롬돋움"/>
              </a:rPr>
              <a:t> 모임 메모 및 결과</a:t>
            </a:r>
            <a:r>
              <a:rPr dirty="0" sz="1050" spc="-55">
                <a:solidFill>
                  <a:srgbClr val="475568"/>
                </a:solidFill>
                <a:latin typeface="함초롬돋움"/>
                <a:cs typeface="함초롬돋움"/>
              </a:rPr>
              <a:t> </a:t>
            </a:r>
            <a:r>
              <a:rPr dirty="0" sz="1050" spc="-60">
                <a:solidFill>
                  <a:srgbClr val="475568"/>
                </a:solidFill>
                <a:latin typeface="함초롬돋움"/>
                <a:cs typeface="함초롬돋움"/>
              </a:rPr>
              <a:t>공유 기능 </a:t>
            </a:r>
            <a:r>
              <a:rPr dirty="0" sz="1050" spc="-25">
                <a:solidFill>
                  <a:srgbClr val="475568"/>
                </a:solidFill>
                <a:latin typeface="함초롬돋움"/>
                <a:cs typeface="함초롬돋움"/>
              </a:rPr>
              <a:t>통합</a:t>
            </a:r>
            <a:endParaRPr sz="1050">
              <a:latin typeface="함초롬돋움"/>
              <a:cs typeface="함초롬돋움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901700" y="4673027"/>
            <a:ext cx="66421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 b="1">
                <a:solidFill>
                  <a:srgbClr val="FFFFFF"/>
                </a:solidFill>
                <a:latin typeface="함초롬돋움"/>
                <a:cs typeface="함초롬돋움"/>
              </a:rPr>
              <a:t>10~12주차</a:t>
            </a:r>
            <a:endParaRPr sz="1050">
              <a:latin typeface="함초롬돋움"/>
              <a:cs typeface="함초롬돋움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809700" y="4657979"/>
            <a:ext cx="10833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75" b="1">
                <a:solidFill>
                  <a:srgbClr val="16A34A"/>
                </a:solidFill>
                <a:latin typeface="함초롬돋움"/>
                <a:cs typeface="함초롬돋움"/>
              </a:rPr>
              <a:t>검증</a:t>
            </a:r>
            <a:r>
              <a:rPr dirty="0" sz="1200" spc="-85" b="1">
                <a:solidFill>
                  <a:srgbClr val="16A34A"/>
                </a:solidFill>
                <a:latin typeface="함초롬돋움"/>
                <a:cs typeface="함초롬돋움"/>
              </a:rPr>
              <a:t> </a:t>
            </a:r>
            <a:r>
              <a:rPr dirty="0" sz="1200" spc="-35" b="1">
                <a:solidFill>
                  <a:srgbClr val="16A34A"/>
                </a:solidFill>
                <a:latin typeface="함초롬돋움"/>
                <a:cs typeface="함초롬돋움"/>
              </a:rPr>
              <a:t>&amp;</a:t>
            </a:r>
            <a:r>
              <a:rPr dirty="0" sz="1200" spc="-80" b="1">
                <a:solidFill>
                  <a:srgbClr val="16A34A"/>
                </a:solidFill>
                <a:latin typeface="함초롬돋움"/>
                <a:cs typeface="함초롬돋움"/>
              </a:rPr>
              <a:t> </a:t>
            </a:r>
            <a:r>
              <a:rPr dirty="0" sz="1200" spc="-75" b="1">
                <a:solidFill>
                  <a:srgbClr val="16A34A"/>
                </a:solidFill>
                <a:latin typeface="함초롬돋움"/>
                <a:cs typeface="함초롬돋움"/>
              </a:rPr>
              <a:t>최종</a:t>
            </a:r>
            <a:r>
              <a:rPr dirty="0" sz="1200" spc="-80" b="1">
                <a:solidFill>
                  <a:srgbClr val="16A34A"/>
                </a:solidFill>
                <a:latin typeface="함초롬돋움"/>
                <a:cs typeface="함초롬돋움"/>
              </a:rPr>
              <a:t> </a:t>
            </a:r>
            <a:r>
              <a:rPr dirty="0" sz="1200" spc="-25" b="1">
                <a:solidFill>
                  <a:srgbClr val="16A34A"/>
                </a:solidFill>
                <a:latin typeface="함초롬돋움"/>
                <a:cs typeface="함초롬돋움"/>
              </a:rPr>
              <a:t>시연</a:t>
            </a:r>
            <a:endParaRPr sz="1200">
              <a:latin typeface="함초롬돋움"/>
              <a:cs typeface="함초롬돋움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3295600" y="4673027"/>
            <a:ext cx="322008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60">
                <a:solidFill>
                  <a:srgbClr val="334155"/>
                </a:solidFill>
                <a:latin typeface="함초롬돋움"/>
                <a:cs typeface="함초롬돋움"/>
              </a:rPr>
              <a:t>성능 및 예외 케이스</a:t>
            </a:r>
            <a:r>
              <a:rPr dirty="0" sz="1050" spc="-55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050" spc="-40">
                <a:solidFill>
                  <a:srgbClr val="334155"/>
                </a:solidFill>
                <a:latin typeface="함초롬돋움"/>
                <a:cs typeface="함초롬돋움"/>
              </a:rPr>
              <a:t>검증,</a:t>
            </a:r>
            <a:r>
              <a:rPr dirty="0" sz="1050" spc="-60">
                <a:solidFill>
                  <a:srgbClr val="334155"/>
                </a:solidFill>
                <a:latin typeface="함초롬돋움"/>
                <a:cs typeface="함초롬돋움"/>
              </a:rPr>
              <a:t> 버그 </a:t>
            </a:r>
            <a:r>
              <a:rPr dirty="0" sz="1050" spc="-40">
                <a:solidFill>
                  <a:srgbClr val="334155"/>
                </a:solidFill>
                <a:latin typeface="함초롬돋움"/>
                <a:cs typeface="함초롬돋움"/>
              </a:rPr>
              <a:t>수정,</a:t>
            </a:r>
            <a:r>
              <a:rPr dirty="0" sz="1050" spc="-55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050" spc="-60">
                <a:solidFill>
                  <a:srgbClr val="334155"/>
                </a:solidFill>
                <a:latin typeface="함초롬돋움"/>
                <a:cs typeface="함초롬돋움"/>
              </a:rPr>
              <a:t>최종 시제품 발표</a:t>
            </a:r>
            <a:r>
              <a:rPr dirty="0" sz="1050" spc="-55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050" spc="-25">
                <a:solidFill>
                  <a:srgbClr val="334155"/>
                </a:solidFill>
                <a:latin typeface="함초롬돋움"/>
                <a:cs typeface="함초롬돋움"/>
              </a:rPr>
              <a:t>준비</a:t>
            </a:r>
            <a:endParaRPr sz="1050">
              <a:latin typeface="함초롬돋움"/>
              <a:cs typeface="함초롬돋움"/>
            </a:endParaRPr>
          </a:p>
        </p:txBody>
      </p:sp>
    </p:spTree>
  </p:cSld>
  <p:clrMapOvr>
    <a:masterClrMapping/>
  </p:clrMapOvr>
</p:sld>
</file>

<file path=ppt/slides/slide3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09600" y="3019425"/>
            <a:ext cx="5353050" cy="1714500"/>
          </a:xfrm>
          <a:custGeom>
            <a:avLst/>
            <a:gdLst/>
            <a:ahLst/>
            <a:cxnLst/>
            <a:rect l="l" t="t" r="r" b="b"/>
            <a:pathLst>
              <a:path w="5353050" h="1714500">
                <a:moveTo>
                  <a:pt x="5238761" y="1714499"/>
                </a:moveTo>
                <a:lnTo>
                  <a:pt x="114288" y="1714499"/>
                </a:lnTo>
                <a:lnTo>
                  <a:pt x="69802" y="1705518"/>
                </a:lnTo>
                <a:lnTo>
                  <a:pt x="33474" y="1681025"/>
                </a:lnTo>
                <a:lnTo>
                  <a:pt x="8981" y="1644697"/>
                </a:lnTo>
                <a:lnTo>
                  <a:pt x="0" y="1600211"/>
                </a:lnTo>
                <a:lnTo>
                  <a:pt x="0" y="114288"/>
                </a:lnTo>
                <a:lnTo>
                  <a:pt x="8981" y="69802"/>
                </a:lnTo>
                <a:lnTo>
                  <a:pt x="33474" y="33474"/>
                </a:lnTo>
                <a:lnTo>
                  <a:pt x="69802" y="8981"/>
                </a:lnTo>
                <a:lnTo>
                  <a:pt x="114288" y="0"/>
                </a:lnTo>
                <a:lnTo>
                  <a:pt x="5238761" y="0"/>
                </a:lnTo>
                <a:lnTo>
                  <a:pt x="5282497" y="8699"/>
                </a:lnTo>
                <a:lnTo>
                  <a:pt x="5319575" y="33474"/>
                </a:lnTo>
                <a:lnTo>
                  <a:pt x="5344350" y="70552"/>
                </a:lnTo>
                <a:lnTo>
                  <a:pt x="5353049" y="114288"/>
                </a:lnTo>
                <a:lnTo>
                  <a:pt x="5353049" y="1600211"/>
                </a:lnTo>
                <a:lnTo>
                  <a:pt x="5344068" y="1644697"/>
                </a:lnTo>
                <a:lnTo>
                  <a:pt x="5319575" y="1681025"/>
                </a:lnTo>
                <a:lnTo>
                  <a:pt x="5283247" y="1705518"/>
                </a:lnTo>
                <a:lnTo>
                  <a:pt x="5238761" y="1714499"/>
                </a:lnTo>
                <a:close/>
              </a:path>
            </a:pathLst>
          </a:custGeom>
          <a:solidFill>
            <a:srgbClr val="F7FA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6229350" y="3148011"/>
            <a:ext cx="5353050" cy="1457325"/>
          </a:xfrm>
          <a:custGeom>
            <a:avLst/>
            <a:gdLst/>
            <a:ahLst/>
            <a:cxnLst/>
            <a:rect l="l" t="t" r="r" b="b"/>
            <a:pathLst>
              <a:path w="5353050" h="1457325">
                <a:moveTo>
                  <a:pt x="5238752" y="1457324"/>
                </a:moveTo>
                <a:lnTo>
                  <a:pt x="114297" y="1457324"/>
                </a:lnTo>
                <a:lnTo>
                  <a:pt x="69808" y="1448342"/>
                </a:lnTo>
                <a:lnTo>
                  <a:pt x="33477" y="1423847"/>
                </a:lnTo>
                <a:lnTo>
                  <a:pt x="8982" y="1387516"/>
                </a:lnTo>
                <a:lnTo>
                  <a:pt x="0" y="1343026"/>
                </a:lnTo>
                <a:lnTo>
                  <a:pt x="0" y="114297"/>
                </a:lnTo>
                <a:lnTo>
                  <a:pt x="8982" y="69808"/>
                </a:lnTo>
                <a:lnTo>
                  <a:pt x="33477" y="33477"/>
                </a:lnTo>
                <a:lnTo>
                  <a:pt x="69808" y="8982"/>
                </a:lnTo>
                <a:lnTo>
                  <a:pt x="114297" y="0"/>
                </a:lnTo>
                <a:lnTo>
                  <a:pt x="5238752" y="0"/>
                </a:lnTo>
                <a:lnTo>
                  <a:pt x="5282491" y="8700"/>
                </a:lnTo>
                <a:lnTo>
                  <a:pt x="5319572" y="33476"/>
                </a:lnTo>
                <a:lnTo>
                  <a:pt x="5344349" y="70558"/>
                </a:lnTo>
                <a:lnTo>
                  <a:pt x="5353049" y="114297"/>
                </a:lnTo>
                <a:lnTo>
                  <a:pt x="5353049" y="1343026"/>
                </a:lnTo>
                <a:lnTo>
                  <a:pt x="5344067" y="1387516"/>
                </a:lnTo>
                <a:lnTo>
                  <a:pt x="5319573" y="1423847"/>
                </a:lnTo>
                <a:lnTo>
                  <a:pt x="5283242" y="1448342"/>
                </a:lnTo>
                <a:lnTo>
                  <a:pt x="5238752" y="1457324"/>
                </a:lnTo>
                <a:close/>
              </a:path>
            </a:pathLst>
          </a:custGeom>
          <a:solidFill>
            <a:srgbClr val="F7FAF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6300" y="3314700"/>
            <a:ext cx="148231" cy="19049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96050" y="3443287"/>
            <a:ext cx="148231" cy="190499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596900" y="439165"/>
            <a:ext cx="118935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b="1">
                <a:solidFill>
                  <a:srgbClr val="EA580C"/>
                </a:solidFill>
                <a:latin typeface="함초롬돋움"/>
                <a:cs typeface="함초롬돋움"/>
              </a:rPr>
              <a:t>VALIDATION</a:t>
            </a:r>
            <a:r>
              <a:rPr dirty="0" sz="1050" spc="-50" b="1">
                <a:solidFill>
                  <a:srgbClr val="EA580C"/>
                </a:solidFill>
                <a:latin typeface="함초롬돋움"/>
                <a:cs typeface="함초롬돋움"/>
              </a:rPr>
              <a:t> </a:t>
            </a:r>
            <a:r>
              <a:rPr dirty="0" sz="1050" spc="-20" b="1">
                <a:solidFill>
                  <a:srgbClr val="EA580C"/>
                </a:solidFill>
                <a:latin typeface="함초롬돋움"/>
                <a:cs typeface="함초롬돋움"/>
              </a:rPr>
              <a:t>PLAN</a:t>
            </a:r>
            <a:endParaRPr sz="1050">
              <a:latin typeface="함초롬돋움"/>
              <a:cs typeface="함초롬돋움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96900" y="641858"/>
            <a:ext cx="310642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5"/>
              <a:t>시스템</a:t>
            </a:r>
            <a:r>
              <a:rPr dirty="0" spc="-170"/>
              <a:t> </a:t>
            </a:r>
            <a:r>
              <a:rPr dirty="0" spc="-145"/>
              <a:t>검증</a:t>
            </a:r>
            <a:r>
              <a:rPr dirty="0" spc="-170"/>
              <a:t> </a:t>
            </a:r>
            <a:r>
              <a:rPr dirty="0" spc="-145"/>
              <a:t>및</a:t>
            </a:r>
            <a:r>
              <a:rPr dirty="0" spc="-170"/>
              <a:t> </a:t>
            </a:r>
            <a:r>
              <a:rPr dirty="0" spc="-145"/>
              <a:t>완료</a:t>
            </a:r>
            <a:r>
              <a:rPr dirty="0" spc="-170"/>
              <a:t> </a:t>
            </a:r>
            <a:r>
              <a:rPr dirty="0" spc="-25"/>
              <a:t>기준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863600" y="3265804"/>
            <a:ext cx="4578985" cy="6083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1775">
              <a:lnSpc>
                <a:spcPct val="100000"/>
              </a:lnSpc>
              <a:spcBef>
                <a:spcPts val="100"/>
              </a:spcBef>
            </a:pPr>
            <a:r>
              <a:rPr dirty="0" sz="1500" spc="-80" b="1">
                <a:solidFill>
                  <a:srgbClr val="0F172A"/>
                </a:solidFill>
                <a:latin typeface="함초롬돋움"/>
                <a:cs typeface="함초롬돋움"/>
              </a:rPr>
              <a:t>알고리즘</a:t>
            </a:r>
            <a:r>
              <a:rPr dirty="0" sz="1500" spc="-95" b="1">
                <a:solidFill>
                  <a:srgbClr val="0F172A"/>
                </a:solidFill>
                <a:latin typeface="함초롬돋움"/>
                <a:cs typeface="함초롬돋움"/>
              </a:rPr>
              <a:t> </a:t>
            </a:r>
            <a:r>
              <a:rPr dirty="0" sz="1500" spc="-80" b="1">
                <a:solidFill>
                  <a:srgbClr val="0F172A"/>
                </a:solidFill>
                <a:latin typeface="함초롬돋움"/>
                <a:cs typeface="함초롬돋움"/>
              </a:rPr>
              <a:t>및</a:t>
            </a:r>
            <a:r>
              <a:rPr dirty="0" sz="1500" spc="-90" b="1">
                <a:solidFill>
                  <a:srgbClr val="0F172A"/>
                </a:solidFill>
                <a:latin typeface="함초롬돋움"/>
                <a:cs typeface="함초롬돋움"/>
              </a:rPr>
              <a:t> </a:t>
            </a:r>
            <a:r>
              <a:rPr dirty="0" sz="1500" spc="-80" b="1">
                <a:solidFill>
                  <a:srgbClr val="0F172A"/>
                </a:solidFill>
                <a:latin typeface="함초롬돋움"/>
                <a:cs typeface="함초롬돋움"/>
              </a:rPr>
              <a:t>성능</a:t>
            </a:r>
            <a:r>
              <a:rPr dirty="0" sz="1500" spc="-95" b="1">
                <a:solidFill>
                  <a:srgbClr val="0F172A"/>
                </a:solidFill>
                <a:latin typeface="함초롬돋움"/>
                <a:cs typeface="함초롬돋움"/>
              </a:rPr>
              <a:t> </a:t>
            </a:r>
            <a:r>
              <a:rPr dirty="0" sz="1500" spc="-25" b="1">
                <a:solidFill>
                  <a:srgbClr val="0F172A"/>
                </a:solidFill>
                <a:latin typeface="함초롬돋움"/>
                <a:cs typeface="함초롬돋움"/>
              </a:rPr>
              <a:t>검증</a:t>
            </a:r>
            <a:endParaRPr sz="1500">
              <a:latin typeface="함초롬돋움"/>
              <a:cs typeface="함초롬돋움"/>
            </a:endParaRPr>
          </a:p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dirty="0" sz="1100" spc="-40" b="1">
                <a:solidFill>
                  <a:srgbClr val="334155"/>
                </a:solidFill>
                <a:latin typeface="함초롬돋움"/>
                <a:cs typeface="함초롬돋움"/>
              </a:rPr>
              <a:t>알고리즘</a:t>
            </a:r>
            <a:r>
              <a:rPr dirty="0" sz="1100" spc="-55" b="1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25" b="1">
                <a:solidFill>
                  <a:srgbClr val="334155"/>
                </a:solidFill>
                <a:latin typeface="함초롬돋움"/>
                <a:cs typeface="함초롬돋움"/>
              </a:rPr>
              <a:t>검증:</a:t>
            </a:r>
            <a:r>
              <a:rPr dirty="0" sz="1100" spc="-55" b="1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334155"/>
                </a:solidFill>
                <a:latin typeface="함초롬돋움"/>
                <a:cs typeface="함초롬돋움"/>
              </a:rPr>
              <a:t>전원</a:t>
            </a:r>
            <a:r>
              <a:rPr dirty="0" sz="1100" spc="-55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25">
                <a:solidFill>
                  <a:srgbClr val="334155"/>
                </a:solidFill>
                <a:latin typeface="함초롬돋움"/>
                <a:cs typeface="함초롬돋움"/>
              </a:rPr>
              <a:t>참석,</a:t>
            </a:r>
            <a:r>
              <a:rPr dirty="0" sz="1100" spc="-55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334155"/>
                </a:solidFill>
                <a:latin typeface="함초롬돋움"/>
                <a:cs typeface="함초롬돋움"/>
              </a:rPr>
              <a:t>공통</a:t>
            </a:r>
            <a:r>
              <a:rPr dirty="0" sz="1100" spc="-55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334155"/>
                </a:solidFill>
                <a:latin typeface="함초롬돋움"/>
                <a:cs typeface="함초롬돋움"/>
              </a:rPr>
              <a:t>시간</a:t>
            </a:r>
            <a:r>
              <a:rPr dirty="0" sz="1100" spc="-55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25">
                <a:solidFill>
                  <a:srgbClr val="334155"/>
                </a:solidFill>
                <a:latin typeface="함초롬돋움"/>
                <a:cs typeface="함초롬돋움"/>
              </a:rPr>
              <a:t>없음,</a:t>
            </a:r>
            <a:r>
              <a:rPr dirty="0" sz="1100" spc="-6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334155"/>
                </a:solidFill>
                <a:latin typeface="함초롬돋움"/>
                <a:cs typeface="함초롬돋움"/>
              </a:rPr>
              <a:t>미입력자</a:t>
            </a:r>
            <a:r>
              <a:rPr dirty="0" sz="1100" spc="-55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334155"/>
                </a:solidFill>
                <a:latin typeface="함초롬돋움"/>
                <a:cs typeface="함초롬돋움"/>
              </a:rPr>
              <a:t>포함</a:t>
            </a:r>
            <a:r>
              <a:rPr dirty="0" sz="1100" spc="-55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334155"/>
                </a:solidFill>
                <a:latin typeface="함초롬돋움"/>
                <a:cs typeface="함초롬돋움"/>
              </a:rPr>
              <a:t>등</a:t>
            </a:r>
            <a:r>
              <a:rPr dirty="0" sz="1100" spc="-55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334155"/>
                </a:solidFill>
                <a:latin typeface="함초롬돋움"/>
                <a:cs typeface="함초롬돋움"/>
              </a:rPr>
              <a:t>테스트케이스</a:t>
            </a:r>
            <a:r>
              <a:rPr dirty="0" sz="1100" spc="-55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25">
                <a:solidFill>
                  <a:srgbClr val="334155"/>
                </a:solidFill>
                <a:latin typeface="함초롬돋움"/>
                <a:cs typeface="함초롬돋움"/>
              </a:rPr>
              <a:t>검증</a:t>
            </a:r>
            <a:endParaRPr sz="1100">
              <a:latin typeface="함초롬돋움"/>
              <a:cs typeface="함초롬돋움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483350" y="3394392"/>
            <a:ext cx="4084954" cy="8655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1775">
              <a:lnSpc>
                <a:spcPct val="100000"/>
              </a:lnSpc>
              <a:spcBef>
                <a:spcPts val="100"/>
              </a:spcBef>
            </a:pPr>
            <a:r>
              <a:rPr dirty="0" sz="1500" spc="-80" b="1">
                <a:solidFill>
                  <a:srgbClr val="0F172A"/>
                </a:solidFill>
                <a:latin typeface="함초롬돋움"/>
                <a:cs typeface="함초롬돋움"/>
              </a:rPr>
              <a:t>예외</a:t>
            </a:r>
            <a:r>
              <a:rPr dirty="0" sz="1500" spc="-100" b="1">
                <a:solidFill>
                  <a:srgbClr val="0F172A"/>
                </a:solidFill>
                <a:latin typeface="함초롬돋움"/>
                <a:cs typeface="함초롬돋움"/>
              </a:rPr>
              <a:t> </a:t>
            </a:r>
            <a:r>
              <a:rPr dirty="0" sz="1500" spc="-80" b="1">
                <a:solidFill>
                  <a:srgbClr val="0F172A"/>
                </a:solidFill>
                <a:latin typeface="함초롬돋움"/>
                <a:cs typeface="함초롬돋움"/>
              </a:rPr>
              <a:t>처리</a:t>
            </a:r>
            <a:r>
              <a:rPr dirty="0" sz="1500" spc="-95" b="1">
                <a:solidFill>
                  <a:srgbClr val="0F172A"/>
                </a:solidFill>
                <a:latin typeface="함초롬돋움"/>
                <a:cs typeface="함초롬돋움"/>
              </a:rPr>
              <a:t> </a:t>
            </a:r>
            <a:r>
              <a:rPr dirty="0" sz="1500" spc="-80" b="1">
                <a:solidFill>
                  <a:srgbClr val="0F172A"/>
                </a:solidFill>
                <a:latin typeface="함초롬돋움"/>
                <a:cs typeface="함초롬돋움"/>
              </a:rPr>
              <a:t>및</a:t>
            </a:r>
            <a:r>
              <a:rPr dirty="0" sz="1500" spc="-95" b="1">
                <a:solidFill>
                  <a:srgbClr val="0F172A"/>
                </a:solidFill>
                <a:latin typeface="함초롬돋움"/>
                <a:cs typeface="함초롬돋움"/>
              </a:rPr>
              <a:t> </a:t>
            </a:r>
            <a:r>
              <a:rPr dirty="0" sz="1500" spc="-80" b="1">
                <a:solidFill>
                  <a:srgbClr val="0F172A"/>
                </a:solidFill>
                <a:latin typeface="함초롬돋움"/>
                <a:cs typeface="함초롬돋움"/>
              </a:rPr>
              <a:t>최종</a:t>
            </a:r>
            <a:r>
              <a:rPr dirty="0" sz="1500" spc="-100" b="1">
                <a:solidFill>
                  <a:srgbClr val="0F172A"/>
                </a:solidFill>
                <a:latin typeface="함초롬돋움"/>
                <a:cs typeface="함초롬돋움"/>
              </a:rPr>
              <a:t> </a:t>
            </a:r>
            <a:r>
              <a:rPr dirty="0" sz="1500" spc="-80" b="1">
                <a:solidFill>
                  <a:srgbClr val="0F172A"/>
                </a:solidFill>
                <a:latin typeface="함초롬돋움"/>
                <a:cs typeface="함초롬돋움"/>
              </a:rPr>
              <a:t>완료</a:t>
            </a:r>
            <a:r>
              <a:rPr dirty="0" sz="1500" spc="-95" b="1">
                <a:solidFill>
                  <a:srgbClr val="0F172A"/>
                </a:solidFill>
                <a:latin typeface="함초롬돋움"/>
                <a:cs typeface="함초롬돋움"/>
              </a:rPr>
              <a:t> </a:t>
            </a:r>
            <a:r>
              <a:rPr dirty="0" sz="1500" spc="-25" b="1">
                <a:solidFill>
                  <a:srgbClr val="0F172A"/>
                </a:solidFill>
                <a:latin typeface="함초롬돋움"/>
                <a:cs typeface="함초롬돋움"/>
              </a:rPr>
              <a:t>기준</a:t>
            </a:r>
            <a:endParaRPr sz="1500">
              <a:latin typeface="함초롬돋움"/>
              <a:cs typeface="함초롬돋움"/>
            </a:endParaRPr>
          </a:p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dirty="0" sz="1100" spc="-35" b="1">
                <a:solidFill>
                  <a:srgbClr val="334155"/>
                </a:solidFill>
                <a:latin typeface="함초롬돋움"/>
                <a:cs typeface="함초롬돋움"/>
              </a:rPr>
              <a:t>예외</a:t>
            </a:r>
            <a:r>
              <a:rPr dirty="0" sz="1100" spc="-60" b="1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25" b="1">
                <a:solidFill>
                  <a:srgbClr val="334155"/>
                </a:solidFill>
                <a:latin typeface="함초롬돋움"/>
                <a:cs typeface="함초롬돋움"/>
              </a:rPr>
              <a:t>케이스:</a:t>
            </a:r>
            <a:r>
              <a:rPr dirty="0" sz="1100" spc="-60" b="1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334155"/>
                </a:solidFill>
                <a:latin typeface="함초롬돋움"/>
                <a:cs typeface="함초롬돋움"/>
              </a:rPr>
              <a:t>파일</a:t>
            </a:r>
            <a:r>
              <a:rPr dirty="0" sz="1100" spc="-6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334155"/>
                </a:solidFill>
                <a:latin typeface="함초롬돋움"/>
                <a:cs typeface="함초롬돋움"/>
              </a:rPr>
              <a:t>형식</a:t>
            </a:r>
            <a:r>
              <a:rPr dirty="0" sz="1100" spc="-65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25">
                <a:solidFill>
                  <a:srgbClr val="334155"/>
                </a:solidFill>
                <a:latin typeface="함초롬돋움"/>
                <a:cs typeface="함초롬돋움"/>
              </a:rPr>
              <a:t>오류,</a:t>
            </a:r>
            <a:r>
              <a:rPr dirty="0" sz="1100" spc="-6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334155"/>
                </a:solidFill>
                <a:latin typeface="함초롬돋움"/>
                <a:cs typeface="함초롬돋움"/>
              </a:rPr>
              <a:t>중복</a:t>
            </a:r>
            <a:r>
              <a:rPr dirty="0" sz="1100" spc="-65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25">
                <a:solidFill>
                  <a:srgbClr val="334155"/>
                </a:solidFill>
                <a:latin typeface="함초롬돋움"/>
                <a:cs typeface="함초롬돋움"/>
              </a:rPr>
              <a:t>가입,</a:t>
            </a:r>
            <a:r>
              <a:rPr dirty="0" sz="1100" spc="-6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334155"/>
                </a:solidFill>
                <a:latin typeface="함초롬돋움"/>
                <a:cs typeface="함초롬돋움"/>
              </a:rPr>
              <a:t>권한</a:t>
            </a:r>
            <a:r>
              <a:rPr dirty="0" sz="1100" spc="-6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334155"/>
                </a:solidFill>
                <a:latin typeface="함초롬돋움"/>
                <a:cs typeface="함초롬돋움"/>
              </a:rPr>
              <a:t>없는</a:t>
            </a:r>
            <a:r>
              <a:rPr dirty="0" sz="1100" spc="-65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334155"/>
                </a:solidFill>
                <a:latin typeface="함초롬돋움"/>
                <a:cs typeface="함초롬돋움"/>
              </a:rPr>
              <a:t>일정</a:t>
            </a:r>
            <a:r>
              <a:rPr dirty="0" sz="1100" spc="-6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334155"/>
                </a:solidFill>
                <a:latin typeface="함초롬돋움"/>
                <a:cs typeface="함초롬돋움"/>
              </a:rPr>
              <a:t>변경</a:t>
            </a:r>
            <a:r>
              <a:rPr dirty="0" sz="1100" spc="-6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334155"/>
                </a:solidFill>
                <a:latin typeface="함초롬돋움"/>
                <a:cs typeface="함초롬돋움"/>
              </a:rPr>
              <a:t>시도</a:t>
            </a:r>
            <a:r>
              <a:rPr dirty="0" sz="1100" spc="-65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25">
                <a:solidFill>
                  <a:srgbClr val="334155"/>
                </a:solidFill>
                <a:latin typeface="함초롬돋움"/>
                <a:cs typeface="함초롬돋움"/>
              </a:rPr>
              <a:t>차단</a:t>
            </a:r>
            <a:endParaRPr sz="1100">
              <a:latin typeface="함초롬돋움"/>
              <a:cs typeface="함초롬돋움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1100" spc="-35" b="1">
                <a:solidFill>
                  <a:srgbClr val="334155"/>
                </a:solidFill>
                <a:latin typeface="함초롬돋움"/>
                <a:cs typeface="함초롬돋움"/>
              </a:rPr>
              <a:t>완료</a:t>
            </a:r>
            <a:r>
              <a:rPr dirty="0" sz="1100" spc="-55" b="1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25" b="1">
                <a:solidFill>
                  <a:srgbClr val="334155"/>
                </a:solidFill>
                <a:latin typeface="함초롬돋움"/>
                <a:cs typeface="함초롬돋움"/>
              </a:rPr>
              <a:t>기준:</a:t>
            </a:r>
            <a:r>
              <a:rPr dirty="0" sz="1100" spc="-60" b="1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334155"/>
                </a:solidFill>
                <a:latin typeface="함초롬돋움"/>
                <a:cs typeface="함초롬돋움"/>
              </a:rPr>
              <a:t>로그인부터</a:t>
            </a:r>
            <a:r>
              <a:rPr dirty="0" sz="1100" spc="-6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334155"/>
                </a:solidFill>
                <a:latin typeface="함초롬돋움"/>
                <a:cs typeface="함초롬돋움"/>
              </a:rPr>
              <a:t>일정</a:t>
            </a:r>
            <a:r>
              <a:rPr dirty="0" sz="1100" spc="-55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334155"/>
                </a:solidFill>
                <a:latin typeface="함초롬돋움"/>
                <a:cs typeface="함초롬돋움"/>
              </a:rPr>
              <a:t>확정</a:t>
            </a:r>
            <a:r>
              <a:rPr dirty="0" sz="1100" spc="-6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334155"/>
                </a:solidFill>
                <a:latin typeface="함초롬돋움"/>
                <a:cs typeface="함초롬돋움"/>
              </a:rPr>
              <a:t>및</a:t>
            </a:r>
            <a:r>
              <a:rPr dirty="0" sz="1100" spc="-6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334155"/>
                </a:solidFill>
                <a:latin typeface="함초롬돋움"/>
                <a:cs typeface="함초롬돋움"/>
              </a:rPr>
              <a:t>공유까지의</a:t>
            </a:r>
            <a:r>
              <a:rPr dirty="0" sz="1100" spc="-6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20">
                <a:solidFill>
                  <a:srgbClr val="334155"/>
                </a:solidFill>
                <a:latin typeface="함초롬돋움"/>
                <a:cs typeface="함초롬돋움"/>
              </a:rPr>
              <a:t>E2E</a:t>
            </a:r>
            <a:r>
              <a:rPr dirty="0" sz="1100" spc="-6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334155"/>
                </a:solidFill>
                <a:latin typeface="함초롬돋움"/>
                <a:cs typeface="함초롬돋움"/>
              </a:rPr>
              <a:t>시연</a:t>
            </a:r>
            <a:r>
              <a:rPr dirty="0" sz="1100" spc="-55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25">
                <a:solidFill>
                  <a:srgbClr val="334155"/>
                </a:solidFill>
                <a:latin typeface="함초롬돋움"/>
                <a:cs typeface="함초롬돋움"/>
              </a:rPr>
              <a:t>성공</a:t>
            </a:r>
            <a:endParaRPr sz="1100">
              <a:latin typeface="함초롬돋움"/>
              <a:cs typeface="함초롬돋움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863600" y="4191635"/>
            <a:ext cx="3887470" cy="1968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-35" b="1">
                <a:solidFill>
                  <a:srgbClr val="334155"/>
                </a:solidFill>
                <a:latin typeface="함초롬돋움"/>
                <a:cs typeface="함초롬돋움"/>
              </a:rPr>
              <a:t>성능</a:t>
            </a:r>
            <a:r>
              <a:rPr dirty="0" sz="1100" spc="-60" b="1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25" b="1">
                <a:solidFill>
                  <a:srgbClr val="334155"/>
                </a:solidFill>
                <a:latin typeface="함초롬돋움"/>
                <a:cs typeface="함초롬돋움"/>
              </a:rPr>
              <a:t>평가:</a:t>
            </a:r>
            <a:r>
              <a:rPr dirty="0" sz="1100" spc="-65" b="1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334155"/>
                </a:solidFill>
                <a:latin typeface="함초롬돋움"/>
                <a:cs typeface="함초롬돋움"/>
              </a:rPr>
              <a:t>인원수</a:t>
            </a:r>
            <a:r>
              <a:rPr dirty="0" sz="1100" spc="-65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334155"/>
                </a:solidFill>
                <a:latin typeface="함초롬돋움"/>
                <a:cs typeface="함초롬돋움"/>
              </a:rPr>
              <a:t>증가에</a:t>
            </a:r>
            <a:r>
              <a:rPr dirty="0" sz="1100" spc="-6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334155"/>
                </a:solidFill>
                <a:latin typeface="함초롬돋움"/>
                <a:cs typeface="함초롬돋움"/>
              </a:rPr>
              <a:t>따른</a:t>
            </a:r>
            <a:r>
              <a:rPr dirty="0" sz="1100" spc="-65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334155"/>
                </a:solidFill>
                <a:latin typeface="함초롬돋움"/>
                <a:cs typeface="함초롬돋움"/>
              </a:rPr>
              <a:t>핵심</a:t>
            </a:r>
            <a:r>
              <a:rPr dirty="0" sz="1100" spc="-65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334155"/>
                </a:solidFill>
                <a:latin typeface="함초롬돋움"/>
                <a:cs typeface="함초롬돋움"/>
              </a:rPr>
              <a:t>연산</a:t>
            </a:r>
            <a:r>
              <a:rPr dirty="0" sz="1100" spc="-6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334155"/>
                </a:solidFill>
                <a:latin typeface="함초롬돋움"/>
                <a:cs typeface="함초롬돋움"/>
              </a:rPr>
              <a:t>시간</a:t>
            </a:r>
            <a:r>
              <a:rPr dirty="0" sz="1100" spc="-65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334155"/>
                </a:solidFill>
                <a:latin typeface="함초롬돋움"/>
                <a:cs typeface="함초롬돋움"/>
              </a:rPr>
              <a:t>및</a:t>
            </a:r>
            <a:r>
              <a:rPr dirty="0" sz="1100" spc="-65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>
                <a:solidFill>
                  <a:srgbClr val="334155"/>
                </a:solidFill>
                <a:latin typeface="함초롬돋움"/>
                <a:cs typeface="함초롬돋움"/>
              </a:rPr>
              <a:t>UI</a:t>
            </a:r>
            <a:r>
              <a:rPr dirty="0" sz="1100" spc="-65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334155"/>
                </a:solidFill>
                <a:latin typeface="함초롬돋움"/>
                <a:cs typeface="함초롬돋움"/>
              </a:rPr>
              <a:t>응답</a:t>
            </a:r>
            <a:r>
              <a:rPr dirty="0" sz="1100" spc="-60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40">
                <a:solidFill>
                  <a:srgbClr val="334155"/>
                </a:solidFill>
                <a:latin typeface="함초롬돋움"/>
                <a:cs typeface="함초롬돋움"/>
              </a:rPr>
              <a:t>시간</a:t>
            </a:r>
            <a:r>
              <a:rPr dirty="0" sz="1100" spc="-65">
                <a:solidFill>
                  <a:srgbClr val="334155"/>
                </a:solidFill>
                <a:latin typeface="함초롬돋움"/>
                <a:cs typeface="함초롬돋움"/>
              </a:rPr>
              <a:t> </a:t>
            </a:r>
            <a:r>
              <a:rPr dirty="0" sz="1100" spc="-25">
                <a:solidFill>
                  <a:srgbClr val="334155"/>
                </a:solidFill>
                <a:latin typeface="함초롬돋움"/>
                <a:cs typeface="함초롬돋움"/>
              </a:rPr>
              <a:t>측정</a:t>
            </a:r>
            <a:endParaRPr sz="1100">
              <a:latin typeface="함초롬돋움"/>
              <a:cs typeface="함초롬돋움"/>
            </a:endParaRPr>
          </a:p>
        </p:txBody>
      </p:sp>
    </p:spTree>
  </p:cSld>
  <p:clrMapOvr>
    <a:masterClrMapping/>
  </p:clrMapOvr>
</p:sld>
</file>

<file path=ppt/slides/slide3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0F17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4491037" y="4043362"/>
            <a:ext cx="3209925" cy="533400"/>
          </a:xfrm>
          <a:custGeom>
            <a:avLst/>
            <a:gdLst/>
            <a:ahLst/>
            <a:cxnLst/>
            <a:rect l="l" t="t" r="r" b="b"/>
            <a:pathLst>
              <a:path w="3209925" h="533400">
                <a:moveTo>
                  <a:pt x="2943224" y="533399"/>
                </a:moveTo>
                <a:lnTo>
                  <a:pt x="266699" y="533399"/>
                </a:lnTo>
                <a:lnTo>
                  <a:pt x="218760" y="529103"/>
                </a:lnTo>
                <a:lnTo>
                  <a:pt x="173639" y="516714"/>
                </a:lnTo>
                <a:lnTo>
                  <a:pt x="132091" y="496987"/>
                </a:lnTo>
                <a:lnTo>
                  <a:pt x="94868" y="470675"/>
                </a:lnTo>
                <a:lnTo>
                  <a:pt x="62724" y="438531"/>
                </a:lnTo>
                <a:lnTo>
                  <a:pt x="36412" y="401308"/>
                </a:lnTo>
                <a:lnTo>
                  <a:pt x="16685" y="359760"/>
                </a:lnTo>
                <a:lnTo>
                  <a:pt x="4296" y="314639"/>
                </a:lnTo>
                <a:lnTo>
                  <a:pt x="0" y="266699"/>
                </a:lnTo>
                <a:lnTo>
                  <a:pt x="4296" y="218760"/>
                </a:lnTo>
                <a:lnTo>
                  <a:pt x="16685" y="173639"/>
                </a:lnTo>
                <a:lnTo>
                  <a:pt x="36412" y="132091"/>
                </a:lnTo>
                <a:lnTo>
                  <a:pt x="62724" y="94868"/>
                </a:lnTo>
                <a:lnTo>
                  <a:pt x="94868" y="62724"/>
                </a:lnTo>
                <a:lnTo>
                  <a:pt x="132091" y="36412"/>
                </a:lnTo>
                <a:lnTo>
                  <a:pt x="173639" y="16685"/>
                </a:lnTo>
                <a:lnTo>
                  <a:pt x="218760" y="4296"/>
                </a:lnTo>
                <a:lnTo>
                  <a:pt x="266699" y="0"/>
                </a:lnTo>
                <a:lnTo>
                  <a:pt x="2943224" y="0"/>
                </a:lnTo>
                <a:lnTo>
                  <a:pt x="2995498" y="5171"/>
                </a:lnTo>
                <a:lnTo>
                  <a:pt x="3045286" y="20301"/>
                </a:lnTo>
                <a:lnTo>
                  <a:pt x="3091190" y="44808"/>
                </a:lnTo>
                <a:lnTo>
                  <a:pt x="3131810" y="78114"/>
                </a:lnTo>
                <a:lnTo>
                  <a:pt x="3165116" y="118734"/>
                </a:lnTo>
                <a:lnTo>
                  <a:pt x="3189623" y="164638"/>
                </a:lnTo>
                <a:lnTo>
                  <a:pt x="3204752" y="214426"/>
                </a:lnTo>
                <a:lnTo>
                  <a:pt x="3209924" y="266699"/>
                </a:lnTo>
                <a:lnTo>
                  <a:pt x="3205627" y="314639"/>
                </a:lnTo>
                <a:lnTo>
                  <a:pt x="3193239" y="359760"/>
                </a:lnTo>
                <a:lnTo>
                  <a:pt x="3173512" y="401308"/>
                </a:lnTo>
                <a:lnTo>
                  <a:pt x="3147200" y="438531"/>
                </a:lnTo>
                <a:lnTo>
                  <a:pt x="3115056" y="470675"/>
                </a:lnTo>
                <a:lnTo>
                  <a:pt x="3077833" y="496987"/>
                </a:lnTo>
                <a:lnTo>
                  <a:pt x="3036285" y="516714"/>
                </a:lnTo>
                <a:lnTo>
                  <a:pt x="2991164" y="529103"/>
                </a:lnTo>
                <a:lnTo>
                  <a:pt x="2943224" y="533399"/>
                </a:lnTo>
                <a:close/>
              </a:path>
            </a:pathLst>
          </a:custGeom>
          <a:solidFill>
            <a:srgbClr val="1E29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5705043" y="2262440"/>
            <a:ext cx="7823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EA580C"/>
                </a:solidFill>
                <a:latin typeface="함초롬돋움"/>
                <a:cs typeface="함초롬돋움"/>
              </a:rPr>
              <a:t>SUMMARY</a:t>
            </a:r>
            <a:endParaRPr sz="1200">
              <a:latin typeface="함초롬돋움"/>
              <a:cs typeface="함초롬돋움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101057" y="2793597"/>
            <a:ext cx="5990590" cy="5283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spc="70">
                <a:solidFill>
                  <a:srgbClr val="F7FAFC"/>
                </a:solidFill>
              </a:rPr>
              <a:t>'Teum</a:t>
            </a:r>
            <a:r>
              <a:rPr dirty="0" sz="3300" spc="-225">
                <a:solidFill>
                  <a:srgbClr val="F7FAFC"/>
                </a:solidFill>
              </a:rPr>
              <a:t> </a:t>
            </a:r>
            <a:r>
              <a:rPr dirty="0" sz="3300" spc="105">
                <a:solidFill>
                  <a:srgbClr val="F7FAFC"/>
                </a:solidFill>
              </a:rPr>
              <a:t>(틈)'</a:t>
            </a:r>
            <a:r>
              <a:rPr dirty="0" sz="3300" spc="-225">
                <a:solidFill>
                  <a:srgbClr val="F7FAFC"/>
                </a:solidFill>
              </a:rPr>
              <a:t> </a:t>
            </a:r>
            <a:r>
              <a:rPr dirty="0" sz="3300" spc="-200">
                <a:solidFill>
                  <a:srgbClr val="F7FAFC"/>
                </a:solidFill>
              </a:rPr>
              <a:t>서비스</a:t>
            </a:r>
            <a:r>
              <a:rPr dirty="0" sz="3300" spc="-225">
                <a:solidFill>
                  <a:srgbClr val="F7FAFC"/>
                </a:solidFill>
              </a:rPr>
              <a:t> </a:t>
            </a:r>
            <a:r>
              <a:rPr dirty="0" sz="3300" spc="-200">
                <a:solidFill>
                  <a:srgbClr val="F7FAFC"/>
                </a:solidFill>
              </a:rPr>
              <a:t>개념설계</a:t>
            </a:r>
            <a:r>
              <a:rPr dirty="0" sz="3300" spc="-220">
                <a:solidFill>
                  <a:srgbClr val="F7FAFC"/>
                </a:solidFill>
              </a:rPr>
              <a:t> </a:t>
            </a:r>
            <a:r>
              <a:rPr dirty="0" sz="3300" spc="-25">
                <a:solidFill>
                  <a:srgbClr val="F7FAFC"/>
                </a:solidFill>
              </a:rPr>
              <a:t>발표</a:t>
            </a:r>
            <a:endParaRPr sz="3300"/>
          </a:p>
        </p:txBody>
      </p:sp>
      <p:sp>
        <p:nvSpPr>
          <p:cNvPr id="6" name="object 6" descr=""/>
          <p:cNvSpPr txBox="1"/>
          <p:nvPr/>
        </p:nvSpPr>
        <p:spPr>
          <a:xfrm>
            <a:off x="4908188" y="4176204"/>
            <a:ext cx="237617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85" b="1">
                <a:solidFill>
                  <a:srgbClr val="EA580C"/>
                </a:solidFill>
                <a:latin typeface="함초롬돋움"/>
                <a:cs typeface="함초롬돋움"/>
              </a:rPr>
              <a:t>경청해</a:t>
            </a:r>
            <a:r>
              <a:rPr dirty="0" sz="1350" spc="-80" b="1">
                <a:solidFill>
                  <a:srgbClr val="EA580C"/>
                </a:solidFill>
                <a:latin typeface="함초롬돋움"/>
                <a:cs typeface="함초롬돋움"/>
              </a:rPr>
              <a:t> </a:t>
            </a:r>
            <a:r>
              <a:rPr dirty="0" sz="1350" spc="-85" b="1">
                <a:solidFill>
                  <a:srgbClr val="EA580C"/>
                </a:solidFill>
                <a:latin typeface="함초롬돋움"/>
                <a:cs typeface="함초롬돋움"/>
              </a:rPr>
              <a:t>주셔서</a:t>
            </a:r>
            <a:r>
              <a:rPr dirty="0" sz="1350" spc="-75" b="1">
                <a:solidFill>
                  <a:srgbClr val="EA580C"/>
                </a:solidFill>
                <a:latin typeface="함초롬돋움"/>
                <a:cs typeface="함초롬돋움"/>
              </a:rPr>
              <a:t> </a:t>
            </a:r>
            <a:r>
              <a:rPr dirty="0" sz="1350" spc="-85" b="1">
                <a:solidFill>
                  <a:srgbClr val="EA580C"/>
                </a:solidFill>
                <a:latin typeface="함초롬돋움"/>
                <a:cs typeface="함초롬돋움"/>
              </a:rPr>
              <a:t>감사합니다</a:t>
            </a:r>
            <a:r>
              <a:rPr dirty="0" sz="1350" spc="-80" b="1">
                <a:solidFill>
                  <a:srgbClr val="EA580C"/>
                </a:solidFill>
                <a:latin typeface="함초롬돋움"/>
                <a:cs typeface="함초롬돋움"/>
              </a:rPr>
              <a:t> </a:t>
            </a:r>
            <a:r>
              <a:rPr dirty="0" sz="1350" spc="-10" b="1">
                <a:solidFill>
                  <a:srgbClr val="EA580C"/>
                </a:solidFill>
                <a:latin typeface="함초롬돋움"/>
                <a:cs typeface="함초롬돋움"/>
              </a:rPr>
              <a:t>(Q&amp;A)</a:t>
            </a:r>
            <a:endParaRPr sz="1350">
              <a:latin typeface="함초롬돋움"/>
              <a:cs typeface="함초롬돋움"/>
            </a:endParaRPr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1039</ep:Words>
  <ep:PresentationFormat>On-screen Show (4:3)</ep:PresentationFormat>
  <ep:Paragraphs>256</ep:Paragraphs>
  <ep:Slides>31</ep:Slides>
  <ep:Notes>12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ep:HeadingPairs>
  <ep:TitlesOfParts>
    <vt:vector size="32" baseType="lpstr">
      <vt:lpstr>Office Theme</vt:lpstr>
      <vt:lpstr>공강 시간 교집합 찾기 서비스  'Teum (틈)' 개념설계 및 구현 계획</vt:lpstr>
      <vt:lpstr>목차 (Contents)</vt:lpstr>
      <vt:lpstr>프로젝트 배경 및 문제 정의</vt:lpstr>
      <vt:lpstr>개발 목표 및 기대 효과</vt:lpstr>
      <vt:lpstr>아이디어 창출 및 5대 영역 구조화</vt:lpstr>
      <vt:lpstr>아이디어 창출 및 5대 영역 구조화</vt:lpstr>
      <vt:lpstr>아이디어 창출 및 5대 영역 구조화</vt:lpstr>
      <vt:lpstr>아이디어 창출 및 5대 영역 구조화</vt:lpstr>
      <vt:lpstr>아이디어 창출 및 5대 영역 구조화</vt:lpstr>
      <vt:lpstr>아이디어 다듬기: 우선순위 평가 기준</vt:lpstr>
      <vt:lpstr>아이디어 다듬기: 우선순위 평가 기준</vt:lpstr>
      <vt:lpstr>아이디어 우선순위 정량 평가 결과</vt:lpstr>
      <vt:lpstr>아이디어 우선순위 정량 평가 결과</vt:lpstr>
      <vt:lpstr>아이디어 우선순위 정량 평가 결과</vt:lpstr>
      <vt:lpstr>아이디어 우선순위 정량 평가 결과</vt:lpstr>
      <vt:lpstr>아이디어 최종 선택 (팀원 투표 결과)</vt:lpstr>
      <vt:lpstr>아이디어 최종 선택 (팀원 투표 결과)</vt:lpstr>
      <vt:lpstr>아이디어 최종 선택 (팀원 투표 결과)</vt:lpstr>
      <vt:lpstr>아이디어 최종 선택 (팀원 투표 결과)</vt:lpstr>
      <vt:lpstr>아이디어 최종 선택 (팀원 투표 결과)</vt:lpstr>
      <vt:lpstr>아이디어 최종 선택 (팀원 투표 결과)</vt:lpstr>
      <vt:lpstr>아이디어 최종 선택</vt:lpstr>
      <vt:lpstr>슬라이드 23</vt:lpstr>
      <vt:lpstr>슬라이드 24</vt:lpstr>
      <vt:lpstr>시스템 구성 및 데이터 관리</vt:lpstr>
      <vt:lpstr>시간표 입력 및 데이터 파싱</vt:lpstr>
      <vt:lpstr>공통 참석 가능 시간 탐색 알고리즘</vt:lpstr>
      <vt:lpstr>결과 시각화 및 모임 권한 제어</vt:lpstr>
      <vt:lpstr>12주 개발 로드맵 및 역할 분담</vt:lpstr>
      <vt:lpstr>시스템 검증 및 완료 기준</vt:lpstr>
      <vt:lpstr>'Teum (틈)' 서비스 개념설계 발표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2026-09-29T02:11:59.000</dcterms:created>
  <cp:lastModifiedBy>lirs1</cp:lastModifiedBy>
  <dcterms:modified xsi:type="dcterms:W3CDTF">2026-09-29T10:53:29.220</dcterms:modified>
  <cp:revision>40</cp:revision>
  <dc:title>Teum 개념설계보고서 피피티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