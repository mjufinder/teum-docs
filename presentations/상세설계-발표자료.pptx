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34" r:id="rId13"/>
    <p:sldId id="335" r:id="rId14"/>
    <p:sldId id="33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328" r:id="rId23"/>
    <p:sldId id="329" r:id="rId24"/>
    <p:sldId id="330" r:id="rId25"/>
    <p:sldId id="331" r:id="rId26"/>
    <p:sldId id="332" r:id="rId27"/>
    <p:sldId id="274" r:id="rId28"/>
    <p:sldId id="275" r:id="rId29"/>
    <p:sldId id="276" r:id="rId30"/>
    <p:sldId id="277" r:id="rId31"/>
    <p:sldId id="278" r:id="rId32"/>
    <p:sldId id="279" r:id="rId33"/>
    <p:sldId id="333" r:id="rId34"/>
    <p:sldId id="280" r:id="rId35"/>
    <p:sldId id="281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0" r:id="rId47"/>
    <p:sldId id="337" r:id="rId48"/>
    <p:sldId id="326" r:id="rId49"/>
    <p:sldId id="327" r:id="rId50"/>
  </p:sldIdLst>
  <p:sldSz cx="12192000" cy="6858000"/>
  <p:notesSz cx="6858000" cy="9144000"/>
  <p:defaultTextStyle>
    <a:defPPr>
      <a:buNone/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BBA2D1F-E88D-431A-877F-97C11ED6EE09}" styleName="Light Style 3 - Body/Background 3">
    <a:wholeTbl>
      <a:tcTxStyle>
        <a:fontRef idx="minor">
          <a:scrgbClr r="0" g="0" b="0"/>
        </a:fontRef>
        <a:schemeClr val="tx1"/>
      </a:tcTxStyle>
      <a:tcStyle>
        <a:tcBdr>
          <a:left>
            <a:ln w="32700" cmpd="sng">
              <a:solidFill>
                <a:schemeClr val="dk1"/>
              </a:solidFill>
              <a:prstDash val="dash"/>
            </a:ln>
          </a:left>
          <a:right>
            <a:ln w="32700" cmpd="sng">
              <a:solidFill>
                <a:schemeClr val="dk1"/>
              </a:solidFill>
              <a:prstDash val="dash"/>
            </a:ln>
          </a:right>
          <a:top>
            <a:ln w="32700" cmpd="sng">
              <a:solidFill>
                <a:schemeClr val="dk1"/>
              </a:solidFill>
              <a:prstDash val="dash"/>
            </a:ln>
          </a:top>
          <a:bottom>
            <a:ln w="32700" cmpd="sng">
              <a:solidFill>
                <a:schemeClr val="dk1"/>
              </a:solidFill>
              <a:prstDash val="dash"/>
            </a:ln>
          </a:bottom>
          <a:insideH>
            <a:ln w="22700" cmpd="sng">
              <a:solidFill>
                <a:schemeClr val="dk1"/>
              </a:solidFill>
              <a:prstDash val="sysDot"/>
            </a:ln>
          </a:insideH>
          <a:insideV>
            <a:ln w="22700" cmpd="sng">
              <a:solidFill>
                <a:schemeClr val="dk1"/>
              </a:solidFill>
              <a:prstDash val="sysDot"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22FFE23-0BB2-45EB-AA5A-FA1B39E901F1}" styleName="Normal Style 2 - Body/Background 2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dk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>
              <a:shade val="50000"/>
              <a:satMod val="23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38F972D-3A02-497A-9D08-DF27CF173CB4}" styleName="Generic Style 1- Body/Background Dark Color 1">
    <a:tblBg>
      <a:fillRef idx="2">
        <a:schemeClr val="dk1"/>
      </a:fillRef>
      <a:effectRef idx="2">
        <a:schemeClr val="dk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dk1">
                  <a:shade val="61000"/>
                  <a:satMod val="130000"/>
                </a:schemeClr>
              </a:gs>
              <a:gs pos="5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  <a:tblStyle styleId="{E5CB3F8B-0EC7-48AE-BC60-692C14E0C4D4}" styleName="Normal Style 3 - Body/Background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>
        <a:fontRef idx="minor">
          <a:scrgbClr r="0" g="0" b="0"/>
        </a:fontRef>
        <a:schemeClr val="dk1"/>
      </a:tcTxStyle>
      <a:tcStyle>
        <a:tcBdr/>
        <a:fill>
          <a:solidFill>
            <a:schemeClr val="dk1">
              <a:lum val="8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5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accent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500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7122BE6-D220-400A-8156-72DE76DAD46A}" styleName="Generic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7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accent2">
                  <a:shade val="61000"/>
                  <a:satMod val="130000"/>
                </a:schemeClr>
              </a:gs>
              <a:gs pos="50000">
                <a:schemeClr val="accent2">
                  <a:shade val="93000"/>
                  <a:satMod val="130000"/>
                </a:schemeClr>
              </a:gs>
              <a:gs pos="100000">
                <a:schemeClr val="accent2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12" autoAdjust="0"/>
    <p:restoredTop sz="94056" autoAdjust="0"/>
  </p:normalViewPr>
  <p:slideViewPr>
    <p:cSldViewPr snapToGrid="0">
      <p:cViewPr varScale="1">
        <p:scale>
          <a:sx n="70" d="100"/>
          <a:sy n="70" d="100"/>
        </p:scale>
        <p:origin x="69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틈(</a:t>
            </a:r>
            <a:r>
              <a:rPr dirty="0" err="1"/>
              <a:t>Teum</a:t>
            </a:r>
            <a:r>
              <a:rPr dirty="0"/>
              <a:t>): </a:t>
            </a:r>
            <a:r>
              <a:rPr dirty="0" err="1"/>
              <a:t>시간표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공강</a:t>
            </a:r>
            <a:r>
              <a:rPr dirty="0"/>
              <a:t> </a:t>
            </a:r>
            <a:r>
              <a:rPr dirty="0" err="1"/>
              <a:t>추천</a:t>
            </a:r>
            <a:endParaRPr dirty="0"/>
          </a:p>
          <a:p>
            <a:r>
              <a:rPr dirty="0"/>
              <a:t>• </a:t>
            </a:r>
            <a:r>
              <a:rPr dirty="0" err="1"/>
              <a:t>상세설계·구현</a:t>
            </a:r>
            <a:r>
              <a:rPr dirty="0"/>
              <a:t> </a:t>
            </a:r>
            <a:r>
              <a:rPr dirty="0" err="1"/>
              <a:t>계획</a:t>
            </a:r>
            <a:r>
              <a:rPr dirty="0"/>
              <a:t> </a:t>
            </a:r>
            <a:r>
              <a:rPr dirty="0" err="1"/>
              <a:t>발표</a:t>
            </a:r>
            <a:r>
              <a:rPr lang="en-US"/>
              <a:t>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목적·제약</a:t>
            </a:r>
            <a:r>
              <a:rPr dirty="0"/>
              <a:t> → </a:t>
            </a:r>
            <a:r>
              <a:rPr dirty="0" err="1"/>
              <a:t>유스케이스·ERD</a:t>
            </a:r>
            <a:r>
              <a:rPr lang="en-US" dirty="0"/>
              <a:t> (</a:t>
            </a:r>
            <a:r>
              <a:rPr lang="ko-KR" altLang="en-US" dirty="0"/>
              <a:t>간단</a:t>
            </a:r>
            <a:r>
              <a:rPr lang="en-US" altLang="ko-KR" dirty="0"/>
              <a:t>)</a:t>
            </a:r>
            <a:r>
              <a:rPr dirty="0"/>
              <a:t> → </a:t>
            </a:r>
            <a:r>
              <a:rPr dirty="0" err="1"/>
              <a:t>클래스</a:t>
            </a:r>
            <a:r>
              <a:rPr lang="en-US" dirty="0"/>
              <a:t> (</a:t>
            </a:r>
            <a:r>
              <a:rPr lang="ko-KR" altLang="en-US" dirty="0"/>
              <a:t>구체적</a:t>
            </a:r>
            <a:r>
              <a:rPr lang="en-US" altLang="ko-KR" dirty="0"/>
              <a:t>)</a:t>
            </a:r>
            <a:endParaRPr dirty="0"/>
          </a:p>
          <a:p>
            <a:r>
              <a:rPr dirty="0"/>
              <a:t>• </a:t>
            </a:r>
            <a:r>
              <a:rPr dirty="0" err="1"/>
              <a:t>비트</a:t>
            </a:r>
            <a:r>
              <a:rPr dirty="0"/>
              <a:t> </a:t>
            </a:r>
            <a:r>
              <a:rPr dirty="0" err="1"/>
              <a:t>연산·복잡도</a:t>
            </a:r>
            <a:r>
              <a:rPr dirty="0"/>
              <a:t> → </a:t>
            </a:r>
            <a:r>
              <a:rPr dirty="0" err="1"/>
              <a:t>평가·개발</a:t>
            </a:r>
            <a:r>
              <a:rPr dirty="0"/>
              <a:t> </a:t>
            </a:r>
            <a:r>
              <a:rPr dirty="0" err="1"/>
              <a:t>일정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문제: 수동 대조·중복 입력·일정 누락</a:t>
            </a:r>
          </a:p>
          <a:p>
            <a:r>
              <a:t>• 해결: 시간표 재활용·추천·투표·재검사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재학생 5명 / 약 12주 / MVP 우선</a:t>
            </a:r>
          </a:p>
          <a:p>
            <a:r>
              <a:t>• 전체 단계 계획 ↔ 발표 이후 8~11주차 실행 일정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웹·DB / 이미지 인식 + 수기 입력</a:t>
            </a:r>
          </a:p>
          <a:p>
            <a:r>
              <a:t>• 월~금 09~21시·30분 / 120슬롯</a:t>
            </a:r>
          </a:p>
          <a:p>
            <a:r>
              <a:t>• 미등록자 제외 / 이동 여유·최소 회의 길이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사용자</a:t>
            </a:r>
            <a:r>
              <a:rPr dirty="0"/>
              <a:t>: </a:t>
            </a:r>
            <a:r>
              <a:rPr dirty="0" err="1"/>
              <a:t>입력·생성·참여</a:t>
            </a:r>
            <a:endParaRPr dirty="0"/>
          </a:p>
          <a:p>
            <a:r>
              <a:rPr dirty="0"/>
              <a:t>• </a:t>
            </a:r>
            <a:r>
              <a:rPr dirty="0" err="1"/>
              <a:t>구성원</a:t>
            </a:r>
            <a:r>
              <a:rPr dirty="0"/>
              <a:t>: </a:t>
            </a:r>
            <a:r>
              <a:rPr dirty="0" err="1"/>
              <a:t>메모·투표·조회</a:t>
            </a:r>
            <a:endParaRPr lang="en-US" dirty="0"/>
          </a:p>
          <a:p>
            <a:r>
              <a:rPr lang="en-US" altLang="ko-KR" dirty="0"/>
              <a:t>• </a:t>
            </a:r>
            <a:r>
              <a:rPr dirty="0" err="1"/>
              <a:t>관리자</a:t>
            </a:r>
            <a:r>
              <a:rPr dirty="0"/>
              <a:t>: </a:t>
            </a:r>
            <a:r>
              <a:rPr dirty="0" err="1"/>
              <a:t>관리·재계산·확정</a:t>
            </a:r>
            <a:endParaRPr dirty="0"/>
          </a:p>
          <a:p>
            <a:endParaRPr lang="en-US" dirty="0"/>
          </a:p>
          <a:p>
            <a:r>
              <a:rPr dirty="0"/>
              <a:t>• 빈 </a:t>
            </a:r>
            <a:r>
              <a:rPr dirty="0" err="1"/>
              <a:t>삼각형</a:t>
            </a:r>
            <a:r>
              <a:rPr dirty="0"/>
              <a:t>: </a:t>
            </a:r>
            <a:r>
              <a:rPr lang="ko-KR" altLang="en-US" dirty="0"/>
              <a:t>일반화 관계</a:t>
            </a:r>
            <a:endParaRPr lang="en-US" altLang="ko-KR" dirty="0"/>
          </a:p>
          <a:p>
            <a:r>
              <a:rPr lang="en-US" altLang="ko-KR" dirty="0"/>
              <a:t>• </a:t>
            </a:r>
            <a:r>
              <a:rPr dirty="0" err="1"/>
              <a:t>연관선</a:t>
            </a:r>
            <a:r>
              <a:rPr dirty="0"/>
              <a:t> ≠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순서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입력 → 참여 → 최대 3개 추천 → 투표 → 재검사·확정</a:t>
            </a:r>
          </a:p>
          <a:p>
            <a:r>
              <a:t>• include: 필수 포함 / extend: 조건부 추가</a:t>
            </a:r>
          </a:p>
          <a:p>
            <a:r>
              <a:t>• 전원 참석 불가 → 차선책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ERD: 저장 대상·데이터 연결</a:t>
            </a:r>
          </a:p>
          <a:p>
            <a:r>
              <a:t>• 사용자·일정 → 모임 → 계산·후보 → 투표·확정</a:t>
            </a:r>
          </a:p>
          <a:p>
            <a:r>
              <a:t>• PK: 식별 / FK: 참조 / UK: 중복 금지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반대편 데이터 1개 기준으로 기호 읽기</a:t>
            </a:r>
          </a:p>
          <a:p>
            <a:r>
              <a:t>• 원=0 / 막대=1 / 갈퀴=여러 개</a:t>
            </a:r>
          </a:p>
          <a:p>
            <a:r>
              <a:t>• 사용자 1명 ↔ 일정 0개 이상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예시</a:t>
            </a:r>
            <a:r>
              <a:rPr dirty="0"/>
              <a:t>: 3명 / </a:t>
            </a:r>
            <a:r>
              <a:rPr dirty="0" err="1"/>
              <a:t>화요일</a:t>
            </a:r>
            <a:r>
              <a:rPr dirty="0"/>
              <a:t> 15~16시</a:t>
            </a:r>
          </a:p>
          <a:p>
            <a:r>
              <a:rPr dirty="0"/>
              <a:t>• </a:t>
            </a:r>
            <a:r>
              <a:rPr lang="en-US" altLang="ko-KR" dirty="0"/>
              <a:t>USER·SLOT(</a:t>
            </a:r>
            <a:r>
              <a:rPr lang="ko-KR" altLang="en-US" dirty="0"/>
              <a:t>일정 준비</a:t>
            </a:r>
            <a:r>
              <a:rPr lang="en-US" altLang="ko-KR" dirty="0"/>
              <a:t>) / MEETING·MEMBER(</a:t>
            </a:r>
            <a:r>
              <a:rPr lang="ko-KR" altLang="en-US" dirty="0"/>
              <a:t>모임</a:t>
            </a:r>
            <a:r>
              <a:rPr lang="en-US" altLang="ko-KR" dirty="0"/>
              <a:t>·</a:t>
            </a:r>
            <a:r>
              <a:rPr lang="ko-KR" altLang="en-US" dirty="0"/>
              <a:t>참여</a:t>
            </a:r>
            <a:r>
              <a:rPr lang="en-US" altLang="ko-KR" dirty="0"/>
              <a:t>) / MEMO(</a:t>
            </a:r>
            <a:r>
              <a:rPr lang="ko-KR" altLang="en-US" dirty="0"/>
              <a:t>안건 공유</a:t>
            </a:r>
            <a:r>
              <a:rPr lang="en-US" altLang="ko-KR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• </a:t>
            </a:r>
            <a:r>
              <a:rPr lang="en-US" altLang="ko-KR" dirty="0"/>
              <a:t>RUN(</a:t>
            </a:r>
            <a:r>
              <a:rPr lang="ko-KR" altLang="en-US" dirty="0"/>
              <a:t>계산</a:t>
            </a:r>
            <a:r>
              <a:rPr lang="en-US" altLang="ko-KR" dirty="0"/>
              <a:t>) → SET(</a:t>
            </a:r>
            <a:r>
              <a:rPr lang="ko-KR" altLang="en-US" dirty="0"/>
              <a:t>추천 묶음</a:t>
            </a:r>
            <a:r>
              <a:rPr lang="en-US" altLang="ko-KR" dirty="0"/>
              <a:t>) → CANDIDATE(</a:t>
            </a:r>
            <a:r>
              <a:rPr lang="ko-KR" altLang="en-US" dirty="0"/>
              <a:t>개별 시간대</a:t>
            </a:r>
            <a:r>
              <a:rPr lang="en-US" altLang="ko-KR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• BALLOT(</a:t>
            </a:r>
            <a:r>
              <a:rPr lang="ko-KR" altLang="en-US" dirty="0"/>
              <a:t>응답</a:t>
            </a:r>
            <a:r>
              <a:rPr lang="en-US" altLang="ko-KR" dirty="0"/>
              <a:t>)·SELECTION(</a:t>
            </a:r>
            <a:r>
              <a:rPr lang="ko-KR" altLang="en-US" dirty="0"/>
              <a:t>선택 후보</a:t>
            </a:r>
            <a:r>
              <a:rPr lang="en-US" altLang="ko-KR" dirty="0"/>
              <a:t>) → </a:t>
            </a:r>
            <a:r>
              <a:rPr lang="ko-KR" altLang="en-US" dirty="0"/>
              <a:t>재검사 → </a:t>
            </a:r>
            <a:r>
              <a:rPr lang="en-US" altLang="ko-KR" dirty="0"/>
              <a:t>CONFIRMED(</a:t>
            </a:r>
            <a:r>
              <a:rPr lang="ko-KR" altLang="en-US" dirty="0"/>
              <a:t>최종 일정</a:t>
            </a:r>
            <a:r>
              <a:rPr lang="en-US" altLang="ko-KR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실선: 연관 / 검은 마름모: 합성·전체 쪽</a:t>
            </a:r>
          </a:p>
          <a:p>
            <a:r>
              <a:t>• 1: 하나 / 0..1: 최대 하나 / 0..*: 0개 이상</a:t>
            </a:r>
          </a:p>
          <a:p>
            <a:r>
              <a:t>• 관계선 ≠ 실행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계정·프로필·시간표 상태</a:t>
            </a:r>
          </a:p>
          <a:p>
            <a:r>
              <a:t>2. 핵심: 등록 시각(NULL=미등록)·version / import→save / update=변경·재계산 표시</a:t>
            </a:r>
          </a:p>
          <a:p>
            <a:r>
              <a:t>3. 주의: 실제 일정은 SLOT / 미등록 ≠ 등록 후 0건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수업·개인 일정 한 건</a:t>
            </a:r>
          </a:p>
          <a:p>
            <a:r>
              <a:t>2. 핵심: 요일·시작·종료 / validateTime=유효성 / overlaps=겹침</a:t>
            </a:r>
          </a:p>
          <a:p>
            <a:r>
              <a:t>3. 주의: 일정 1건 ≠ 30분 슬롯 / 일정→120비트 변환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역할</a:t>
            </a:r>
            <a:r>
              <a:rPr dirty="0"/>
              <a:t>: </a:t>
            </a:r>
            <a:r>
              <a:rPr dirty="0" err="1"/>
              <a:t>모임</a:t>
            </a:r>
            <a:r>
              <a:rPr dirty="0"/>
              <a:t> </a:t>
            </a:r>
            <a:r>
              <a:rPr dirty="0" err="1"/>
              <a:t>정보·검색</a:t>
            </a:r>
            <a:r>
              <a:rPr dirty="0"/>
              <a:t> </a:t>
            </a:r>
            <a:r>
              <a:rPr dirty="0" err="1"/>
              <a:t>조건</a:t>
            </a:r>
            <a:endParaRPr dirty="0"/>
          </a:p>
          <a:p>
            <a:r>
              <a:rPr dirty="0"/>
              <a:t>2. </a:t>
            </a:r>
            <a:r>
              <a:rPr dirty="0" err="1"/>
              <a:t>핵심</a:t>
            </a:r>
            <a:r>
              <a:rPr dirty="0"/>
              <a:t>: </a:t>
            </a:r>
            <a:r>
              <a:rPr dirty="0" err="1"/>
              <a:t>기간·시간</a:t>
            </a:r>
            <a:r>
              <a:rPr dirty="0"/>
              <a:t> </a:t>
            </a:r>
            <a:r>
              <a:rPr dirty="0" err="1"/>
              <a:t>범위</a:t>
            </a:r>
            <a:r>
              <a:rPr dirty="0"/>
              <a:t> /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여유·최소</a:t>
            </a:r>
            <a:r>
              <a:rPr dirty="0"/>
              <a:t> </a:t>
            </a:r>
            <a:r>
              <a:rPr dirty="0" err="1"/>
              <a:t>길이</a:t>
            </a:r>
            <a:r>
              <a:rPr dirty="0"/>
              <a:t> / </a:t>
            </a:r>
            <a:r>
              <a:rPr dirty="0" err="1"/>
              <a:t>초대·공유</a:t>
            </a:r>
            <a:endParaRPr dirty="0"/>
          </a:p>
          <a:p>
            <a:r>
              <a:rPr dirty="0"/>
              <a:t>3. </a:t>
            </a:r>
            <a:r>
              <a:rPr dirty="0" err="1"/>
              <a:t>주의</a:t>
            </a:r>
            <a:r>
              <a:rPr dirty="0"/>
              <a:t>: </a:t>
            </a:r>
            <a:r>
              <a:rPr dirty="0" err="1"/>
              <a:t>시간표</a:t>
            </a:r>
            <a:r>
              <a:rPr dirty="0"/>
              <a:t> </a:t>
            </a:r>
            <a:r>
              <a:rPr dirty="0" err="1"/>
              <a:t>수정+재계산</a:t>
            </a:r>
            <a:r>
              <a:rPr dirty="0"/>
              <a:t> </a:t>
            </a:r>
            <a:r>
              <a:rPr dirty="0" err="1"/>
              <a:t>표시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/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일정</a:t>
            </a:r>
            <a:r>
              <a:rPr dirty="0"/>
              <a:t> </a:t>
            </a:r>
            <a:r>
              <a:rPr dirty="0" err="1"/>
              <a:t>존재로</a:t>
            </a:r>
            <a:r>
              <a:rPr dirty="0"/>
              <a:t> </a:t>
            </a:r>
            <a:r>
              <a:rPr dirty="0" err="1"/>
              <a:t>확정</a:t>
            </a:r>
            <a:r>
              <a:rPr dirty="0"/>
              <a:t> </a:t>
            </a:r>
            <a:r>
              <a:rPr dirty="0" err="1"/>
              <a:t>판단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모임 생성부터 계산·확정 연결</a:t>
            </a:r>
          </a:p>
          <a:p>
            <a:r>
              <a:t>2. 핵심: onMemberJoined=자동 / recalculate=관리자 / confirm=확정</a:t>
            </a:r>
          </a:p>
          <a:p>
            <a:r>
              <a:t>3. 주의: 참여 시 자동 ↔ 수정 후 수동 / 확정 전 최신 시간표 재검사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역할</a:t>
            </a:r>
            <a:r>
              <a:rPr dirty="0"/>
              <a:t>: </a:t>
            </a:r>
            <a:r>
              <a:rPr dirty="0" err="1"/>
              <a:t>사용자↔모임</a:t>
            </a:r>
            <a:r>
              <a:rPr dirty="0"/>
              <a:t> </a:t>
            </a:r>
            <a:r>
              <a:rPr dirty="0" err="1"/>
              <a:t>연결·권한</a:t>
            </a:r>
            <a:endParaRPr dirty="0"/>
          </a:p>
          <a:p>
            <a:r>
              <a:rPr dirty="0"/>
              <a:t>2. </a:t>
            </a:r>
            <a:r>
              <a:rPr dirty="0" err="1"/>
              <a:t>핵심</a:t>
            </a:r>
            <a:r>
              <a:rPr dirty="0"/>
              <a:t>: </a:t>
            </a:r>
            <a:r>
              <a:rPr dirty="0" err="1"/>
              <a:t>role·status</a:t>
            </a:r>
            <a:r>
              <a:rPr dirty="0"/>
              <a:t> / </a:t>
            </a:r>
            <a:r>
              <a:rPr dirty="0" err="1"/>
              <a:t>acceptInvite</a:t>
            </a:r>
            <a:r>
              <a:rPr dirty="0"/>
              <a:t>=</a:t>
            </a:r>
            <a:r>
              <a:rPr dirty="0" err="1"/>
              <a:t>참여</a:t>
            </a:r>
            <a:r>
              <a:rPr dirty="0"/>
              <a:t> / </a:t>
            </a:r>
            <a:r>
              <a:rPr dirty="0" err="1"/>
              <a:t>transferAdmin</a:t>
            </a:r>
            <a:r>
              <a:rPr dirty="0"/>
              <a:t>=</a:t>
            </a:r>
            <a:r>
              <a:rPr dirty="0" err="1"/>
              <a:t>위임</a:t>
            </a:r>
            <a:r>
              <a:rPr dirty="0"/>
              <a:t> / leave=</a:t>
            </a:r>
            <a:r>
              <a:rPr dirty="0" err="1"/>
              <a:t>탈퇴</a:t>
            </a:r>
            <a:endParaRPr dirty="0"/>
          </a:p>
          <a:p>
            <a:r>
              <a:rPr dirty="0"/>
              <a:t>3. </a:t>
            </a:r>
            <a:r>
              <a:rPr dirty="0" err="1"/>
              <a:t>주의</a:t>
            </a:r>
            <a:r>
              <a:rPr dirty="0"/>
              <a:t>: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참여</a:t>
            </a:r>
            <a:r>
              <a:rPr dirty="0"/>
              <a:t> </a:t>
            </a:r>
            <a:r>
              <a:rPr dirty="0" err="1"/>
              <a:t>금지</a:t>
            </a:r>
            <a:r>
              <a:rPr dirty="0"/>
              <a:t> / </a:t>
            </a:r>
            <a:r>
              <a:rPr dirty="0" err="1"/>
              <a:t>위임</a:t>
            </a:r>
            <a:r>
              <a:rPr lang="en-US" dirty="0"/>
              <a:t>(</a:t>
            </a:r>
            <a:r>
              <a:rPr lang="ko-KR" altLang="en-US" dirty="0"/>
              <a:t>두 </a:t>
            </a:r>
            <a:r>
              <a:rPr lang="en-US" altLang="ko-KR" dirty="0"/>
              <a:t>role </a:t>
            </a:r>
            <a:r>
              <a:rPr lang="ko-KR" altLang="en-US" dirty="0"/>
              <a:t>변경</a:t>
            </a:r>
            <a:r>
              <a:rPr lang="en-US" dirty="0"/>
              <a:t>)</a:t>
            </a:r>
            <a:r>
              <a:rPr dirty="0"/>
              <a:t> </a:t>
            </a:r>
            <a:r>
              <a:rPr dirty="0" err="1"/>
              <a:t>동시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/ </a:t>
            </a:r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관리자</a:t>
            </a:r>
            <a:r>
              <a:rPr dirty="0"/>
              <a:t> </a:t>
            </a:r>
            <a:r>
              <a:rPr dirty="0" err="1"/>
              <a:t>탈퇴</a:t>
            </a:r>
            <a:r>
              <a:rPr dirty="0"/>
              <a:t> </a:t>
            </a:r>
            <a:r>
              <a:rPr dirty="0" err="1"/>
              <a:t>제한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모임 공유 메모</a:t>
            </a:r>
          </a:p>
          <a:p>
            <a:r>
              <a:t>2. 핵심: meeting_id·author_user_id·content / write·update·delete</a:t>
            </a:r>
          </a:p>
          <a:p>
            <a:r>
              <a:t>3. 주의: 수정·삭제는 작성자 본인 / 관리자도 동일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역할</a:t>
            </a:r>
            <a:r>
              <a:rPr dirty="0"/>
              <a:t>: </a:t>
            </a:r>
            <a:r>
              <a:rPr dirty="0" err="1"/>
              <a:t>계산</a:t>
            </a:r>
            <a:r>
              <a:rPr dirty="0"/>
              <a:t> 1회·당시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이력</a:t>
            </a:r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2. </a:t>
            </a:r>
            <a:r>
              <a:rPr dirty="0" err="1"/>
              <a:t>핵심</a:t>
            </a:r>
            <a:r>
              <a:rPr dirty="0"/>
              <a:t>: </a:t>
            </a:r>
            <a:r>
              <a:rPr dirty="0" err="1"/>
              <a:t>조건</a:t>
            </a:r>
            <a:r>
              <a:rPr dirty="0"/>
              <a:t> </a:t>
            </a:r>
            <a:r>
              <a:rPr lang="en-US" altLang="ko-KR" dirty="0" err="1"/>
              <a:t>cond_snapshot</a:t>
            </a:r>
            <a:r>
              <a:rPr lang="en-US" altLang="ko-KR" dirty="0"/>
              <a:t>(</a:t>
            </a:r>
            <a:r>
              <a:rPr lang="ko-KR" altLang="en-US" dirty="0"/>
              <a:t>조건</a:t>
            </a:r>
            <a:r>
              <a:rPr lang="en-US" altLang="ko-KR" dirty="0"/>
              <a:t>) / </a:t>
            </a:r>
            <a:r>
              <a:rPr lang="en-US" altLang="ko-KR" dirty="0" err="1"/>
              <a:t>input_hash</a:t>
            </a:r>
            <a:r>
              <a:rPr lang="en-US" altLang="ko-KR" dirty="0"/>
              <a:t>(</a:t>
            </a:r>
            <a:r>
              <a:rPr lang="ko-KR" altLang="en-US" dirty="0"/>
              <a:t>변경 비교</a:t>
            </a:r>
            <a:r>
              <a:rPr lang="en-US" altLang="ko-KR" dirty="0"/>
              <a:t>)</a:t>
            </a:r>
          </a:p>
          <a:p>
            <a:r>
              <a:rPr dirty="0" err="1"/>
              <a:t>findCommonFreeTime</a:t>
            </a:r>
            <a:r>
              <a:rPr lang="en-US" dirty="0"/>
              <a:t> -&gt; </a:t>
            </a:r>
            <a:r>
              <a:rPr dirty="0"/>
              <a:t>recommendTop3·recheck</a:t>
            </a:r>
          </a:p>
          <a:p>
            <a:r>
              <a:rPr dirty="0"/>
              <a:t>3. </a:t>
            </a:r>
            <a:r>
              <a:rPr dirty="0" err="1"/>
              <a:t>주의</a:t>
            </a:r>
            <a:r>
              <a:rPr dirty="0"/>
              <a:t>: </a:t>
            </a:r>
            <a:r>
              <a:rPr lang="ko-KR" altLang="en-US" dirty="0"/>
              <a:t>계산 결과를 후보 묶음과 개별 후보로 분리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후보 묶음·투표 라운드</a:t>
            </a:r>
          </a:p>
          <a:p>
            <a:r>
              <a:t>2. 핵심: 종류·이유·결과/투표 상태 / openVote·countVotes·getWinner</a:t>
            </a:r>
          </a:p>
          <a:p>
            <a:r>
              <a:t>3. 주의: 재계산 시 새 묶음 / 이전 투표 보존 / 최종 확정은 관리자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개별 추천 시간대</a:t>
            </a:r>
          </a:p>
          <a:p>
            <a:r>
              <a:t>2. 핵심: set_id·순위·시작/종료·가능 인원 / isAvailable·getVoteCount</a:t>
            </a:r>
          </a:p>
          <a:p>
            <a:r>
              <a:t>3. 주의: 최대 3개 / 순위 중복 금지 / 참석 가능 인원 ≠ 득표수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한 사람의 투표지</a:t>
            </a:r>
          </a:p>
          <a:p>
            <a:r>
              <a:t>2. 핵심: set_id·member_id·no_available / submit·update·markNoAvailable</a:t>
            </a:r>
          </a:p>
          <a:p>
            <a:r>
              <a:t>3. 주의: 묶음당 1인 1투표지 / 미응답 ≠ 후보 없음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투표지↔선택 후보 연결</a:t>
            </a:r>
          </a:p>
          <a:p>
            <a:r>
              <a:t>2. 핵심: ballot_id·candidate_id·set_id / select·cancel</a:t>
            </a:r>
          </a:p>
          <a:p>
            <a:r>
              <a:t>3. 주의: 복합 PK: 중복 방지 / 복합 FK: 같은 묶음 / 후보 없음=0건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최종 일정·검증 기록</a:t>
            </a:r>
          </a:p>
          <a:p>
            <a:r>
              <a:t>2. 핵심: candidate_id·recheck_run_id·확정 시각 / confirm·getSchedule·getShareLink</a:t>
            </a:r>
          </a:p>
          <a:p>
            <a:r>
              <a:t>3. 주의: 모임당 최대 1개 / 최신 시간표 재검사 / 동일 모임 정합성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5일 × 12시간 × 2 = 120슬롯·120비트</a:t>
            </a:r>
          </a:p>
          <a:p>
            <a:r>
              <a:rPr dirty="0"/>
              <a:t>• </a:t>
            </a:r>
            <a:r>
              <a:rPr dirty="0" err="1"/>
              <a:t>가능</a:t>
            </a:r>
            <a:r>
              <a:rPr dirty="0"/>
              <a:t> 1 / </a:t>
            </a:r>
            <a:r>
              <a:rPr dirty="0" err="1"/>
              <a:t>불가능</a:t>
            </a:r>
            <a:r>
              <a:rPr dirty="0"/>
              <a:t> 0 / AND=</a:t>
            </a:r>
            <a:r>
              <a:rPr dirty="0" err="1"/>
              <a:t>전원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r>
              <a:rPr dirty="0"/>
              <a:t>• 64비트 </a:t>
            </a:r>
            <a:r>
              <a:rPr dirty="0" err="1"/>
              <a:t>워드</a:t>
            </a:r>
            <a:r>
              <a:rPr dirty="0"/>
              <a:t> 2개 / </a:t>
            </a:r>
            <a:r>
              <a:rPr dirty="0" err="1"/>
              <a:t>남는</a:t>
            </a:r>
            <a:r>
              <a:rPr dirty="0"/>
              <a:t> 8비트 </a:t>
            </a:r>
            <a:r>
              <a:rPr dirty="0" err="1"/>
              <a:t>제외</a:t>
            </a:r>
            <a:endParaRPr dirty="0"/>
          </a:p>
          <a:p>
            <a:r>
              <a:rPr dirty="0"/>
              <a:t>• </a:t>
            </a:r>
            <a:r>
              <a:rPr dirty="0" err="1"/>
              <a:t>최소</a:t>
            </a:r>
            <a:r>
              <a:rPr dirty="0"/>
              <a:t> </a:t>
            </a:r>
            <a:r>
              <a:rPr dirty="0" err="1"/>
              <a:t>길이·이동</a:t>
            </a:r>
            <a:r>
              <a:rPr dirty="0"/>
              <a:t> </a:t>
            </a:r>
            <a:r>
              <a:rPr dirty="0" err="1"/>
              <a:t>여유</a:t>
            </a:r>
            <a:r>
              <a:rPr dirty="0"/>
              <a:t> / </a:t>
            </a:r>
            <a:r>
              <a:rPr dirty="0" err="1"/>
              <a:t>인원</a:t>
            </a:r>
            <a:r>
              <a:rPr dirty="0"/>
              <a:t> </a:t>
            </a:r>
            <a:r>
              <a:rPr dirty="0" err="1"/>
              <a:t>집계</a:t>
            </a:r>
            <a:r>
              <a:rPr dirty="0"/>
              <a:t> </a:t>
            </a:r>
            <a:r>
              <a:rPr dirty="0" err="1"/>
              <a:t>별도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N=인원 / S=120 / w=64</a:t>
            </a:r>
          </a:p>
          <a:p>
            <a:r>
              <a:t>• 슬롯별 O(N×S) / AND O(N×⌈S/w⌉)</a:t>
            </a:r>
          </a:p>
          <a:p>
            <a:r>
              <a:t>• 120슬롯=2워드 / 5명: 4×2=8회 AND</a:t>
            </a:r>
          </a:p>
          <a:p>
            <a:r>
              <a:t>• S 고정: 둘 다 O(N), 실제 연산량 감소</a:t>
            </a:r>
          </a:p>
          <a:p>
            <a:r>
              <a:t>• DB·변환·추천·인원 집계 비용 별도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작은 기능 구현 → 검증·피드백 → 개선</a:t>
            </a:r>
          </a:p>
          <a:p>
            <a:r>
              <a:t>• 예시: 수기 입력 개선 후 매칭 연결</a:t>
            </a:r>
          </a:p>
          <a:p>
            <a:r>
              <a:t>• MVP=우선 범위 / 애자일=반복 개발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정확성 먼저: 기준 구현·경계값 비교</a:t>
            </a:r>
          </a:p>
          <a:p>
            <a:r>
              <a:t>• 기본: S=120 고정, N 증가 / S 변화: 별도 실험</a:t>
            </a:r>
          </a:p>
          <a:p>
            <a:r>
              <a:t>• 동일 환경·반복 측정 / 실측 결과 아님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예외: 공통 시간 없음·미등록·비정상 입력</a:t>
            </a:r>
          </a:p>
          <a:p>
            <a:r>
              <a:t>• 일정↔120비트 / 컬러맵↔인원수 일치</a:t>
            </a:r>
          </a:p>
          <a:p>
            <a:r>
              <a:t>• 전체 흐름 테스트 / DB 저장 방식 별도 결정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완료: 입력·ERD·클래스·계산 원리·평가 계획</a:t>
            </a:r>
          </a:p>
          <a:p>
            <a:r>
              <a:t>• 확정: 120슬롯 / 미정: 저장 역할·추천 점수·초대 상태</a:t>
            </a:r>
          </a:p>
          <a:p>
            <a:r>
              <a:t>• 다음: MVP 구현·측정 / 8~11주차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8주차 10/20: 설계·환경·로그인·참여·수기 입력</a:t>
            </a:r>
          </a:p>
          <a:p>
            <a:r>
              <a:t>• 9주차 10/27: OCR·120비트 변환·공강 추천</a:t>
            </a:r>
          </a:p>
          <a:p>
            <a:r>
              <a:t>• 10주차 11/3: 투표·재검사·연동·통합 테스트</a:t>
            </a:r>
          </a:p>
          <a:p>
            <a:r>
              <a:t>• 11주차 11/10: 검증·수정·배포·보고서·시연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시간표 재활용·추천·투표·재검사</a:t>
            </a:r>
          </a:p>
          <a:p>
            <a:r>
              <a:t>• 발표 종료 / Q&amp;A / 상세 질문은 부록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질문 대응용 부록</a:t>
            </a:r>
          </a:p>
          <a:p>
            <a:r>
              <a:t>• 담당 업무·ERD 제약·자료형·검증·참고문헌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계정·프로필·시간표 상태</a:t>
            </a:r>
          </a:p>
          <a:p>
            <a:r>
              <a:t>2. 핵심: 등록 시각(NULL=미등록)·version</a:t>
            </a:r>
          </a:p>
          <a:p>
            <a:r>
              <a:t>3. 주의: 실제 일정은 SLOT / 미등록 ≠ 등록 후 0건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수업·개인 일정 한 건</a:t>
            </a:r>
          </a:p>
          <a:p>
            <a:r>
              <a:t>2. 핵심: 요일·시작·종료</a:t>
            </a:r>
          </a:p>
          <a:p>
            <a:r>
              <a:t>3. 주의: 일정 1건 ≠ 30분 슬롯 / 일정→120비트 변환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모임 정보·검색 조건</a:t>
            </a:r>
          </a:p>
          <a:p>
            <a:r>
              <a:t>2. 핵심: 기간·시간 범위</a:t>
            </a:r>
          </a:p>
          <a:p>
            <a:r>
              <a:t>3. 주의: 시간표 수정+재계산 표시 함께 처리 / 확정 일정 존재로 확정 판단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사용자↔모임 연결·권한</a:t>
            </a:r>
          </a:p>
          <a:p>
            <a:r>
              <a:t>2. 핵심: role·status</a:t>
            </a:r>
          </a:p>
          <a:p>
            <a:r>
              <a:t>3. 주의: 중복 참여 금지 / 위임 동시 처리 / 마지막 관리자 탈퇴 제한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계산 1회·당시 입력 이력</a:t>
            </a:r>
          </a:p>
          <a:p>
            <a:r>
              <a:t>2. 핵심: 조건 snapshot·input_hash·계산 시각</a:t>
            </a:r>
          </a:p>
          <a:p>
            <a:r>
              <a:t>3. 주의: 새 이력 보존 / AND=전원 가능 / 참석 인원 별도 집계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후보 묶음·투표 라운드</a:t>
            </a:r>
          </a:p>
          <a:p>
            <a:r>
              <a:t>2. 핵심: 종류·이유·결과/투표 상태</a:t>
            </a:r>
          </a:p>
          <a:p>
            <a:r>
              <a:t>3. 주의: 재계산 시 새 묶음 / 이전 투표 보존 / 최종 확정은 관리자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개별 추천 시간대</a:t>
            </a:r>
          </a:p>
          <a:p>
            <a:r>
              <a:t>2. 핵심: set_id·순위·시작/종료·가능 인원</a:t>
            </a:r>
          </a:p>
          <a:p>
            <a:r>
              <a:t>3. 주의: 최대 3개 / 순위 중복 금지 / 참석 가능 인원 ≠ 득표수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한 사람의 투표지</a:t>
            </a:r>
          </a:p>
          <a:p>
            <a:r>
              <a:t>2. 핵심: set_id·member_id·no_available</a:t>
            </a:r>
          </a:p>
          <a:p>
            <a:r>
              <a:t>3. 주의: 묶음당 1인 1투표지 / 미응답 ≠ 후보 없음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투표지↔선택 후보 연결</a:t>
            </a:r>
          </a:p>
          <a:p>
            <a:r>
              <a:t>2. 핵심: ballot_id·candidate_id·set_id</a:t>
            </a:r>
          </a:p>
          <a:p>
            <a:r>
              <a:t>3. 주의: 복합 PK: 중복 방지 / 복합 FK: 같은 묶음 / 후보 없음=0건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역할: 최종 일정·검증 기록</a:t>
            </a:r>
          </a:p>
          <a:p>
            <a:r>
              <a:t>2. 핵심: candidate_id·recheck_run_id·확정 시각</a:t>
            </a:r>
          </a:p>
          <a:p>
            <a:r>
              <a:t>3. 주의: 모임당 최대 1개 / 최신 시간표 재검사 / 동일 모임 정합성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LocalDate / LocalTime / LocalDateTime: 날짜 / 시각 / 둘 다</a:t>
            </a:r>
          </a:p>
          <a:p>
            <a:r>
              <a:t>• Map: 이름·값 / void: 반환 없음 / []: 배열</a:t>
            </a:r>
          </a:p>
          <a:p>
            <a:r>
              <a:t>• 매개변수 생략 ≠ 실제 입력 불필요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Word-RAM: 워드 단위 동시 처리</a:t>
            </a:r>
          </a:p>
          <a:p>
            <a:r>
              <a:t>• 비트 벡터: 집합 표현·AND 교집합</a:t>
            </a:r>
          </a:p>
          <a:p>
            <a:r>
              <a:t>• 문헌 성능 ≠ 서비스 실측 성능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애자일: 협업·작동 결과·피드백·변화 대응</a:t>
            </a:r>
          </a:p>
          <a:p>
            <a:r>
              <a:t>• 적용: 수기 입력 검증·개선 후 기능 확장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F6474312-3317-424A-937C-AB006892F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2400" b="1" i="0">
                <a:solidFill>
                  <a:srgbClr val="0F172A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4D49F624-629C-4148-A7FF-08B34D4AA58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F2490DCA-AD87-4382-9329-81BC2F7750F6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782C85CC-B370-4174-901A-0D955B2D06BF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A9E2689D-5A12-4F3C-BB3C-F41E22694D09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73CE5CDD-9583-4A69-80D8-C589FDAA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2400" b="1" i="0">
                <a:solidFill>
                  <a:srgbClr val="0F172A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A2B5F493-554C-47C6-B366-C4701ADBB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007AD55D-A206-4EC9-BB81-2427BA9B4593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C0ECCF1-A3E3-4571-94E8-2B50E515C834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5DFB736D-9A13-4468-83C9-9F7B0C40C864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8D61B60B-C05A-4230-88AF-3F873231F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2400" b="1" i="0">
                <a:solidFill>
                  <a:srgbClr val="0F172A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0FC0961-1D05-49DE-82FC-A6F60B1395E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DC8DC63-DF50-4446-A6BF-2448FE710779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050EB10C-C693-44DE-BB22-EDCCB1223BFC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1162C420-58E9-414F-AD9B-80339F2D2355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Holder 7">
            <a:extLst>
              <a:ext uri="{FF2B5EF4-FFF2-40B4-BE49-F238E27FC236}">
                <a16:creationId xmlns:a16="http://schemas.microsoft.com/office/drawing/2014/main" id="{81A6B46A-2E0F-4ABB-BEF0-4EB1C648113C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DC1CEB7F-5242-4AA6-8A31-BD95A0C8C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2400" b="1" i="0">
                <a:solidFill>
                  <a:srgbClr val="0F172A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047DFED-2D8F-4D2B-A8C0-C106F0F04DF3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1B56B1A5-E1FF-4760-86B9-9CBDDC15AB7B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31382508-1553-476F-9F97-91E6B7CBF0EF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5C2B2EC4-A7C7-4713-9043-75F79C00B730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041EEA9-4001-49E2-BDB3-880CD20F1B00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B690BEDB-76FF-4AC2-99CE-72B571E2F51F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F6DBCB48-ED89-4E9F-9AD6-75D4C10F6B0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buNone/>
            </a:pPr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3338F7F2-D5AD-4575-AF16-0F36B05BC2A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>
              <a:buNone/>
            </a:pPr>
            <a:endParaRPr/>
          </a:p>
        </p:txBody>
      </p:sp>
      <p:sp>
        <p:nvSpPr>
          <p:cNvPr id="14" name="Google Shape;14;p2">
            <a:extLst>
              <a:ext uri="{FF2B5EF4-FFF2-40B4-BE49-F238E27FC236}">
                <a16:creationId xmlns:a16="http://schemas.microsoft.com/office/drawing/2014/main" id="{7A531939-F9CD-4D3C-B7A6-83E664612B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9E8CF52E-4F02-4E0C-80BC-CE75B764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641858"/>
            <a:ext cx="460756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2400" b="1" i="0">
                <a:solidFill>
                  <a:srgbClr val="0F172A"/>
                </a:solidFill>
                <a:latin typeface="함초롬돋움"/>
                <a:ea typeface="함초롬돋움"/>
                <a:cs typeface="함초롬돋움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AD726EE8-087C-4E06-A3D3-EF9F721CF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2542150"/>
            <a:ext cx="11049000" cy="2480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E9E164C6-7472-42EF-ADC5-012EFDB62684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F35F0C3E-700E-481F-9F8C-3F4EED2C4473}"/>
              </a:ext>
            </a:extLst>
          </p:cNvPr>
          <p:cNvSpPr>
            <a:spLocks noGrp="1"/>
          </p:cNvSpPr>
          <p:nvPr>
            <p:ph type="dt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7842FA9-9107-4743-9CC2-906B08B61B25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buNone/>
        <a:defRPr>
          <a:latin typeface="+mj-lt"/>
          <a:ea typeface="+mj-lt"/>
          <a:cs typeface="+mj-lt"/>
        </a:defRPr>
      </a:lvl1pPr>
    </p:titleStyle>
    <p:body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bodyStyle>
    <p:other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67D189-9912-4D60-AC07-F25CF8E08E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/>
          <a:lstStyle/>
          <a:p>
            <a:pPr lvl="0">
              <a:buNone/>
            </a:pPr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4F8DB42-B7DE-4F3F-B646-7AE04B33D205}"/>
              </a:ext>
            </a:extLst>
          </p:cNvPr>
          <p:cNvSpPr>
            <a:spLocks noGrp="1"/>
          </p:cNvSpPr>
          <p:nvPr/>
        </p:nvSpPr>
        <p:spPr>
          <a:xfrm>
            <a:off x="762000" y="477768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EA580C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6645756-2568-4056-90B3-03163B98A5EC}"/>
              </a:ext>
            </a:extLst>
          </p:cNvPr>
          <p:cNvSpPr>
            <a:spLocks noGrp="1"/>
          </p:cNvSpPr>
          <p:nvPr/>
        </p:nvSpPr>
        <p:spPr>
          <a:xfrm>
            <a:off x="762000" y="2042218"/>
            <a:ext cx="2560320" cy="266700"/>
          </a:xfrm>
          <a:custGeom>
            <a:avLst/>
            <a:gdLst/>
            <a:ahLst/>
            <a:cxnLst/>
            <a:rect l="l" t="t" r="r" b="b"/>
            <a:pathLst>
              <a:path w="2560320" h="266700">
                <a:moveTo>
                  <a:pt x="2521893" y="266699"/>
                </a:moveTo>
                <a:lnTo>
                  <a:pt x="38098" y="266699"/>
                </a:lnTo>
                <a:lnTo>
                  <a:pt x="23268" y="263706"/>
                </a:lnTo>
                <a:lnTo>
                  <a:pt x="11158" y="255541"/>
                </a:lnTo>
                <a:lnTo>
                  <a:pt x="2993" y="243431"/>
                </a:lnTo>
                <a:lnTo>
                  <a:pt x="0" y="228601"/>
                </a:lnTo>
                <a:lnTo>
                  <a:pt x="0" y="38098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098" y="0"/>
                </a:lnTo>
                <a:lnTo>
                  <a:pt x="2521893" y="0"/>
                </a:lnTo>
                <a:lnTo>
                  <a:pt x="2557092" y="23518"/>
                </a:lnTo>
                <a:lnTo>
                  <a:pt x="2559992" y="38098"/>
                </a:lnTo>
                <a:lnTo>
                  <a:pt x="2559992" y="228601"/>
                </a:lnTo>
                <a:lnTo>
                  <a:pt x="2556998" y="243431"/>
                </a:lnTo>
                <a:lnTo>
                  <a:pt x="2548833" y="255541"/>
                </a:lnTo>
                <a:lnTo>
                  <a:pt x="2536723" y="263706"/>
                </a:lnTo>
                <a:lnTo>
                  <a:pt x="2521893" y="266699"/>
                </a:lnTo>
                <a:close/>
              </a:path>
            </a:pathLst>
          </a:custGeom>
          <a:solidFill>
            <a:srgbClr val="EA580C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62F7DB0-6177-421A-A089-6C0FB7C37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2358703"/>
            <a:ext cx="8547100" cy="1329436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marR="5080" lvl="0">
              <a:lnSpc>
                <a:spcPct val="120000"/>
              </a:lnSpc>
              <a:spcBef>
                <a:spcPts val="100"/>
              </a:spcBef>
              <a:buNone/>
            </a:pPr>
            <a:r>
              <a:rPr sz="3600" spc="-215">
                <a:solidFill>
                  <a:srgbClr val="FFFFFF"/>
                </a:solidFill>
              </a:rPr>
              <a:t>공강</a:t>
            </a:r>
            <a:r>
              <a:rPr sz="3600" spc="-254">
                <a:solidFill>
                  <a:srgbClr val="FFFFFF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시간</a:t>
            </a:r>
            <a:r>
              <a:rPr sz="3600" spc="-250">
                <a:solidFill>
                  <a:srgbClr val="FFFFFF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교집합</a:t>
            </a:r>
            <a:r>
              <a:rPr sz="3600" spc="-254">
                <a:solidFill>
                  <a:srgbClr val="FFFFFF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찾기</a:t>
            </a:r>
            <a:r>
              <a:rPr sz="3600" spc="-250">
                <a:solidFill>
                  <a:srgbClr val="FFFFFF"/>
                </a:solidFill>
              </a:rPr>
              <a:t> </a:t>
            </a:r>
            <a:r>
              <a:rPr sz="3600" spc="-25">
                <a:solidFill>
                  <a:srgbClr val="FFFFFF"/>
                </a:solidFill>
              </a:rPr>
              <a:t>서비스 </a:t>
            </a:r>
            <a:br>
              <a:rPr sz="3600" spc="-25">
                <a:solidFill>
                  <a:srgbClr val="FFFFFF"/>
                </a:solidFill>
              </a:rPr>
            </a:br>
            <a:r>
              <a:rPr sz="3600" spc="75">
                <a:solidFill>
                  <a:srgbClr val="EA580C"/>
                </a:solidFill>
              </a:rPr>
              <a:t>'Teum</a:t>
            </a:r>
            <a:r>
              <a:rPr sz="3600" spc="-254">
                <a:solidFill>
                  <a:srgbClr val="EA580C"/>
                </a:solidFill>
              </a:rPr>
              <a:t> </a:t>
            </a:r>
            <a:r>
              <a:rPr sz="3600" spc="114">
                <a:solidFill>
                  <a:srgbClr val="EA580C"/>
                </a:solidFill>
              </a:rPr>
              <a:t>(틈)'</a:t>
            </a:r>
            <a:r>
              <a:rPr sz="3600" spc="-250">
                <a:solidFill>
                  <a:srgbClr val="EA580C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상세설계</a:t>
            </a:r>
            <a:r>
              <a:rPr sz="3600" spc="-250">
                <a:solidFill>
                  <a:srgbClr val="FFFFFF"/>
                </a:solidFill>
              </a:rPr>
              <a:t> </a:t>
            </a:r>
            <a:r>
              <a:rPr sz="3600" spc="-215">
                <a:solidFill>
                  <a:srgbClr val="FFFFFF"/>
                </a:solidFill>
              </a:rPr>
              <a:t>진행보고</a:t>
            </a:r>
            <a:endParaRPr sz="3600" spc="-25">
              <a:solidFill>
                <a:srgbClr val="FFFFFF"/>
              </a:solidFill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2A15FDB-4BC3-414D-8CE5-D3750A21F765}"/>
              </a:ext>
            </a:extLst>
          </p:cNvPr>
          <p:cNvSpPr>
            <a:spLocks noGrp="1"/>
          </p:cNvSpPr>
          <p:nvPr/>
        </p:nvSpPr>
        <p:spPr>
          <a:xfrm>
            <a:off x="762000" y="3857625"/>
            <a:ext cx="10477500" cy="24130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대학생</a:t>
            </a:r>
            <a:r>
              <a:rPr sz="1500" spc="-10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팀</a:t>
            </a:r>
            <a:r>
              <a:rPr sz="1500" spc="-9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프로젝트</a:t>
            </a:r>
            <a:r>
              <a:rPr sz="1500" spc="-9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및</a:t>
            </a:r>
            <a:r>
              <a:rPr sz="1500" spc="-9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스터디</a:t>
            </a:r>
            <a:r>
              <a:rPr sz="1500" spc="-10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모임의</a:t>
            </a:r>
            <a:r>
              <a:rPr sz="1500" spc="-9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효율적인</a:t>
            </a:r>
            <a:r>
              <a:rPr sz="1500" spc="-9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일정</a:t>
            </a:r>
            <a:r>
              <a:rPr sz="1500" spc="-9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조율을</a:t>
            </a:r>
            <a:r>
              <a:rPr sz="1500" spc="-10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위한</a:t>
            </a:r>
            <a:r>
              <a:rPr sz="1500" spc="-9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시간표</a:t>
            </a:r>
            <a:r>
              <a:rPr sz="1500" spc="-9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데이터</a:t>
            </a:r>
            <a:r>
              <a:rPr sz="1500" spc="-9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기반</a:t>
            </a:r>
            <a:r>
              <a:rPr sz="1500" spc="-10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웹</a:t>
            </a:r>
            <a:r>
              <a:rPr sz="1500" spc="-9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500" spc="-2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서비스</a:t>
            </a:r>
            <a:endParaRPr sz="150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E10C585-77B9-4491-9297-048AB4204652}"/>
              </a:ext>
            </a:extLst>
          </p:cNvPr>
          <p:cNvSpPr>
            <a:spLocks noGrp="1"/>
          </p:cNvSpPr>
          <p:nvPr/>
        </p:nvSpPr>
        <p:spPr>
          <a:xfrm>
            <a:off x="882650" y="2081334"/>
            <a:ext cx="2004060" cy="1727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050" b="1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DETAILED</a:t>
            </a:r>
            <a:r>
              <a:rPr sz="1050" b="1" spc="2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050" b="1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DESIGN</a:t>
            </a:r>
            <a:r>
              <a:rPr sz="1050" b="1" spc="2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050" b="1" spc="-10">
                <a:solidFill>
                  <a:srgbClr val="FFFFFF"/>
                </a:solidFill>
                <a:latin typeface="함초롬돋움"/>
                <a:ea typeface="함초롬돋움"/>
                <a:cs typeface="함초롬돋움"/>
              </a:rPr>
              <a:t>REPORT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44AFC98-4C9F-4188-B442-640B1ECC9176}"/>
              </a:ext>
            </a:extLst>
          </p:cNvPr>
          <p:cNvSpPr>
            <a:spLocks noGrp="1"/>
          </p:cNvSpPr>
          <p:nvPr/>
        </p:nvSpPr>
        <p:spPr>
          <a:xfrm>
            <a:off x="3423592" y="2056761"/>
            <a:ext cx="1986608" cy="1955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lvl="0">
              <a:lnSpc>
                <a:spcPct val="100000"/>
              </a:lnSpc>
              <a:spcBef>
                <a:spcPts val="100"/>
              </a:spcBef>
              <a:buNone/>
            </a:pPr>
            <a:r>
              <a:rPr sz="1200" spc="-75">
                <a:solidFill>
                  <a:srgbClr val="94A3B8"/>
                </a:solidFill>
                <a:latin typeface="함초롬돋움"/>
                <a:ea typeface="함초롬돋움"/>
                <a:cs typeface="함초롬돋움"/>
              </a:rPr>
              <a:t>상세설계</a:t>
            </a:r>
            <a:r>
              <a:rPr sz="1200" spc="-80">
                <a:solidFill>
                  <a:srgbClr val="94A3B8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200" spc="-75">
                <a:solidFill>
                  <a:srgbClr val="94A3B8"/>
                </a:solidFill>
                <a:latin typeface="함초롬돋움"/>
                <a:ea typeface="함초롬돋움"/>
                <a:cs typeface="함초롬돋움"/>
              </a:rPr>
              <a:t>보고서 </a:t>
            </a:r>
            <a:r>
              <a:rPr sz="1200" spc="-25">
                <a:solidFill>
                  <a:srgbClr val="94A3B8"/>
                </a:solidFill>
                <a:latin typeface="함초롬돋움"/>
                <a:ea typeface="함초롬돋움"/>
                <a:cs typeface="함초롬돋움"/>
              </a:rPr>
              <a:t>발표</a:t>
            </a:r>
            <a:endParaRPr sz="120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F029BF1-E667-4F0B-A44E-B650DCB503D4}"/>
              </a:ext>
            </a:extLst>
          </p:cNvPr>
          <p:cNvSpPr>
            <a:spLocks noGrp="1"/>
          </p:cNvSpPr>
          <p:nvPr/>
        </p:nvSpPr>
        <p:spPr>
          <a:xfrm>
            <a:off x="835025" y="5005654"/>
            <a:ext cx="1156970" cy="93980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200" spc="-7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한규진</a:t>
            </a:r>
            <a:r>
              <a:rPr sz="12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200" spc="-1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60212582</a:t>
            </a:r>
            <a:endParaRPr sz="1200">
              <a:latin typeface="함초롬돋움"/>
              <a:ea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buNone/>
            </a:pPr>
            <a:r>
              <a:rPr sz="1200" spc="-7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송하성</a:t>
            </a:r>
            <a:r>
              <a:rPr sz="12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200" spc="-1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60245214</a:t>
            </a:r>
            <a:endParaRPr sz="1200">
              <a:latin typeface="함초롬돋움"/>
              <a:ea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buNone/>
            </a:pPr>
            <a:r>
              <a:rPr sz="1200" spc="-7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이다인</a:t>
            </a:r>
            <a:r>
              <a:rPr sz="12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200" spc="-1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60235220</a:t>
            </a:r>
            <a:endParaRPr sz="1200">
              <a:latin typeface="함초롬돋움"/>
              <a:ea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buNone/>
            </a:pPr>
            <a:r>
              <a:rPr sz="1200" spc="-7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전기헌</a:t>
            </a:r>
            <a:r>
              <a:rPr sz="12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200" spc="-1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60222138</a:t>
            </a:r>
            <a:endParaRPr sz="1200">
              <a:latin typeface="함초롬돋움"/>
              <a:ea typeface="함초롬돋움"/>
              <a:cs typeface="함초롬돋움"/>
            </a:endParaRPr>
          </a:p>
          <a:p>
            <a:pPr marL="12700">
              <a:lnSpc>
                <a:spcPct val="100000"/>
              </a:lnSpc>
              <a:buNone/>
            </a:pPr>
            <a:r>
              <a:rPr sz="1200" spc="-75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현고은</a:t>
            </a:r>
            <a:r>
              <a:rPr sz="1200" spc="-8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200" spc="-10">
                <a:solidFill>
                  <a:srgbClr val="CBD4E1"/>
                </a:solidFill>
                <a:latin typeface="함초롬돋움"/>
                <a:ea typeface="함초롬돋움"/>
                <a:cs typeface="함초롬돋움"/>
              </a:rPr>
              <a:t>60251851</a:t>
            </a:r>
            <a:endParaRPr sz="120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42E18E-BC6C-4163-8890-3DBFF11F4988}"/>
              </a:ext>
            </a:extLst>
          </p:cNvPr>
          <p:cNvSpPr>
            <a:spLocks noGrp="1"/>
          </p:cNvSpPr>
          <p:nvPr/>
        </p:nvSpPr>
        <p:spPr>
          <a:xfrm>
            <a:off x="762000" y="61055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50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50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팀프로젝트1 · 5팀 Finder</a:t>
            </a:r>
          </a:p>
        </p:txBody>
      </p:sp>
    </p:spTree>
    <p:extLst>
      <p:ext uri="{BB962C8B-B14F-4D97-AF65-F5344CB8AC3E}">
        <p14:creationId xmlns:p14="http://schemas.microsoft.com/office/powerpoint/2010/main" val="1850647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TABLE OF CONTENTS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목차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상세설계보고서의 구성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3702F0F-6002-490A-90A5-EA9AE30ED512}"/>
              </a:ext>
            </a:extLst>
          </p:cNvPr>
          <p:cNvGraphicFramePr/>
          <p:nvPr/>
        </p:nvGraphicFramePr>
        <p:xfrm>
          <a:off x="762000" y="1952625"/>
          <a:ext cx="10668000" cy="3714750"/>
        </p:xfrm>
        <a:graphic>
          <a:graphicData uri="http://schemas.openxmlformats.org/drawingml/2006/table">
            <a:tbl>
              <a:tblPr firstRow="1"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순서</a:t>
                      </a:r>
                    </a:p>
                  </a:txBody>
                  <a:tcPr marL="114300" marR="114300" marT="85725" marB="8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발표 내용</a:t>
                      </a:r>
                    </a:p>
                  </a:txBody>
                  <a:tcPr marL="114300" marR="114300" marT="85725" marB="85725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01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프로젝트 목적·기대효과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02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개발 여건·일정·시스템 제한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03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유스케이스·ERD 흐름 → 클래스별 핵심 설계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04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비트 벡터·시간복잡도·애자일 개발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05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평가·다음 구현 단계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2 / 60">
            <a:extLst>
              <a:ext uri="{FF2B5EF4-FFF2-40B4-BE49-F238E27FC236}">
                <a16:creationId xmlns:a16="http://schemas.microsoft.com/office/drawing/2014/main" id="{EFE435FC-90D3-44CB-A0B0-AB771B5C1EC9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2 / 25</a:t>
            </a:r>
          </a:p>
        </p:txBody>
      </p:sp>
    </p:spTree>
    <p:extLst>
      <p:ext uri="{BB962C8B-B14F-4D97-AF65-F5344CB8AC3E}">
        <p14:creationId xmlns:p14="http://schemas.microsoft.com/office/powerpoint/2010/main" val="394159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D8D969-F604-4D90-9E1C-BD1BB7C9546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5372100" cy="5048250"/>
          </a:xfrm>
          <a:custGeom>
            <a:avLst/>
            <a:gdLst/>
            <a:ahLst/>
            <a:cxnLst/>
            <a:rect l="l" t="t" r="r" b="b"/>
            <a:pathLst>
              <a:path w="5372100" h="5048250">
                <a:moveTo>
                  <a:pt x="5257807" y="5048249"/>
                </a:moveTo>
                <a:lnTo>
                  <a:pt x="114292" y="5048249"/>
                </a:lnTo>
                <a:lnTo>
                  <a:pt x="69804" y="5039268"/>
                </a:lnTo>
                <a:lnTo>
                  <a:pt x="33475" y="5014774"/>
                </a:lnTo>
                <a:lnTo>
                  <a:pt x="8981" y="4978445"/>
                </a:lnTo>
                <a:lnTo>
                  <a:pt x="0" y="4933957"/>
                </a:lnTo>
                <a:lnTo>
                  <a:pt x="0" y="114292"/>
                </a:lnTo>
                <a:lnTo>
                  <a:pt x="8981" y="69804"/>
                </a:lnTo>
                <a:lnTo>
                  <a:pt x="33475" y="33475"/>
                </a:lnTo>
                <a:lnTo>
                  <a:pt x="69804" y="8981"/>
                </a:lnTo>
                <a:lnTo>
                  <a:pt x="114292" y="0"/>
                </a:lnTo>
                <a:lnTo>
                  <a:pt x="5257807" y="0"/>
                </a:lnTo>
                <a:lnTo>
                  <a:pt x="5301545" y="8699"/>
                </a:lnTo>
                <a:lnTo>
                  <a:pt x="5338624" y="33475"/>
                </a:lnTo>
                <a:lnTo>
                  <a:pt x="5363399" y="70554"/>
                </a:lnTo>
                <a:lnTo>
                  <a:pt x="5372099" y="114292"/>
                </a:lnTo>
                <a:lnTo>
                  <a:pt x="5372099" y="4933957"/>
                </a:lnTo>
                <a:lnTo>
                  <a:pt x="5363118" y="4978445"/>
                </a:lnTo>
                <a:lnTo>
                  <a:pt x="5338624" y="5014774"/>
                </a:lnTo>
                <a:lnTo>
                  <a:pt x="5302295" y="5039268"/>
                </a:lnTo>
                <a:lnTo>
                  <a:pt x="5257807" y="50482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3245CE3-48A3-40DC-84B7-35500BEE6938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372100" cy="5048250"/>
          </a:xfrm>
          <a:custGeom>
            <a:avLst/>
            <a:gdLst/>
            <a:ahLst/>
            <a:cxnLst/>
            <a:rect l="l" t="t" r="r" b="b"/>
            <a:pathLst>
              <a:path w="5372100" h="5048250">
                <a:moveTo>
                  <a:pt x="5257807" y="5048249"/>
                </a:moveTo>
                <a:lnTo>
                  <a:pt x="114292" y="5048249"/>
                </a:lnTo>
                <a:lnTo>
                  <a:pt x="69804" y="5039268"/>
                </a:lnTo>
                <a:lnTo>
                  <a:pt x="33475" y="5014774"/>
                </a:lnTo>
                <a:lnTo>
                  <a:pt x="8981" y="4978445"/>
                </a:lnTo>
                <a:lnTo>
                  <a:pt x="0" y="4933957"/>
                </a:lnTo>
                <a:lnTo>
                  <a:pt x="0" y="114292"/>
                </a:lnTo>
                <a:lnTo>
                  <a:pt x="8981" y="69804"/>
                </a:lnTo>
                <a:lnTo>
                  <a:pt x="33475" y="33475"/>
                </a:lnTo>
                <a:lnTo>
                  <a:pt x="69804" y="8981"/>
                </a:lnTo>
                <a:lnTo>
                  <a:pt x="114292" y="0"/>
                </a:lnTo>
                <a:lnTo>
                  <a:pt x="5257807" y="0"/>
                </a:lnTo>
                <a:lnTo>
                  <a:pt x="5301545" y="8699"/>
                </a:lnTo>
                <a:lnTo>
                  <a:pt x="5338624" y="33475"/>
                </a:lnTo>
                <a:lnTo>
                  <a:pt x="5363399" y="70554"/>
                </a:lnTo>
                <a:lnTo>
                  <a:pt x="5372099" y="114292"/>
                </a:lnTo>
                <a:lnTo>
                  <a:pt x="5372099" y="4933957"/>
                </a:lnTo>
                <a:lnTo>
                  <a:pt x="5363118" y="4978445"/>
                </a:lnTo>
                <a:lnTo>
                  <a:pt x="5338624" y="5014774"/>
                </a:lnTo>
                <a:lnTo>
                  <a:pt x="5302295" y="5039268"/>
                </a:lnTo>
                <a:lnTo>
                  <a:pt x="5257807" y="504824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9A4A1D5-E34F-472B-B995-F675B1504DF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5725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spc="-1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INTRODUCTION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CAB0750-14B3-4224-8192-4DA6D65B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45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프로젝트 목적과 기대효과</a:t>
            </a:r>
          </a:p>
        </p:txBody>
      </p:sp>
      <p:sp>
        <p:nvSpPr>
          <p:cNvPr id="8" name="일정 조율의 문제">
            <a:extLst>
              <a:ext uri="{FF2B5EF4-FFF2-40B4-BE49-F238E27FC236}">
                <a16:creationId xmlns:a16="http://schemas.microsoft.com/office/drawing/2014/main" id="{BE9DB194-7203-4D42-9691-A0AA76AF76F3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일정 조율의 문제</a:t>
            </a:r>
          </a:p>
        </p:txBody>
      </p:sp>
      <p:sp>
        <p:nvSpPr>
          <p:cNvPr id="9" name="시간표 캡처를 공유하고 눈으로 대조&#10;&#10;기존 도구에서 시간표를 다시">
            <a:extLst>
              <a:ext uri="{FF2B5EF4-FFF2-40B4-BE49-F238E27FC236}">
                <a16:creationId xmlns:a16="http://schemas.microsoft.com/office/drawing/2014/main" id="{B908DC3E-7AA1-42C0-A84F-F48CD3EB7F21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481965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시간표 캡처를 공유하고 눈으로 대조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When2meet 등 기존 도구의 시간표 이중 입력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정보 누락, 일정 충돌과 의사소통 지연</a:t>
            </a:r>
          </a:p>
        </p:txBody>
      </p:sp>
      <p:sp>
        <p:nvSpPr>
          <p:cNvPr id="10" name="틈(Teum)의 목적">
            <a:extLst>
              <a:ext uri="{FF2B5EF4-FFF2-40B4-BE49-F238E27FC236}">
                <a16:creationId xmlns:a16="http://schemas.microsoft.com/office/drawing/2014/main" id="{95346574-84D1-4139-BA4B-9FD35EC2C51F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목표와 기대효과</a:t>
            </a:r>
          </a:p>
        </p:txBody>
      </p:sp>
      <p:sp>
        <p:nvSpPr>
          <p:cNvPr id="11" name="대학생 팀 프로젝트·스터디 대상&#10;&#10;각자의 강의 시간표를 분석하여 ">
            <a:extLst>
              <a:ext uri="{FF2B5EF4-FFF2-40B4-BE49-F238E27FC236}">
                <a16:creationId xmlns:a16="http://schemas.microsoft.com/office/drawing/2014/main" id="{C17EB862-204F-4429-93BF-477A3EB38958}"/>
              </a:ext>
            </a:extLst>
          </p:cNvPr>
          <p:cNvSpPr>
            <a:spLocks noGrp="1"/>
          </p:cNvSpPr>
          <p:nvPr/>
        </p:nvSpPr>
        <p:spPr>
          <a:xfrm>
            <a:off x="6477000" y="2495550"/>
            <a:ext cx="481965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대학생 팀 프로젝트·스터디 대상</a:t>
            </a: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기존 시간표 재활용으로 일정 조율 시간 단축</a:t>
            </a: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공통 시간 추천·투표·재검사로 최종 일정 확정</a:t>
            </a:r>
          </a:p>
        </p:txBody>
      </p:sp>
      <p:sp>
        <p:nvSpPr>
          <p:cNvPr id="12" name="3 / 60">
            <a:extLst>
              <a:ext uri="{FF2B5EF4-FFF2-40B4-BE49-F238E27FC236}">
                <a16:creationId xmlns:a16="http://schemas.microsoft.com/office/drawing/2014/main" id="{19D68354-6813-401B-AFB4-D6861F359E7B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3 / 25</a:t>
            </a:r>
          </a:p>
        </p:txBody>
      </p:sp>
    </p:spTree>
    <p:extLst>
      <p:ext uri="{BB962C8B-B14F-4D97-AF65-F5344CB8AC3E}">
        <p14:creationId xmlns:p14="http://schemas.microsoft.com/office/powerpoint/2010/main" val="391668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D8D969-F604-4D90-9E1C-BD1BB7C9546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5372100" cy="5048250"/>
          </a:xfrm>
          <a:custGeom>
            <a:avLst/>
            <a:gdLst/>
            <a:ahLst/>
            <a:cxnLst/>
            <a:rect l="l" t="t" r="r" b="b"/>
            <a:pathLst>
              <a:path w="5372100" h="5048250">
                <a:moveTo>
                  <a:pt x="5257807" y="5048249"/>
                </a:moveTo>
                <a:lnTo>
                  <a:pt x="114292" y="5048249"/>
                </a:lnTo>
                <a:lnTo>
                  <a:pt x="69804" y="5039268"/>
                </a:lnTo>
                <a:lnTo>
                  <a:pt x="33475" y="5014774"/>
                </a:lnTo>
                <a:lnTo>
                  <a:pt x="8981" y="4978445"/>
                </a:lnTo>
                <a:lnTo>
                  <a:pt x="0" y="4933957"/>
                </a:lnTo>
                <a:lnTo>
                  <a:pt x="0" y="114292"/>
                </a:lnTo>
                <a:lnTo>
                  <a:pt x="8981" y="69804"/>
                </a:lnTo>
                <a:lnTo>
                  <a:pt x="33475" y="33475"/>
                </a:lnTo>
                <a:lnTo>
                  <a:pt x="69804" y="8981"/>
                </a:lnTo>
                <a:lnTo>
                  <a:pt x="114292" y="0"/>
                </a:lnTo>
                <a:lnTo>
                  <a:pt x="5257807" y="0"/>
                </a:lnTo>
                <a:lnTo>
                  <a:pt x="5301545" y="8699"/>
                </a:lnTo>
                <a:lnTo>
                  <a:pt x="5338624" y="33475"/>
                </a:lnTo>
                <a:lnTo>
                  <a:pt x="5363399" y="70554"/>
                </a:lnTo>
                <a:lnTo>
                  <a:pt x="5372099" y="114292"/>
                </a:lnTo>
                <a:lnTo>
                  <a:pt x="5372099" y="4933957"/>
                </a:lnTo>
                <a:lnTo>
                  <a:pt x="5363118" y="4978445"/>
                </a:lnTo>
                <a:lnTo>
                  <a:pt x="5338624" y="5014774"/>
                </a:lnTo>
                <a:lnTo>
                  <a:pt x="5302295" y="5039268"/>
                </a:lnTo>
                <a:lnTo>
                  <a:pt x="5257807" y="50482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3245CE3-48A3-40DC-84B7-35500BEE6938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372100" cy="5048250"/>
          </a:xfrm>
          <a:custGeom>
            <a:avLst/>
            <a:gdLst/>
            <a:ahLst/>
            <a:cxnLst/>
            <a:rect l="l" t="t" r="r" b="b"/>
            <a:pathLst>
              <a:path w="5372100" h="5048250">
                <a:moveTo>
                  <a:pt x="5257807" y="5048249"/>
                </a:moveTo>
                <a:lnTo>
                  <a:pt x="114292" y="5048249"/>
                </a:lnTo>
                <a:lnTo>
                  <a:pt x="69804" y="5039268"/>
                </a:lnTo>
                <a:lnTo>
                  <a:pt x="33475" y="5014774"/>
                </a:lnTo>
                <a:lnTo>
                  <a:pt x="8981" y="4978445"/>
                </a:lnTo>
                <a:lnTo>
                  <a:pt x="0" y="4933957"/>
                </a:lnTo>
                <a:lnTo>
                  <a:pt x="0" y="114292"/>
                </a:lnTo>
                <a:lnTo>
                  <a:pt x="8981" y="69804"/>
                </a:lnTo>
                <a:lnTo>
                  <a:pt x="33475" y="33475"/>
                </a:lnTo>
                <a:lnTo>
                  <a:pt x="69804" y="8981"/>
                </a:lnTo>
                <a:lnTo>
                  <a:pt x="114292" y="0"/>
                </a:lnTo>
                <a:lnTo>
                  <a:pt x="5257807" y="0"/>
                </a:lnTo>
                <a:lnTo>
                  <a:pt x="5301545" y="8699"/>
                </a:lnTo>
                <a:lnTo>
                  <a:pt x="5338624" y="33475"/>
                </a:lnTo>
                <a:lnTo>
                  <a:pt x="5363399" y="70554"/>
                </a:lnTo>
                <a:lnTo>
                  <a:pt x="5372099" y="114292"/>
                </a:lnTo>
                <a:lnTo>
                  <a:pt x="5372099" y="4933957"/>
                </a:lnTo>
                <a:lnTo>
                  <a:pt x="5363118" y="4978445"/>
                </a:lnTo>
                <a:lnTo>
                  <a:pt x="5338624" y="5014774"/>
                </a:lnTo>
                <a:lnTo>
                  <a:pt x="5302295" y="5039268"/>
                </a:lnTo>
                <a:lnTo>
                  <a:pt x="5257807" y="504824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9A4A1D5-E34F-472B-B995-F675B1504DF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5725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spc="-1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CONSTRAINTS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CAB0750-14B3-4224-8192-4DA6D65B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spcBef>
                <a:spcPts val="100"/>
              </a:spcBef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pc="-145" dirty="0">
                <a:latin typeface="Noto Sans KR"/>
                <a:ea typeface="Noto Sans KR"/>
                <a:cs typeface="Noto Sans KR"/>
              </a:rPr>
              <a:t>현실적 제한조건 </a:t>
            </a:r>
            <a:r>
              <a:rPr lang="en-US" altLang="ko-KR" spc="-145" dirty="0">
                <a:latin typeface="Noto Sans KR"/>
                <a:ea typeface="Noto Sans KR"/>
                <a:cs typeface="Noto Sans KR"/>
              </a:rPr>
              <a:t>· </a:t>
            </a:r>
            <a:r>
              <a:rPr lang="ko-KR" altLang="en-US" spc="-145" dirty="0">
                <a:latin typeface="Noto Sans KR"/>
                <a:ea typeface="Noto Sans KR"/>
                <a:cs typeface="Noto Sans KR"/>
              </a:rPr>
              <a:t>관리적 제한</a:t>
            </a:r>
            <a:endParaRPr sz="2400" b="1" spc="-145" dirty="0">
              <a:solidFill>
                <a:srgbClr val="0F172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팀원 및 개발 기간">
            <a:extLst>
              <a:ext uri="{FF2B5EF4-FFF2-40B4-BE49-F238E27FC236}">
                <a16:creationId xmlns:a16="http://schemas.microsoft.com/office/drawing/2014/main" id="{B03202F4-8F63-4933-B1AE-343360E2A672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팀원 및 개발 기간</a:t>
            </a:r>
          </a:p>
        </p:txBody>
      </p:sp>
      <p:sp>
        <p:nvSpPr>
          <p:cNvPr id="9" name="재학생 5명으로 구성&#10;&#10;한 학기, 약 12주 안에 MVP 필수 기">
            <a:extLst>
              <a:ext uri="{FF2B5EF4-FFF2-40B4-BE49-F238E27FC236}">
                <a16:creationId xmlns:a16="http://schemas.microsoft.com/office/drawing/2014/main" id="{D3364CF1-A220-41A1-8794-E8C9BFEF1275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481965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재학생 5명으로 구성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한 학기, 약 12주 안에 MVP 필수 기능 개발 완료</a:t>
            </a:r>
          </a:p>
        </p:txBody>
      </p:sp>
      <p:sp>
        <p:nvSpPr>
          <p:cNvPr id="10" name="개발 공정">
            <a:extLst>
              <a:ext uri="{FF2B5EF4-FFF2-40B4-BE49-F238E27FC236}">
                <a16:creationId xmlns:a16="http://schemas.microsoft.com/office/drawing/2014/main" id="{218F89D6-B5D5-482D-9954-1A3FA55BABA4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개발 공정</a:t>
            </a:r>
          </a:p>
        </p:txBody>
      </p:sp>
      <p:sp>
        <p:nvSpPr>
          <p:cNvPr id="11" name="1–4주차  설계 및 구조화&#10;&#10;5–7주차  핵심 기능 구현&#10;&#10;8–">
            <a:extLst>
              <a:ext uri="{FF2B5EF4-FFF2-40B4-BE49-F238E27FC236}">
                <a16:creationId xmlns:a16="http://schemas.microsoft.com/office/drawing/2014/main" id="{352D9B8F-874A-4C17-AADD-6AB00A7CF305}"/>
              </a:ext>
            </a:extLst>
          </p:cNvPr>
          <p:cNvSpPr>
            <a:spLocks noGrp="1"/>
          </p:cNvSpPr>
          <p:nvPr/>
        </p:nvSpPr>
        <p:spPr>
          <a:xfrm>
            <a:off x="6477000" y="2495550"/>
            <a:ext cx="481965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1–4주차  설계 및 구조화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5–7주차  핵심 기능 구현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8–9주차  통합 및 시각화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10–12주차  성능 검증 및 시연</a:t>
            </a:r>
          </a:p>
        </p:txBody>
      </p:sp>
      <p:sp>
        <p:nvSpPr>
          <p:cNvPr id="12" name="6 / 60">
            <a:extLst>
              <a:ext uri="{FF2B5EF4-FFF2-40B4-BE49-F238E27FC236}">
                <a16:creationId xmlns:a16="http://schemas.microsoft.com/office/drawing/2014/main" id="{EC774555-8F1B-40CD-9529-03351F545D4C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4 / 25</a:t>
            </a:r>
          </a:p>
        </p:txBody>
      </p:sp>
    </p:spTree>
    <p:extLst>
      <p:ext uri="{BB962C8B-B14F-4D97-AF65-F5344CB8AC3E}">
        <p14:creationId xmlns:p14="http://schemas.microsoft.com/office/powerpoint/2010/main" val="2862684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D8D969-F604-4D90-9E1C-BD1BB7C9546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5372100" cy="5048250"/>
          </a:xfrm>
          <a:custGeom>
            <a:avLst/>
            <a:gdLst/>
            <a:ahLst/>
            <a:cxnLst/>
            <a:rect l="l" t="t" r="r" b="b"/>
            <a:pathLst>
              <a:path w="5372100" h="5048250">
                <a:moveTo>
                  <a:pt x="5257807" y="5048249"/>
                </a:moveTo>
                <a:lnTo>
                  <a:pt x="114292" y="5048249"/>
                </a:lnTo>
                <a:lnTo>
                  <a:pt x="69804" y="5039268"/>
                </a:lnTo>
                <a:lnTo>
                  <a:pt x="33475" y="5014774"/>
                </a:lnTo>
                <a:lnTo>
                  <a:pt x="8981" y="4978445"/>
                </a:lnTo>
                <a:lnTo>
                  <a:pt x="0" y="4933957"/>
                </a:lnTo>
                <a:lnTo>
                  <a:pt x="0" y="114292"/>
                </a:lnTo>
                <a:lnTo>
                  <a:pt x="8981" y="69804"/>
                </a:lnTo>
                <a:lnTo>
                  <a:pt x="33475" y="33475"/>
                </a:lnTo>
                <a:lnTo>
                  <a:pt x="69804" y="8981"/>
                </a:lnTo>
                <a:lnTo>
                  <a:pt x="114292" y="0"/>
                </a:lnTo>
                <a:lnTo>
                  <a:pt x="5257807" y="0"/>
                </a:lnTo>
                <a:lnTo>
                  <a:pt x="5301545" y="8699"/>
                </a:lnTo>
                <a:lnTo>
                  <a:pt x="5338624" y="33475"/>
                </a:lnTo>
                <a:lnTo>
                  <a:pt x="5363399" y="70554"/>
                </a:lnTo>
                <a:lnTo>
                  <a:pt x="5372099" y="114292"/>
                </a:lnTo>
                <a:lnTo>
                  <a:pt x="5372099" y="4933957"/>
                </a:lnTo>
                <a:lnTo>
                  <a:pt x="5363118" y="4978445"/>
                </a:lnTo>
                <a:lnTo>
                  <a:pt x="5338624" y="5014774"/>
                </a:lnTo>
                <a:lnTo>
                  <a:pt x="5302295" y="5039268"/>
                </a:lnTo>
                <a:lnTo>
                  <a:pt x="5257807" y="50482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3245CE3-48A3-40DC-84B7-35500BEE6938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372100" cy="5048250"/>
          </a:xfrm>
          <a:custGeom>
            <a:avLst/>
            <a:gdLst/>
            <a:ahLst/>
            <a:cxnLst/>
            <a:rect l="l" t="t" r="r" b="b"/>
            <a:pathLst>
              <a:path w="5372100" h="5048250">
                <a:moveTo>
                  <a:pt x="5257807" y="5048249"/>
                </a:moveTo>
                <a:lnTo>
                  <a:pt x="114292" y="5048249"/>
                </a:lnTo>
                <a:lnTo>
                  <a:pt x="69804" y="5039268"/>
                </a:lnTo>
                <a:lnTo>
                  <a:pt x="33475" y="5014774"/>
                </a:lnTo>
                <a:lnTo>
                  <a:pt x="8981" y="4978445"/>
                </a:lnTo>
                <a:lnTo>
                  <a:pt x="0" y="4933957"/>
                </a:lnTo>
                <a:lnTo>
                  <a:pt x="0" y="114292"/>
                </a:lnTo>
                <a:lnTo>
                  <a:pt x="8981" y="69804"/>
                </a:lnTo>
                <a:lnTo>
                  <a:pt x="33475" y="33475"/>
                </a:lnTo>
                <a:lnTo>
                  <a:pt x="69804" y="8981"/>
                </a:lnTo>
                <a:lnTo>
                  <a:pt x="114292" y="0"/>
                </a:lnTo>
                <a:lnTo>
                  <a:pt x="5257807" y="0"/>
                </a:lnTo>
                <a:lnTo>
                  <a:pt x="5301545" y="8699"/>
                </a:lnTo>
                <a:lnTo>
                  <a:pt x="5338624" y="33475"/>
                </a:lnTo>
                <a:lnTo>
                  <a:pt x="5363399" y="70554"/>
                </a:lnTo>
                <a:lnTo>
                  <a:pt x="5372099" y="114292"/>
                </a:lnTo>
                <a:lnTo>
                  <a:pt x="5372099" y="4933957"/>
                </a:lnTo>
                <a:lnTo>
                  <a:pt x="5363118" y="4978445"/>
                </a:lnTo>
                <a:lnTo>
                  <a:pt x="5338624" y="5014774"/>
                </a:lnTo>
                <a:lnTo>
                  <a:pt x="5302295" y="5039268"/>
                </a:lnTo>
                <a:lnTo>
                  <a:pt x="5257807" y="504824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9A4A1D5-E34F-472B-B995-F675B1504DF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5725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spc="-1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CONSTRAINTS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CAB0750-14B3-4224-8192-4DA6D65B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45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현실적</a:t>
            </a:r>
            <a:r>
              <a:rPr sz="2400" b="1" spc="-145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spc="-145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제한조건</a:t>
            </a:r>
            <a:r>
              <a:rPr sz="2400" b="1" spc="-145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· </a:t>
            </a:r>
            <a:r>
              <a:rPr sz="2400" b="1" spc="-145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시스템적</a:t>
            </a:r>
            <a:r>
              <a:rPr sz="2400" b="1" spc="-145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spc="-145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제한</a:t>
            </a:r>
            <a:endParaRPr sz="2400" b="1" spc="-145" dirty="0">
              <a:solidFill>
                <a:srgbClr val="0F172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인프라 및 입력 환경">
            <a:extLst>
              <a:ext uri="{FF2B5EF4-FFF2-40B4-BE49-F238E27FC236}">
                <a16:creationId xmlns:a16="http://schemas.microsoft.com/office/drawing/2014/main" id="{C70AF942-5496-4193-94CD-14D1988EA607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인프라 및 입력 환경</a:t>
            </a:r>
          </a:p>
        </p:txBody>
      </p:sp>
      <p:sp>
        <p:nvSpPr>
          <p:cNvPr id="9" name="기존 DB 미구축 조건에서 DB 사용으로 변경&#10;&#10;프로그램 설치 없">
            <a:extLst>
              <a:ext uri="{FF2B5EF4-FFF2-40B4-BE49-F238E27FC236}">
                <a16:creationId xmlns:a16="http://schemas.microsoft.com/office/drawing/2014/main" id="{0E782CC0-D5BF-40C6-BFC6-1ADE92D974A9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481965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보존·확장성을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위한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DB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프로그램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설치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없는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웹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환경</a:t>
            </a:r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에브리타임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시간표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캡처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이미지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인식</a:t>
            </a:r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개인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일정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과외·알바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)은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수기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입력</a:t>
            </a:r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시간표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미등록자를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전원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참석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가능으로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계산하지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않음</a:t>
            </a:r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데이터 및 성능">
            <a:extLst>
              <a:ext uri="{FF2B5EF4-FFF2-40B4-BE49-F238E27FC236}">
                <a16:creationId xmlns:a16="http://schemas.microsoft.com/office/drawing/2014/main" id="{4D00A7FC-0C0A-432F-B4C5-9BF3A3BF4515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데이터 및 성능</a:t>
            </a:r>
          </a:p>
        </p:txBody>
      </p:sp>
      <p:sp>
        <p:nvSpPr>
          <p:cNvPr id="11" name="일정을 고정 단위 슬롯으로 분할&#10;&#10;참석 가능 1, 불가능 0의 비">
            <a:extLst>
              <a:ext uri="{FF2B5EF4-FFF2-40B4-BE49-F238E27FC236}">
                <a16:creationId xmlns:a16="http://schemas.microsoft.com/office/drawing/2014/main" id="{B34E5A12-CF7F-42EA-8B1A-2D5D4CA7C1A2}"/>
              </a:ext>
            </a:extLst>
          </p:cNvPr>
          <p:cNvSpPr>
            <a:spLocks noGrp="1"/>
          </p:cNvSpPr>
          <p:nvPr/>
        </p:nvSpPr>
        <p:spPr>
          <a:xfrm>
            <a:off x="6477000" y="2495550"/>
            <a:ext cx="481965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일정을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고정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단위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슬롯으로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분할</a:t>
            </a:r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참석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가능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1,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불가능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0의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비트열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사용</a:t>
            </a:r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이동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여유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시간과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최소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회의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시간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반영</a:t>
            </a:r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인원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증가에도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안정적인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연산·UI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응답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성능</a:t>
            </a:r>
            <a:r>
              <a:rPr sz="1800" b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지향</a:t>
            </a:r>
            <a:endParaRPr sz="1800" b="0" dirty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7 / 60">
            <a:extLst>
              <a:ext uri="{FF2B5EF4-FFF2-40B4-BE49-F238E27FC236}">
                <a16:creationId xmlns:a16="http://schemas.microsoft.com/office/drawing/2014/main" id="{AD77B499-27ED-4D66-9EE1-C7DC235D4AB0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5 / 25</a:t>
            </a:r>
          </a:p>
        </p:txBody>
      </p:sp>
    </p:spTree>
    <p:extLst>
      <p:ext uri="{BB962C8B-B14F-4D97-AF65-F5344CB8AC3E}">
        <p14:creationId xmlns:p14="http://schemas.microsoft.com/office/powerpoint/2010/main" val="391668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USE CASE DIAGRAM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Use Case Diagram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누가 어떤 기능을 사용하는가 · 사용자, 모임 구성원, 모임 관리자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8F79E3-5569-4110-880B-09B0994DA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66945" y="1619250"/>
            <a:ext cx="5267111" cy="4857750"/>
          </a:xfrm>
          <a:prstGeom prst="rect">
            <a:avLst/>
          </a:prstGeom>
        </p:spPr>
      </p:pic>
      <p:sp>
        <p:nvSpPr>
          <p:cNvPr id="7" name="세 역할로 읽기">
            <a:extLst>
              <a:ext uri="{FF2B5EF4-FFF2-40B4-BE49-F238E27FC236}">
                <a16:creationId xmlns:a16="http://schemas.microsoft.com/office/drawing/2014/main" id="{12FE69AD-718C-48DD-B1DD-9179F820030E}"/>
              </a:ext>
            </a:extLst>
          </p:cNvPr>
          <p:cNvSpPr>
            <a:spLocks noGrp="1"/>
          </p:cNvSpPr>
          <p:nvPr/>
        </p:nvSpPr>
        <p:spPr>
          <a:xfrm>
            <a:off x="7762875" y="1924050"/>
            <a:ext cx="3714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20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20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세 역할로 읽기</a:t>
            </a:r>
          </a:p>
        </p:txBody>
      </p:sp>
      <p:sp>
        <p:nvSpPr>
          <p:cNvPr id="8" name="사용자&#10;로그인·프로필·시간표·모임 생성/참여&#10;&#10;모임 구성원&#10;메모">
            <a:extLst>
              <a:ext uri="{FF2B5EF4-FFF2-40B4-BE49-F238E27FC236}">
                <a16:creationId xmlns:a16="http://schemas.microsoft.com/office/drawing/2014/main" id="{E1EF00C7-5117-4C3E-8452-38D9FF79421B}"/>
              </a:ext>
            </a:extLst>
          </p:cNvPr>
          <p:cNvSpPr>
            <a:spLocks noGrp="1"/>
          </p:cNvSpPr>
          <p:nvPr/>
        </p:nvSpPr>
        <p:spPr>
          <a:xfrm>
            <a:off x="7762875" y="2514600"/>
            <a:ext cx="3714750" cy="312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사용자</a:t>
            </a:r>
          </a:p>
          <a:p>
            <a:pPr>
              <a:buNone/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로그인·프로필·시간표·모임 생성/참여</a:t>
            </a:r>
          </a:p>
          <a:p>
            <a:endParaRPr sz="1725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모임 구성원</a:t>
            </a:r>
          </a:p>
          <a:p>
            <a:pPr>
              <a:buNone/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메모·투표·결과 조회·공유</a:t>
            </a:r>
          </a:p>
          <a:p>
            <a:endParaRPr sz="1725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모임 관리자</a:t>
            </a:r>
          </a:p>
          <a:p>
            <a:pPr>
              <a:buNone/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모임 관리·재계산·최종 확정</a:t>
            </a:r>
          </a:p>
        </p:txBody>
      </p:sp>
      <p:sp>
        <p:nvSpPr>
          <p:cNvPr id="9" name="8 / 65">
            <a:extLst>
              <a:ext uri="{FF2B5EF4-FFF2-40B4-BE49-F238E27FC236}">
                <a16:creationId xmlns:a16="http://schemas.microsoft.com/office/drawing/2014/main" id="{B7F5FC50-A668-481B-ACA7-D12D9B5DE324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6 / 25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USE CASE FLOW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유스케이스 · 회의 일정 확정 예시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설명용 예시 · 3명이 팀 회의 시간을 정하는 상황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64B31B3-726C-4ADE-B4DB-AC692D429FAF}"/>
              </a:ext>
            </a:extLst>
          </p:cNvPr>
          <p:cNvGraphicFramePr/>
          <p:nvPr/>
        </p:nvGraphicFramePr>
        <p:xfrm>
          <a:off x="762000" y="1790700"/>
          <a:ext cx="10668000" cy="3571878"/>
        </p:xfrm>
        <a:graphic>
          <a:graphicData uri="http://schemas.openxmlformats.org/drawingml/2006/table">
            <a:tbl>
              <a:tblPr first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단계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관점의 흐름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 준비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 후 각자의 강의 시간표와 개인 일정 입력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 참여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관리자가 모임·초대를 생성하고 구성원이 참여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 추천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시간표 자동 매칭 후 최대 3개의 후보 제시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4. 선택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구성원이 추천 후보에 선호 투표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 확정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관리자가 최신 시간표 재검사 후 최종 일정 확정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include: 수행에 포함되는 기능   /   extend: ">
            <a:extLst>
              <a:ext uri="{FF2B5EF4-FFF2-40B4-BE49-F238E27FC236}">
                <a16:creationId xmlns:a16="http://schemas.microsoft.com/office/drawing/2014/main" id="{E1A6A078-1250-4B97-8671-8AC7A38B6AE6}"/>
              </a:ext>
            </a:extLst>
          </p:cNvPr>
          <p:cNvSpPr>
            <a:spLocks noGrp="1"/>
          </p:cNvSpPr>
          <p:nvPr/>
        </p:nvSpPr>
        <p:spPr>
          <a:xfrm>
            <a:off x="762000" y="56864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7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7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include: 수행에 포함되는 기능   /   extend: 특정 조건에서 추가되는 기능</a:t>
            </a:r>
          </a:p>
        </p:txBody>
      </p:sp>
      <p:sp>
        <p:nvSpPr>
          <p:cNvPr id="8" name="관계선은 실행 순서가 아님 · 위 순서는 서비스 이해를 위한 예">
            <a:extLst>
              <a:ext uri="{FF2B5EF4-FFF2-40B4-BE49-F238E27FC236}">
                <a16:creationId xmlns:a16="http://schemas.microsoft.com/office/drawing/2014/main" id="{78A523F4-8FCA-411B-B644-24FF8EA36D72}"/>
              </a:ext>
            </a:extLst>
          </p:cNvPr>
          <p:cNvSpPr>
            <a:spLocks noGrp="1"/>
          </p:cNvSpPr>
          <p:nvPr/>
        </p:nvSpPr>
        <p:spPr>
          <a:xfrm>
            <a:off x="762000" y="617220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관계선은 실행 순서가 아님 · 위 순서는 서비스 이해를 위한 예시</a:t>
            </a:r>
          </a:p>
        </p:txBody>
      </p:sp>
      <p:sp>
        <p:nvSpPr>
          <p:cNvPr id="9" name="9 / 65">
            <a:extLst>
              <a:ext uri="{FF2B5EF4-FFF2-40B4-BE49-F238E27FC236}">
                <a16:creationId xmlns:a16="http://schemas.microsoft.com/office/drawing/2014/main" id="{E85C8F0B-D0FF-4347-98ED-8331530F3834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7 / 25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ENTITY RELATIONSHIP DIAGRAM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Entity Relationship Diagram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그림 1 · 전체 데이터 관계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58F793-A07C-45B3-B27D-B9EDE1297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17167" y="22865"/>
            <a:ext cx="3905250" cy="6739885"/>
          </a:xfrm>
          <a:prstGeom prst="rect">
            <a:avLst/>
          </a:prstGeom>
        </p:spPr>
      </p:pic>
      <p:sp>
        <p:nvSpPr>
          <p:cNvPr id="7" name="사용자·시간표&#10;&#10;모임·구성원·메모&#10;&#10;매칭 실행·후보 집합·후보&#10;&#10;">
            <a:extLst>
              <a:ext uri="{FF2B5EF4-FFF2-40B4-BE49-F238E27FC236}">
                <a16:creationId xmlns:a16="http://schemas.microsoft.com/office/drawing/2014/main" id="{1AA901C1-DB72-4462-AF36-B3A9E78EC338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3905250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사용자·시간표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모임·구성원·메모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매칭 실행·후보 집합·후보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투표 응답·선택 항목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확정 일정</a:t>
            </a:r>
          </a:p>
        </p:txBody>
      </p:sp>
      <p:sp>
        <p:nvSpPr>
          <p:cNvPr id="8" name="8 / 60">
            <a:extLst>
              <a:ext uri="{FF2B5EF4-FFF2-40B4-BE49-F238E27FC236}">
                <a16:creationId xmlns:a16="http://schemas.microsoft.com/office/drawing/2014/main" id="{E414A5B3-A338-479A-A187-313B43FF10B6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8 / 25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READING THE ERD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· 관계선 끝의 기호 읽기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반대편 데이터 1개를 기준으로, 기호가 붙은 쪽의 연결 개수 확인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077F27-D273-4151-A506-98B473C2C673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9 / 25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E4FD16-EEEB-4D0E-A53C-0761554AA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3938" y="1809750"/>
            <a:ext cx="1333500" cy="6096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902A667-D3B3-4A63-9016-BD24595B00B6}"/>
              </a:ext>
            </a:extLst>
          </p:cNvPr>
          <p:cNvSpPr>
            <a:spLocks noGrp="1"/>
          </p:cNvSpPr>
          <p:nvPr/>
        </p:nvSpPr>
        <p:spPr>
          <a:xfrm>
            <a:off x="2905125" y="1876425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정확히 1개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863043-812D-4988-83E0-B9CAD6BE4AD4}"/>
              </a:ext>
            </a:extLst>
          </p:cNvPr>
          <p:cNvSpPr>
            <a:spLocks noGrp="1"/>
          </p:cNvSpPr>
          <p:nvPr/>
        </p:nvSpPr>
        <p:spPr>
          <a:xfrm>
            <a:off x="5448300" y="1895475"/>
            <a:ext cx="1143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1..1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76432A-F00A-4C81-A879-6A5E1488EA06}"/>
              </a:ext>
            </a:extLst>
          </p:cNvPr>
          <p:cNvSpPr>
            <a:spLocks noGrp="1"/>
          </p:cNvSpPr>
          <p:nvPr/>
        </p:nvSpPr>
        <p:spPr>
          <a:xfrm>
            <a:off x="7048500" y="1895475"/>
            <a:ext cx="4333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필수 연결 · 하나만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B300795-3661-4449-AE69-7A98B74C7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23938" y="2590800"/>
            <a:ext cx="1333500" cy="6096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FD0587-5D8E-42D7-AD18-C0DD18E37DFD}"/>
              </a:ext>
            </a:extLst>
          </p:cNvPr>
          <p:cNvSpPr>
            <a:spLocks noGrp="1"/>
          </p:cNvSpPr>
          <p:nvPr/>
        </p:nvSpPr>
        <p:spPr>
          <a:xfrm>
            <a:off x="2905125" y="2657475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0개 또는 1개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7EAA100-7B81-4320-A2E3-A35333FC51F5}"/>
              </a:ext>
            </a:extLst>
          </p:cNvPr>
          <p:cNvSpPr>
            <a:spLocks noGrp="1"/>
          </p:cNvSpPr>
          <p:nvPr/>
        </p:nvSpPr>
        <p:spPr>
          <a:xfrm>
            <a:off x="5448300" y="2676525"/>
            <a:ext cx="1143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0..1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FD7445-CA2C-4662-BAD5-422E842901C6}"/>
              </a:ext>
            </a:extLst>
          </p:cNvPr>
          <p:cNvSpPr>
            <a:spLocks noGrp="1"/>
          </p:cNvSpPr>
          <p:nvPr/>
        </p:nvSpPr>
        <p:spPr>
          <a:xfrm>
            <a:off x="7048500" y="2676525"/>
            <a:ext cx="4333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선택 연결 · 최대 하나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B025F5E-6E19-4554-BE76-E347B28CF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3938" y="3371850"/>
            <a:ext cx="1333500" cy="6096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08368E-F90D-4CDF-8E46-8A4906B6C6C5}"/>
              </a:ext>
            </a:extLst>
          </p:cNvPr>
          <p:cNvSpPr>
            <a:spLocks noGrp="1"/>
          </p:cNvSpPr>
          <p:nvPr/>
        </p:nvSpPr>
        <p:spPr>
          <a:xfrm>
            <a:off x="2905125" y="3438525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1개 이상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78A7487-DF0C-4E8B-AA36-6C4B9EAEEE4C}"/>
              </a:ext>
            </a:extLst>
          </p:cNvPr>
          <p:cNvSpPr>
            <a:spLocks noGrp="1"/>
          </p:cNvSpPr>
          <p:nvPr/>
        </p:nvSpPr>
        <p:spPr>
          <a:xfrm>
            <a:off x="5448300" y="3457575"/>
            <a:ext cx="1143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1..*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BAB6754-8EDE-4208-BE03-1DC674B02A52}"/>
              </a:ext>
            </a:extLst>
          </p:cNvPr>
          <p:cNvSpPr>
            <a:spLocks noGrp="1"/>
          </p:cNvSpPr>
          <p:nvPr/>
        </p:nvSpPr>
        <p:spPr>
          <a:xfrm>
            <a:off x="7048500" y="3457575"/>
            <a:ext cx="4333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필수 연결 · 여러 개 가능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DFDF5D0-1029-4F8E-BE1E-7578A11BA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23938" y="4152900"/>
            <a:ext cx="1333500" cy="6096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0E2A62-FB80-4B2A-929E-AAA9D0A055CA}"/>
              </a:ext>
            </a:extLst>
          </p:cNvPr>
          <p:cNvSpPr>
            <a:spLocks noGrp="1"/>
          </p:cNvSpPr>
          <p:nvPr/>
        </p:nvSpPr>
        <p:spPr>
          <a:xfrm>
            <a:off x="2905125" y="4219575"/>
            <a:ext cx="2238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0개 이상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BEA47D2-8F63-496D-913B-A136D13DCD01}"/>
              </a:ext>
            </a:extLst>
          </p:cNvPr>
          <p:cNvSpPr>
            <a:spLocks noGrp="1"/>
          </p:cNvSpPr>
          <p:nvPr/>
        </p:nvSpPr>
        <p:spPr>
          <a:xfrm>
            <a:off x="5448300" y="4238625"/>
            <a:ext cx="1143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0..*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00EC9AB-3D54-41CD-B593-048405E1E514}"/>
              </a:ext>
            </a:extLst>
          </p:cNvPr>
          <p:cNvSpPr>
            <a:spLocks noGrp="1"/>
          </p:cNvSpPr>
          <p:nvPr/>
        </p:nvSpPr>
        <p:spPr>
          <a:xfrm>
            <a:off x="7048500" y="4238625"/>
            <a:ext cx="4333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선택 연결 · 여러 개 가능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266286-7CE5-4351-A6B0-ECE218E59BAB}"/>
              </a:ext>
            </a:extLst>
          </p:cNvPr>
          <p:cNvSpPr>
            <a:spLocks noGrp="1"/>
          </p:cNvSpPr>
          <p:nvPr/>
        </p:nvSpPr>
        <p:spPr>
          <a:xfrm>
            <a:off x="762000" y="5067300"/>
            <a:ext cx="10477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8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실제 관계  USER ↔ TIMETABLE_SLOT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93FF9AB-C627-469C-B931-2EA2251C7065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사용자 1명 → 일정 0개 이상     /     일정 1개 → 사용자 정확히 1명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FD5451C-E6D3-409B-9523-F03B3D137CE0}"/>
              </a:ext>
            </a:extLst>
          </p:cNvPr>
          <p:cNvSpPr>
            <a:spLocks noGrp="1"/>
          </p:cNvSpPr>
          <p:nvPr/>
        </p:nvSpPr>
        <p:spPr>
          <a:xfrm>
            <a:off x="762000" y="593407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3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3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PK: 식별   FK: 참조   UK: 중복 방지     ·     관계선은 데이터 연결, 실행 순서와 구분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6B9EDA4-80E0-4031-A079-4136CA6D4528}"/>
              </a:ext>
            </a:extLst>
          </p:cNvPr>
          <p:cNvSpPr>
            <a:spLocks noGrp="1"/>
          </p:cNvSpPr>
          <p:nvPr/>
        </p:nvSpPr>
        <p:spPr>
          <a:xfrm>
            <a:off x="762000" y="6276975"/>
            <a:ext cx="1047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기호: draw.io · Crow’s Foot notation   https://www.drawio.com/docs/tutorials/crows-foot-notation/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DIAGRAM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Class Diagram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설명용 예시 · 팀원 3명이 화요일 15–16시 회의를 확정하는 과정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D53819-C528-470F-B52E-4EE2A8E7A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685925"/>
            <a:ext cx="5562600" cy="4762500"/>
          </a:xfrm>
          <a:prstGeom prst="rect">
            <a:avLst/>
          </a:prstGeom>
        </p:spPr>
      </p:pic>
      <p:sp>
        <p:nvSpPr>
          <p:cNvPr id="7" name="21 / 60">
            <a:extLst>
              <a:ext uri="{FF2B5EF4-FFF2-40B4-BE49-F238E27FC236}">
                <a16:creationId xmlns:a16="http://schemas.microsoft.com/office/drawing/2014/main" id="{31779635-7F4E-466F-9CE9-8A67C0D91CA7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10 / 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FF2426-CDB6-4E0A-8261-65CB747A6A84}"/>
              </a:ext>
            </a:extLst>
          </p:cNvPr>
          <p:cNvSpPr>
            <a:spLocks noGrp="1"/>
          </p:cNvSpPr>
          <p:nvPr/>
        </p:nvSpPr>
        <p:spPr>
          <a:xfrm>
            <a:off x="6553200" y="1695450"/>
            <a:ext cx="4857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1  시간표 준비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93603F-B296-48FB-88C0-AB6E9BABB714}"/>
              </a:ext>
            </a:extLst>
          </p:cNvPr>
          <p:cNvSpPr>
            <a:spLocks noGrp="1"/>
          </p:cNvSpPr>
          <p:nvPr/>
        </p:nvSpPr>
        <p:spPr>
          <a:xfrm>
            <a:off x="6553200" y="1981200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USER · TIMETABLE_SLOT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B7C9DC6-3A43-41D2-A5E9-5BB122EE6A24}"/>
              </a:ext>
            </a:extLst>
          </p:cNvPr>
          <p:cNvSpPr>
            <a:spLocks noGrp="1"/>
          </p:cNvSpPr>
          <p:nvPr/>
        </p:nvSpPr>
        <p:spPr>
          <a:xfrm>
            <a:off x="6553200" y="2238375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3명의 강의·개인 일정 등록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1D6398-E0EF-403A-BED7-D4CE719DB617}"/>
              </a:ext>
            </a:extLst>
          </p:cNvPr>
          <p:cNvSpPr>
            <a:spLocks noGrp="1"/>
          </p:cNvSpPr>
          <p:nvPr/>
        </p:nvSpPr>
        <p:spPr>
          <a:xfrm>
            <a:off x="6553200" y="2571750"/>
            <a:ext cx="4857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2  모임 생성·참여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1C30D2-767F-47C0-BC54-2829B3CDB6CD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MEETING · MEETING_MEMBER · MEETING_MEMO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75A5B91-ECCA-42D6-BC52-0D08FE6DCB6D}"/>
              </a:ext>
            </a:extLst>
          </p:cNvPr>
          <p:cNvSpPr>
            <a:spLocks noGrp="1"/>
          </p:cNvSpPr>
          <p:nvPr/>
        </p:nvSpPr>
        <p:spPr>
          <a:xfrm>
            <a:off x="6553200" y="3114675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회의 조건·구성원 등록 / 안건 메모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1C1F8B-BE20-4F83-8565-85AA5C0E0C14}"/>
              </a:ext>
            </a:extLst>
          </p:cNvPr>
          <p:cNvSpPr>
            <a:spLocks noGrp="1"/>
          </p:cNvSpPr>
          <p:nvPr/>
        </p:nvSpPr>
        <p:spPr>
          <a:xfrm>
            <a:off x="6553200" y="3448050"/>
            <a:ext cx="4857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3  공통 시간 추천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9BEE90-C71C-4520-992E-15DC4E9C6F4F}"/>
              </a:ext>
            </a:extLst>
          </p:cNvPr>
          <p:cNvSpPr>
            <a:spLocks noGrp="1"/>
          </p:cNvSpPr>
          <p:nvPr/>
        </p:nvSpPr>
        <p:spPr>
          <a:xfrm>
            <a:off x="6553200" y="3733800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MATCHING_RUN · CANDIDATE_SET · CANDIDATE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5628A5-D3F3-4CAA-86DB-379C3A3A5A9E}"/>
              </a:ext>
            </a:extLst>
          </p:cNvPr>
          <p:cNvSpPr>
            <a:spLocks noGrp="1"/>
          </p:cNvSpPr>
          <p:nvPr/>
        </p:nvSpPr>
        <p:spPr>
          <a:xfrm>
            <a:off x="6553200" y="3990975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공강 계산 / 화요일 15–16시 후보 생성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C3E2191-D5C0-499B-B911-9CFF24BC67E4}"/>
              </a:ext>
            </a:extLst>
          </p:cNvPr>
          <p:cNvSpPr>
            <a:spLocks noGrp="1"/>
          </p:cNvSpPr>
          <p:nvPr/>
        </p:nvSpPr>
        <p:spPr>
          <a:xfrm>
            <a:off x="6553200" y="4324350"/>
            <a:ext cx="4857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4  선호 투표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7AF858-E1CF-4C3E-8740-3EB8CB15E882}"/>
              </a:ext>
            </a:extLst>
          </p:cNvPr>
          <p:cNvSpPr>
            <a:spLocks noGrp="1"/>
          </p:cNvSpPr>
          <p:nvPr/>
        </p:nvSpPr>
        <p:spPr>
          <a:xfrm>
            <a:off x="6553200" y="4610100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VOTE_BALLOT · VOTE_SELECTION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90C9630-B111-4E79-B7A6-4A135596D099}"/>
              </a:ext>
            </a:extLst>
          </p:cNvPr>
          <p:cNvSpPr>
            <a:spLocks noGrp="1"/>
          </p:cNvSpPr>
          <p:nvPr/>
        </p:nvSpPr>
        <p:spPr>
          <a:xfrm>
            <a:off x="6553200" y="4867275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각자의 응답 / 선택한 후보 저장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F55153-447F-4693-9272-DCADFC28AEF4}"/>
              </a:ext>
            </a:extLst>
          </p:cNvPr>
          <p:cNvSpPr>
            <a:spLocks noGrp="1"/>
          </p:cNvSpPr>
          <p:nvPr/>
        </p:nvSpPr>
        <p:spPr>
          <a:xfrm>
            <a:off x="6553200" y="5200650"/>
            <a:ext cx="4857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5  재검사·확정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9ABDAA-877F-4D11-AC17-07D86DAB6C1B}"/>
              </a:ext>
            </a:extLst>
          </p:cNvPr>
          <p:cNvSpPr>
            <a:spLocks noGrp="1"/>
          </p:cNvSpPr>
          <p:nvPr/>
        </p:nvSpPr>
        <p:spPr>
          <a:xfrm>
            <a:off x="6553200" y="5486400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MATCHING_RUN · CONFIRMED_SCHEDULE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A913CA-8813-4A84-893E-ADA7BD02C37A}"/>
              </a:ext>
            </a:extLst>
          </p:cNvPr>
          <p:cNvSpPr>
            <a:spLocks noGrp="1"/>
          </p:cNvSpPr>
          <p:nvPr/>
        </p:nvSpPr>
        <p:spPr>
          <a:xfrm>
            <a:off x="6553200" y="5743575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최신 시간표 재검사 / 최종 일정 저장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7EEB4B9-EBA8-4FFE-A163-FF64FA2E0241}"/>
              </a:ext>
            </a:extLst>
          </p:cNvPr>
          <p:cNvSpPr>
            <a:spLocks noGrp="1"/>
          </p:cNvSpPr>
          <p:nvPr/>
        </p:nvSpPr>
        <p:spPr>
          <a:xfrm>
            <a:off x="6553200" y="6181725"/>
            <a:ext cx="5095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1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1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번호: 활용 예시의 순서 · 그림의 관계선: 클래스 간 연결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RELATIONSHIPS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</a:t>
            </a:r>
            <a:r>
              <a:rPr sz="2400" b="1" spc="-130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spc="-130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사이의</a:t>
            </a:r>
            <a:r>
              <a:rPr sz="2400" b="1" spc="-130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spc="-130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관계</a:t>
            </a:r>
            <a:endParaRPr sz="2100" dirty="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다중성은 연결 가능한 객체 수 · 연관선은 실행 순서가 아님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D1A8E98-E843-4502-995E-F6E32A8F3888}"/>
              </a:ext>
            </a:extLst>
          </p:cNvPr>
          <p:cNvGraphicFramePr/>
          <p:nvPr/>
        </p:nvGraphicFramePr>
        <p:xfrm>
          <a:off x="762000" y="1952625"/>
          <a:ext cx="10668000" cy="3714750"/>
        </p:xfrm>
        <a:graphic>
          <a:graphicData uri="http://schemas.openxmlformats.org/drawingml/2006/table">
            <a:tbl>
              <a:tblPr firstRow="1"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표기</a:t>
                      </a:r>
                    </a:p>
                  </a:txBody>
                  <a:tcPr marL="114300" marR="114300" marT="85725" marB="8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의미</a:t>
                      </a:r>
                    </a:p>
                  </a:txBody>
                  <a:tcPr marL="114300" marR="114300" marT="85725" marB="85725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실선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두 클래스가 연결되어 정보를 참조하는 연관 관계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검은 마름모가 있는 실선 (◆)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 객체가 부분 객체를 소유하는 복합관계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정확히 한개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0..1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없거나 한개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0..*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없거나 여러개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24 / 60">
            <a:extLst>
              <a:ext uri="{FF2B5EF4-FFF2-40B4-BE49-F238E27FC236}">
                <a16:creationId xmlns:a16="http://schemas.microsoft.com/office/drawing/2014/main" id="{7083EB78-25E5-4B87-BA78-05ED7B1E9846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11 / 25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C1D6E8-9625-47B7-B457-4568C0F39E64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5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5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검은 마름모: 전체 객체 쪽에 표시</a:t>
            </a:r>
          </a:p>
          <a:p>
            <a:pPr>
              <a:defRPr sz="15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방향 화살표 없는 연관선: 선 자체로 참조 방향을 제한하지 않음</a:t>
            </a:r>
          </a:p>
        </p:txBody>
      </p:sp>
    </p:spTree>
    <p:extLst>
      <p:ext uri="{BB962C8B-B14F-4D97-AF65-F5344CB8AC3E}">
        <p14:creationId xmlns:p14="http://schemas.microsoft.com/office/powerpoint/2010/main" val="1540605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73936"/>
          <a:ext cx="111556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번호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클래스 관계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다중성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①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USER — MEETING_MEMBER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사용자 1명은 여러 모임에 참여 가능; 참여 정보는 사용자 1명에 속함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MEETING — MEETING_MEMBER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모임의 구성원 참여 관계; USER와 MEETING의 다대다 관계 연결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③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USER ◆— TIMETABLE_SLOT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개인 시간표 항목의 복합 관계; 미등록·일정 0건 가능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USER — MEETING_MEMO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사용자 1명은 여러 메모 작성; 메모별 작성자는 1명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⑤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MEETING — MEETING_MEMO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모임당 메모 여러 건 가능; 각 메모는 모임 1개에 속함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236208"/>
            <a:ext cx="10698480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defRPr sz="1000" b="0">
                <a:solidFill>
                  <a:srgbClr val="656E79"/>
                </a:solidFill>
                <a:latin typeface="맑은 고딕"/>
              </a:defRPr>
            </a:pPr>
            <a:r>
              <a:t>※ 관리자 역할은 별도 하위 클래스가 아닌 MEETING_MEMBER.role로 구분</a:t>
            </a: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86428FA2-BA5F-BA35-653B-A4BD63267596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RELATIONSHIPS</a:t>
            </a:r>
            <a:endParaRPr sz="1050" dirty="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C40C4F4F-7A92-B907-08EB-78D7C450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400" b="1" spc="-130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간 관계 및 다중성</a:t>
            </a:r>
            <a:endParaRPr sz="2100" dirty="0"/>
          </a:p>
        </p:txBody>
      </p:sp>
      <p:sp>
        <p:nvSpPr>
          <p:cNvPr id="13" name="가로 글상자 4">
            <a:extLst>
              <a:ext uri="{FF2B5EF4-FFF2-40B4-BE49-F238E27FC236}">
                <a16:creationId xmlns:a16="http://schemas.microsoft.com/office/drawing/2014/main" id="{7E9A06B3-05E2-0E04-1D09-D560A5839F9D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25" b="0" i="0" u="none" strike="noStrike" baseline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관계선은 객체 연결을 의미하며 실행 순서가 아님</a:t>
            </a:r>
            <a:endParaRPr sz="1300" b="0" i="0" u="none" strike="noStrike" baseline="0" dirty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73936"/>
          <a:ext cx="111556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번호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클래스 관계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다중성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⑥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MEETING — MATCHING_RUN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모임별 공강 계산 실행 이력을 여러 건 유지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MEETING_MEMBER — VOTE_BALLOT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구성원별 여러 라운드 투표 가능; 동일 집합에서는 1인 1투표지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⑧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MATCHING_RUN — CANDIDATE_SET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계산 실행이 추천안·차선안 등의 후보 집합 생성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CANDIDATE_SET — VOTE_BALLOT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후보 집합별 여러 구성원의 투표 응답 수집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⑩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CANDIDATE_SET ◆— CANDIDATE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후보 집합에 속한 개별 후보의 복합 관계; 최대 3개는 업무 제약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236208"/>
            <a:ext cx="10698480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defRPr sz="1000" b="0">
                <a:solidFill>
                  <a:srgbClr val="656E79"/>
                </a:solidFill>
                <a:latin typeface="맑은 고딕"/>
              </a:defRPr>
            </a:pPr>
            <a:r>
              <a:t>※ 관리자 역할은 별도 하위 클래스가 아닌 MEETING_MEMBER.role로 구분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7DE7297-C841-B9A2-D43D-E47F427B964E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RELATIONSHIPS</a:t>
            </a:r>
            <a:endParaRPr sz="1050" dirty="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234E9FF4-BE3A-7A8A-0AC0-CD0B5466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400" b="1" spc="-130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간 관계 및 다중성</a:t>
            </a:r>
            <a:endParaRPr sz="2100" dirty="0"/>
          </a:p>
        </p:txBody>
      </p:sp>
      <p:sp>
        <p:nvSpPr>
          <p:cNvPr id="10" name="가로 글상자 4">
            <a:extLst>
              <a:ext uri="{FF2B5EF4-FFF2-40B4-BE49-F238E27FC236}">
                <a16:creationId xmlns:a16="http://schemas.microsoft.com/office/drawing/2014/main" id="{5516A49C-C6FF-4120-3910-D6CF364D657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25" b="0" i="0" u="none" strike="noStrike" baseline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관계선은 객체 연결을 의미하며 실행 순서가 아님</a:t>
            </a:r>
            <a:endParaRPr sz="1300" b="0" i="0" u="none" strike="noStrike" baseline="0" dirty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73936"/>
          <a:ext cx="111556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번호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클래스 관계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다중성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2540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⑪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VOTE_BALLOT ◆— VOTE_SELECTION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투표 응답에 종속된 선택 항목; 후보 없음이면 0건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CANDIDATE — VOTE_SELECTION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후보당 여러 선택 항목 연결; 득표수 집계에 활용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⑬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CANDIDATE — CONFIRMED_SCHEDULE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그림 기준 다중성; 후보와 확정 일정 연결 (엄격한 업무 규칙은 0..1 검토)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MEETING — CONFIRMED_SCHEDULE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모임당 최종 확정 일정은 최대 하나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⑮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MATCHING_RUN — CONFIRMED_SCHEDULE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1 — 0..*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C3D"/>
                          </a:solidFill>
                          <a:latin typeface="맑은 고딕"/>
                        </a:defRPr>
                      </a:pPr>
                      <a:r>
                        <a:t>확정 전 재검사 계산 실행 이력을 참조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236208"/>
            <a:ext cx="10698480" cy="274320"/>
          </a:xfrm>
          <a:prstGeom prst="rect">
            <a:avLst/>
          </a:prstGeom>
          <a:noFill/>
        </p:spPr>
        <p:txBody>
          <a:bodyPr wrap="square" lIns="36576" tIns="36576">
            <a:spAutoFit/>
          </a:bodyPr>
          <a:lstStyle/>
          <a:p>
            <a:pPr>
              <a:defRPr sz="1000" b="0">
                <a:solidFill>
                  <a:srgbClr val="656E79"/>
                </a:solidFill>
                <a:latin typeface="맑은 고딕"/>
              </a:defRPr>
            </a:pPr>
            <a:r>
              <a:t>※ 관리자 역할은 별도 하위 클래스가 아닌 MEETING_MEMBER.role로 구분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1744D84-DFD8-846E-254F-B7C346EC8787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RELATIONSHIPS</a:t>
            </a:r>
            <a:endParaRPr sz="1050" dirty="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1CB182FA-401A-05AE-F950-F66DF32BC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400" b="1" spc="-130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간 관계 및 다중성</a:t>
            </a:r>
            <a:endParaRPr sz="2100" dirty="0"/>
          </a:p>
        </p:txBody>
      </p:sp>
      <p:sp>
        <p:nvSpPr>
          <p:cNvPr id="10" name="가로 글상자 4">
            <a:extLst>
              <a:ext uri="{FF2B5EF4-FFF2-40B4-BE49-F238E27FC236}">
                <a16:creationId xmlns:a16="http://schemas.microsoft.com/office/drawing/2014/main" id="{B80E46CC-30CB-17F0-89EC-4730D0507CB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25" b="0" i="0" u="none" strike="noStrike" baseline="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관계선은 객체 연결을 의미하며 실행 순서가 아님</a:t>
            </a:r>
            <a:endParaRPr sz="1300" b="0" i="0" u="none" strike="noStrike" baseline="0" dirty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USER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사용자 계정·프로필과 시간표 등록·변경 상태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495BEAB-8709-44BB-9621-E66E80C96404}"/>
              </a:ext>
            </a:extLst>
          </p:cNvPr>
          <p:cNvGraphicFramePr/>
          <p:nvPr/>
        </p:nvGraphicFramePr>
        <p:xfrm>
          <a:off x="609600" y="1685925"/>
          <a:ext cx="10972800" cy="4476750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user_id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provider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소셜 로그인 제공자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provider_user_id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제공자가 부여한 사용자 식별값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name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이름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major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전공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profile_completed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Boolean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프로필 작성 완료 여부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timetable_registered_at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시간표 등록시각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timetable_version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Integer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시간표 변경 버전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deleted_at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계정 삭제 처리 시각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socialLogin()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USER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소셜 인증 처리·사용자 객체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updateProfile()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이름·전공 등 프로필 수정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importTimetable()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 OCR·AI 분석으로 일정 추출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saveTimetable()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추출 결과·직접 입력 시간표 저장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updateTimetable()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시간표·버전 갱신·모임 재계산 필요 표시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logout()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로그아웃 처리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92A4137-3D91-4AD0-B256-0945ACD5D545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12 / 30</a:t>
            </a:r>
          </a:p>
        </p:txBody>
      </p:sp>
    </p:spTree>
    <p:extLst>
      <p:ext uri="{BB962C8B-B14F-4D97-AF65-F5344CB8AC3E}">
        <p14:creationId xmlns:p14="http://schemas.microsoft.com/office/powerpoint/2010/main" val="1315214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TIMETABLE_SLOT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사용자의 강의·개인 일정 한 건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D310D6E-68BC-4615-A4D8-35579156D2FC}"/>
              </a:ext>
            </a:extLst>
          </p:cNvPr>
          <p:cNvGraphicFramePr/>
          <p:nvPr/>
        </p:nvGraphicFramePr>
        <p:xfrm>
          <a:off x="609600" y="1685925"/>
          <a:ext cx="10972800" cy="4076703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slot_id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시간표 항목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user_id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소유한 사용자의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day_of_week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Integer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일정이 있는 요일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start_time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시작시각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end_time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종료시각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title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수업명 또는 일정명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validateTime()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Boolean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시작·종료 시각의 유효성 검사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update()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일정의 시간 정보 수정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overlaps()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Boolean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비교 대상 시간 구간과의 겹침 판단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54B07FD-426F-4FBA-AF91-585468107A6F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13 / 30</a:t>
            </a:r>
          </a:p>
        </p:txBody>
      </p:sp>
    </p:spTree>
    <p:extLst>
      <p:ext uri="{BB962C8B-B14F-4D97-AF65-F5344CB8AC3E}">
        <p14:creationId xmlns:p14="http://schemas.microsoft.com/office/powerpoint/2010/main" val="1397652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MEETING · 속성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모임 정보·검색 조건과 초대·계산·확정 과정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DE60AD5-3993-4BE1-9A6D-65FB5082F646}"/>
              </a:ext>
            </a:extLst>
          </p:cNvPr>
          <p:cNvGraphicFramePr/>
          <p:nvPr/>
        </p:nvGraphicFramePr>
        <p:xfrm>
          <a:off x="609600" y="1685925"/>
          <a:ext cx="10972800" cy="4476752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meeting_id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모임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name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모임 이름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description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모임 설명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period_start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검색 기간 시작일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period_end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검색 기간 종료일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search_start_time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하루 검색 범위의 시작 시각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search_end_time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하루 검색 범위의 종료 시각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travel_buffer_min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Integer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이동 여유 시간(분)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min_duration_min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Integer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모임 최소 지속 시간(분)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needs_recalc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Boolean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재계산</a:t>
                      </a:r>
                      <a:r>
                        <a:rPr sz="1275" b="0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275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필요</a:t>
                      </a:r>
                      <a:r>
                        <a:rPr sz="1275" b="0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275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여부</a:t>
                      </a:r>
                      <a:endParaRPr sz="1275" b="0" dirty="0">
                        <a:solidFill>
                          <a:srgbClr val="0F172A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invite_code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고유 초대 코드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invite_expires_at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초대 코드 만료 시각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share_token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결과 공유용 고유 토큰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1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deleted_at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모임</a:t>
                      </a:r>
                      <a:r>
                        <a:rPr sz="1275" b="0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275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삭제</a:t>
                      </a:r>
                      <a:r>
                        <a:rPr sz="1275" b="0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275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</a:t>
                      </a:r>
                      <a:r>
                        <a:rPr sz="1275" b="0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275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시각</a:t>
                      </a:r>
                      <a:endParaRPr sz="1275" b="0" dirty="0">
                        <a:solidFill>
                          <a:srgbClr val="0F172A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95D4D91-4968-4D4C-AE11-4DBC25A63022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23288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MEETING · 메서드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모임 정보·검색 조건과 초대·계산·확정 과정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23F2234-50EE-481C-B175-F893A5155D1A}"/>
              </a:ext>
            </a:extLst>
          </p:cNvPr>
          <p:cNvGraphicFramePr/>
          <p:nvPr/>
        </p:nvGraphicFramePr>
        <p:xfrm>
          <a:off x="609600" y="1685925"/>
          <a:ext cx="10972800" cy="3276602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create()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MEETING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모임 생성·모임 객체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updateConditions()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공강 검색 조건 수정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createInvite()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초대 코드 생성·반환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onMemberJoined()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MATCHING_RUN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구성원 참여 시 자동 계산·계산 이력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recalculate()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MATCHING_RUN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관리자 권한 확인·최신 시간표로 재계산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confirm()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CONFIRMED_SCHEDULE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후보 확정 처리·확정 일정 객체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delete()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모임 삭제 처리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F366D59-D5A8-41CC-9AD4-373110CD6741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15 / 30</a:t>
            </a:r>
          </a:p>
        </p:txBody>
      </p:sp>
    </p:spTree>
    <p:extLst>
      <p:ext uri="{BB962C8B-B14F-4D97-AF65-F5344CB8AC3E}">
        <p14:creationId xmlns:p14="http://schemas.microsoft.com/office/powerpoint/2010/main" val="4284401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MEETING_MEMBER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사용자와 모임의 참여 관계·권한·상태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875DC0C-3441-4B52-99DC-F29F94368B71}"/>
              </a:ext>
            </a:extLst>
          </p:cNvPr>
          <p:cNvGraphicFramePr/>
          <p:nvPr/>
        </p:nvGraphicFramePr>
        <p:xfrm>
          <a:off x="609600" y="1685925"/>
          <a:ext cx="10972800" cy="4076703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member_id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참여 관계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meeting_id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참여한 모임의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user_id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참여한 사용자의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role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관리자 ADMIN 또는 일반구성 Member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status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참여중 Active 또는 탈퇴 Left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acceptInvite()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초대·시간표 등록 상태 확인 후 참여 처리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isAdmin()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Boolean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관리자 여부 확인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transferAdmin()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구성원에게 관리자 권한 위임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51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leave()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모임 탈퇴 처리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D11D1EB-4115-4055-BF22-EB970A581755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16 / 30</a:t>
            </a:r>
          </a:p>
        </p:txBody>
      </p:sp>
    </p:spTree>
    <p:extLst>
      <p:ext uri="{BB962C8B-B14F-4D97-AF65-F5344CB8AC3E}">
        <p14:creationId xmlns:p14="http://schemas.microsoft.com/office/powerpoint/2010/main" val="72700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MEETING_MEMO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모임 안에서 공유하는 안내·의견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9D07E10-D22E-4271-8517-B2B45A4822B9}"/>
              </a:ext>
            </a:extLst>
          </p:cNvPr>
          <p:cNvGraphicFramePr/>
          <p:nvPr/>
        </p:nvGraphicFramePr>
        <p:xfrm>
          <a:off x="609600" y="1685925"/>
          <a:ext cx="10972800" cy="3676650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memo_id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메모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meeting_id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메모가 속한 모임의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author_user_id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작성자의 사용자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content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메모 내용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deleted_at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메모 삭제 처리 시각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write()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공유 메모 등록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update()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메모 내용 수정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delete()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메모 삭제 처리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EAAD640-2650-4C9A-894C-24ADB420581B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17 / 30</a:t>
            </a:r>
          </a:p>
        </p:txBody>
      </p:sp>
    </p:spTree>
    <p:extLst>
      <p:ext uri="{BB962C8B-B14F-4D97-AF65-F5344CB8AC3E}">
        <p14:creationId xmlns:p14="http://schemas.microsoft.com/office/powerpoint/2010/main" val="1447634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MATCHING_RUN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공강 계산과 당시 조건·입력 상태·실행 이력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817CCC9-C60C-41CA-9731-CAB186FBB94D}"/>
              </a:ext>
            </a:extLst>
          </p:cNvPr>
          <p:cNvGraphicFramePr/>
          <p:nvPr/>
        </p:nvGraphicFramePr>
        <p:xfrm>
          <a:off x="609600" y="1685925"/>
          <a:ext cx="10972800" cy="4476750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run_id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 실행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meeting_id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 대상 모임의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trigger_type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계산, 수동 재 계산 등 실행 계기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cond_snapshot</a:t>
                      </a:r>
                      <a:endParaRPr sz="1350" b="0" dirty="0">
                        <a:solidFill>
                          <a:srgbClr val="0F172A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Map&lt;String, Object&gt;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 당시 검색 조건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total_member_count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Integer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 당시 전체 구성원 수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timetable_input_count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Integer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시간표를 입력한 구성원 수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input_hash</a:t>
                      </a:r>
                      <a:endParaRPr sz="1350" b="0" dirty="0">
                        <a:solidFill>
                          <a:srgbClr val="0F172A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 정보 변경 여부 비교용 해시값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calculated_at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 실행 시각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calculate()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CANDIDATE_SET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공강 계산·후보 집합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findCommonFreeTime()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CANDIDATE[]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공통 공강 구간 탐색·후보 배열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recommendTop3()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CANDIDATE_SET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 3개 후보 선정·후보 집합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recheck()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Boolean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</a:t>
                      </a:r>
                      <a:r>
                        <a:rPr sz="1350" b="0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후보의</a:t>
                      </a:r>
                      <a:r>
                        <a:rPr sz="1350" b="0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최신</a:t>
                      </a:r>
                      <a:r>
                        <a:rPr sz="1350" b="0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시간표</a:t>
                      </a:r>
                      <a:r>
                        <a:rPr sz="1350" b="0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유효성</a:t>
                      </a:r>
                      <a:r>
                        <a:rPr sz="1350" b="0" dirty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재검사</a:t>
                      </a:r>
                      <a:endParaRPr sz="1350" b="0" dirty="0">
                        <a:solidFill>
                          <a:srgbClr val="0F172A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18F0EA0-3652-444D-8399-C4A0564A3DDD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18 / 30</a:t>
            </a:r>
          </a:p>
        </p:txBody>
      </p:sp>
    </p:spTree>
    <p:extLst>
      <p:ext uri="{BB962C8B-B14F-4D97-AF65-F5344CB8AC3E}">
        <p14:creationId xmlns:p14="http://schemas.microsoft.com/office/powerpoint/2010/main" val="257566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CANDIDATE_SET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추천 후보 묶음과 투표 라운드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44B5039-8A81-4CC9-9FE2-D9D095A01E92}"/>
              </a:ext>
            </a:extLst>
          </p:cNvPr>
          <p:cNvGraphicFramePr/>
          <p:nvPr/>
        </p:nvGraphicFramePr>
        <p:xfrm>
          <a:off x="609600" y="1685925"/>
          <a:ext cx="10972800" cy="4476750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후보 집합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run_id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후보 집합을 생성한 계산 실행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set_type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추천안 또는 차선안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reason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후보집합을 제시한 이유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result_status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 결과 상태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vote_status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투표 진행 상태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openVote()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시작 조건 확인·투표 시작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countVotes()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Integer[]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후보별 득표 집계·배열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closeVote()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투표 종료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getWinner()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CANDIDATE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투표 결과에 따른 선택 후보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4B959FD-048C-4D75-B071-D69AA6C4EB16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19 / 30</a:t>
            </a:r>
          </a:p>
        </p:txBody>
      </p:sp>
    </p:spTree>
    <p:extLst>
      <p:ext uri="{BB962C8B-B14F-4D97-AF65-F5344CB8AC3E}">
        <p14:creationId xmlns:p14="http://schemas.microsoft.com/office/powerpoint/2010/main" val="2091298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CANDIDATE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추천 묶음에 속한 개별 시간대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CE15905-B9D9-4ADC-BAA2-5B1A00407B77}"/>
              </a:ext>
            </a:extLst>
          </p:cNvPr>
          <p:cNvGraphicFramePr/>
          <p:nvPr/>
        </p:nvGraphicFramePr>
        <p:xfrm>
          <a:off x="609600" y="1685925"/>
          <a:ext cx="10972800" cy="3676650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candidate_id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후보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소속 후보 집합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rank_no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Integer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후보 집합 내 추천 순위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start_at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후보 일정 시작 일시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end_at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후보 일정 종료 일시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available_count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Integer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참석 가능한 구성원 수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isAvailable()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Boolean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구성원의 해당 시간대 참석 가능 여부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getVoteCount()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Integer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해당 후보의 득표수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55E1758-1BB3-455C-97FE-E947994BE95B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20 / 30</a:t>
            </a:r>
          </a:p>
        </p:txBody>
      </p:sp>
    </p:spTree>
    <p:extLst>
      <p:ext uri="{BB962C8B-B14F-4D97-AF65-F5344CB8AC3E}">
        <p14:creationId xmlns:p14="http://schemas.microsoft.com/office/powerpoint/2010/main" val="3610994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VOTE_BALLOT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특정 후보 묶음에 대한 구성원 한 명의 응답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D3FDB9B-3AF6-4DA5-93CE-F13FAFE1B32C}"/>
              </a:ext>
            </a:extLst>
          </p:cNvPr>
          <p:cNvGraphicFramePr/>
          <p:nvPr/>
        </p:nvGraphicFramePr>
        <p:xfrm>
          <a:off x="609600" y="1685925"/>
          <a:ext cx="10972800" cy="3276602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ballot_id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투표 응답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투표 대상 후보 집합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member_id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투표한 구성원의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no_available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Boolean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참석 가능한 후보가 없는지 여부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submit()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후보를 투표 응답으로 제출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update()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투표 내용 변경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936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markNoAvailable()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가능 후보 없음 기록·선택 항목 비움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49FC0B3-380C-42C4-8614-44CBD0942A90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21 / 30</a:t>
            </a:r>
          </a:p>
        </p:txBody>
      </p:sp>
    </p:spTree>
    <p:extLst>
      <p:ext uri="{BB962C8B-B14F-4D97-AF65-F5344CB8AC3E}">
        <p14:creationId xmlns:p14="http://schemas.microsoft.com/office/powerpoint/2010/main" val="3182071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VOTE_SELECTION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투표 응답에서 실제로 선택한 후보 연결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7541432-D036-4A16-9F85-7158BAAB3348}"/>
              </a:ext>
            </a:extLst>
          </p:cNvPr>
          <p:cNvGraphicFramePr/>
          <p:nvPr/>
        </p:nvGraphicFramePr>
        <p:xfrm>
          <a:off x="609600" y="1685925"/>
          <a:ext cx="10972800" cy="2476500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ballot_id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소속 투표 응답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투표 응답과 후보가 속한 후보 집합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candidate_id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후보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select()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 추가·응답과 후보의 동일 집합 확인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9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cancel()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해당 후보 선택 취소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54E7461-B8C5-485B-8E7F-271D59F2666A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22 / 30</a:t>
            </a:r>
          </a:p>
        </p:txBody>
      </p:sp>
    </p:spTree>
    <p:extLst>
      <p:ext uri="{BB962C8B-B14F-4D97-AF65-F5344CB8AC3E}">
        <p14:creationId xmlns:p14="http://schemas.microsoft.com/office/powerpoint/2010/main" val="3743879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CLASS DESIGN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429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2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클래스 설계 · CONFIRMED_SCHEDULE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최종 후보·확정 전 검증 기록·확정 시각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1B5BB03-F1C8-47CD-81CD-AAEBF7DC651F}"/>
              </a:ext>
            </a:extLst>
          </p:cNvPr>
          <p:cNvGraphicFramePr/>
          <p:nvPr/>
        </p:nvGraphicFramePr>
        <p:xfrm>
          <a:off x="609600" y="1685925"/>
          <a:ext cx="10972800" cy="3676650"/>
        </p:xfrm>
        <a:graphic>
          <a:graphicData uri="http://schemas.openxmlformats.org/drawingml/2006/table">
            <a:tbl>
              <a:tblPr firstRow="1"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구분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 / 메서드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자료형 / 반환형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하는 일</a:t>
                      </a:r>
                    </a:p>
                  </a:txBody>
                  <a:tcPr marL="85725" marR="66675" marT="0" marB="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confirmed_id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확정 일정 고유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meeting_id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일정이 확정된 모임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candidate_id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선택된 후보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recheck_run_id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Long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확정 전 재검사 실행 번호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속성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confirmed_at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LocalDateTime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일정 확정 시각</a:t>
                      </a:r>
                    </a:p>
                  </a:txBody>
                  <a:tcPr marL="85725" marR="66675" marT="0" marB="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confirm()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재검사 결과 확인·최종 일정 저장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getSchedule()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CANDIDATE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확정 일정에 연결된 후보 객체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getShareLink()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String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확정 결과 공유 링크 반환</a:t>
                      </a:r>
                    </a:p>
                  </a:txBody>
                  <a:tcPr marL="85725" marR="66675" marT="0" marB="0" anchor="ctr"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2EA082BD-F6EC-4B06-AD82-C1DB21124F75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1787192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THEORY &amp; MODELING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문제해결 이론 · 비트 벡터와 워드 단위 연산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참석 가능 1 · 참석 불가능 0 → 비트 AND로 공통 가능 슬롯 계산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A993C84-0873-4ADF-B4B7-900D0139F550}"/>
              </a:ext>
            </a:extLst>
          </p:cNvPr>
          <p:cNvGraphicFramePr/>
          <p:nvPr/>
        </p:nvGraphicFramePr>
        <p:xfrm>
          <a:off x="762000" y="1809750"/>
          <a:ext cx="10668000" cy="2667000"/>
        </p:xfrm>
        <a:graphic>
          <a:graphicData uri="http://schemas.openxmlformats.org/drawingml/2006/table">
            <a:tbl>
              <a:tblPr firstRow="1"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설명용 예시</a:t>
                      </a:r>
                    </a:p>
                  </a:txBody>
                  <a:tcPr marL="114300" marR="114300" marT="85725" marB="8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슬롯 1–8의 비트열</a:t>
                      </a:r>
                    </a:p>
                  </a:txBody>
                  <a:tcPr marL="114300" marR="114300" marT="85725" marB="85725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구성원 A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1 1 0 1 1 0 0 0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구성원 B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1 0 1 1 1 0 0 0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 AND B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1 0 0 1 1 0 0 0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공통 가능 슬롯 → 연속 구간 추출 → 이동 여유·최소 회의 시간">
            <a:extLst>
              <a:ext uri="{FF2B5EF4-FFF2-40B4-BE49-F238E27FC236}">
                <a16:creationId xmlns:a16="http://schemas.microsoft.com/office/drawing/2014/main" id="{689E2851-B970-4895-A0A5-BF0DDB6E0872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공통 가능 슬롯 → 연속 구간 추출 → 이동 여유·최소 회의 시간 반영</a:t>
            </a:r>
          </a:p>
        </p:txBody>
      </p:sp>
      <p:sp>
        <p:nvSpPr>
          <p:cNvPr id="8" name="S = 140이라면 64비트 워드 3개 사용 · 남는 52비트는 ">
            <a:extLst>
              <a:ext uri="{FF2B5EF4-FFF2-40B4-BE49-F238E27FC236}">
                <a16:creationId xmlns:a16="http://schemas.microsoft.com/office/drawing/2014/main" id="{C559E734-C763-4C96-A950-D42B1D2ABBC8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월~금 09~21시 · 30분 단위: 120슬롯 → 64비트 워드 2개</a:t>
            </a:r>
          </a:p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5일 × 12시간 × 2슬롯 = 120비트 / 남는 8비트는 계산에서 제외</a:t>
            </a:r>
          </a:p>
        </p:txBody>
      </p:sp>
      <p:sp>
        <p:nvSpPr>
          <p:cNvPr id="9" name="49 / 60">
            <a:extLst>
              <a:ext uri="{FF2B5EF4-FFF2-40B4-BE49-F238E27FC236}">
                <a16:creationId xmlns:a16="http://schemas.microsoft.com/office/drawing/2014/main" id="{641E377B-3804-4857-8D57-A27D6D702BC7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19 / 25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COMPLEXITY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문제해결 이론 · 시간복잡도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N: 구성원 수 · S: 슬롯 수 · w: 워드 크기 (여기서는 64비트)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3902BBC-058D-4B85-B337-58010E518F8B}"/>
              </a:ext>
            </a:extLst>
          </p:cNvPr>
          <p:cNvGraphicFramePr/>
          <p:nvPr/>
        </p:nvGraphicFramePr>
        <p:xfrm>
          <a:off x="762000" y="1905000"/>
          <a:ext cx="10668000" cy="2952752"/>
        </p:xfrm>
        <a:graphic>
          <a:graphicData uri="http://schemas.openxmlformats.org/drawingml/2006/table">
            <a:tbl>
              <a:tblPr firstRow="1"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 방식</a:t>
                      </a:r>
                    </a:p>
                  </a:txBody>
                  <a:tcPr marL="114300" marR="114300" marT="85725" marB="8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교집합 계산 비용</a:t>
                      </a:r>
                    </a:p>
                  </a:txBody>
                  <a:tcPr marL="114300" marR="114300" marT="85725" marB="85725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슬롯을 하나씩 비교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O(N × S)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워드 단위 AND 연산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O(N × ⌈S / w⌉)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S가 고정된 경우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두 방식 모두 N에 대해 O(N)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비트 연산은 한 명령으로 여러 슬롯을 처리하여 실제 연산량을 줄임">
            <a:extLst>
              <a:ext uri="{FF2B5EF4-FFF2-40B4-BE49-F238E27FC236}">
                <a16:creationId xmlns:a16="http://schemas.microsoft.com/office/drawing/2014/main" id="{749B4B88-10AC-4347-9BA9-A7BD3F459AB2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비트 연산은 한 명령으로 여러 슬롯을 처리하여 실제 연산량을 줄임</a:t>
            </a:r>
          </a:p>
        </p:txBody>
      </p:sp>
      <p:sp>
        <p:nvSpPr>
          <p:cNvPr id="8" name="전체 응답 시간에는 입력 변환·후보 추출·DB 조회·화면 표시 비">
            <a:extLst>
              <a:ext uri="{FF2B5EF4-FFF2-40B4-BE49-F238E27FC236}">
                <a16:creationId xmlns:a16="http://schemas.microsoft.com/office/drawing/2014/main" id="{5DA859C2-CCCF-4400-934D-B5BEF22972E9}"/>
              </a:ext>
            </a:extLst>
          </p:cNvPr>
          <p:cNvSpPr>
            <a:spLocks noGrp="1"/>
          </p:cNvSpPr>
          <p:nvPr/>
        </p:nvSpPr>
        <p:spPr>
          <a:xfrm>
            <a:off x="762000" y="5886450"/>
            <a:ext cx="10572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전체 응답 시간에는 입력 변환·후보 추출·DB 조회·화면 표시 비용도 포함</a:t>
            </a:r>
          </a:p>
        </p:txBody>
      </p:sp>
      <p:sp>
        <p:nvSpPr>
          <p:cNvPr id="9" name="50 / 60">
            <a:extLst>
              <a:ext uri="{FF2B5EF4-FFF2-40B4-BE49-F238E27FC236}">
                <a16:creationId xmlns:a16="http://schemas.microsoft.com/office/drawing/2014/main" id="{2C4E1C02-B098-40D1-81E6-5B2C8D8BBA05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20 / 25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AGILE BASICS</a:t>
            </a:r>
            <a:endParaRPr sz="1050" b="1" dirty="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애자일</a:t>
            </a:r>
            <a:r>
              <a:rPr sz="2400" b="1" spc="-130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spc="-130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개발이란</a:t>
            </a:r>
            <a:r>
              <a:rPr sz="2400" b="1" spc="-130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?</a:t>
            </a:r>
            <a:endParaRPr sz="2100" dirty="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작은 기능을 구현하고 검증·피드백을 반복하며 개선하는 개발 접근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FE90266-5C57-45DA-9EA5-4EAEE37B8871}"/>
              </a:ext>
            </a:extLst>
          </p:cNvPr>
          <p:cNvGraphicFramePr/>
          <p:nvPr/>
        </p:nvGraphicFramePr>
        <p:xfrm>
          <a:off x="762000" y="1809750"/>
          <a:ext cx="10668000" cy="3333750"/>
        </p:xfrm>
        <a:graphic>
          <a:graphicData uri="http://schemas.openxmlformats.org/drawingml/2006/table">
            <a:tbl>
              <a:tblPr firstRow="1"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원칙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쉽게 설명하면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개인과 상호작용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5명의 소통·협업으로 알고리즘과 화면 구현 조율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우선순위 반복 개발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공강 자동 매칭·컬러맵부터 작동하는 MVP 검증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빠른 피드백과 협력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수기 입력·뷰어 사용성 의견을 다음 개선에 반영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변화에 대응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DB 미구축 → DB 도입처럼 변경을 설계에 반영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예: 시간표 수기 입력 구현 → 사용성 확인 → 입력 불편 수정">
            <a:extLst>
              <a:ext uri="{FF2B5EF4-FFF2-40B4-BE49-F238E27FC236}">
                <a16:creationId xmlns:a16="http://schemas.microsoft.com/office/drawing/2014/main" id="{83648B9B-B08A-4B48-B5E3-725FC6219E73}"/>
              </a:ext>
            </a:extLst>
          </p:cNvPr>
          <p:cNvSpPr>
            <a:spLocks noGrp="1"/>
          </p:cNvSpPr>
          <p:nvPr/>
        </p:nvSpPr>
        <p:spPr>
          <a:xfrm>
            <a:off x="762000" y="54768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8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예: 시간표 수기 입력 구현 → 사용성 확인 → 입력 불편 수정 → 다음 기능 구현</a:t>
            </a:r>
          </a:p>
        </p:txBody>
      </p:sp>
      <p:sp>
        <p:nvSpPr>
          <p:cNvPr id="8" name="MVP는 먼저 검증할 최소 기능 범위 · 애자일은 개발하고 개선">
            <a:extLst>
              <a:ext uri="{FF2B5EF4-FFF2-40B4-BE49-F238E27FC236}">
                <a16:creationId xmlns:a16="http://schemas.microsoft.com/office/drawing/2014/main" id="{0CECF63A-F1A5-45CD-B852-52A0816541FB}"/>
              </a:ext>
            </a:extLst>
          </p:cNvPr>
          <p:cNvSpPr>
            <a:spLocks noGrp="1"/>
          </p:cNvSpPr>
          <p:nvPr/>
        </p:nvSpPr>
        <p:spPr>
          <a:xfrm>
            <a:off x="762000" y="618172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5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5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MVP는 먼저 검증할 최소 기능 범위 · 애자일은 개발하고 개선하는 방식</a:t>
            </a:r>
          </a:p>
        </p:txBody>
      </p:sp>
      <p:sp>
        <p:nvSpPr>
          <p:cNvPr id="9" name="55 / 65">
            <a:extLst>
              <a:ext uri="{FF2B5EF4-FFF2-40B4-BE49-F238E27FC236}">
                <a16:creationId xmlns:a16="http://schemas.microsoft.com/office/drawing/2014/main" id="{E88FB2B1-0C14-4BD9-B8DD-B26B6A3A7CA5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21 / 25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EVALUATION PLAN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설계 평가 · 알고리즘과 성능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아래 내용은 검증 계획이며 실제 측정 결과가 아님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C5E5AD6-A293-4D6F-AACB-9E5913CA89C2}"/>
              </a:ext>
            </a:extLst>
          </p:cNvPr>
          <p:cNvGraphicFramePr/>
          <p:nvPr/>
        </p:nvGraphicFramePr>
        <p:xfrm>
          <a:off x="762000" y="1828800"/>
          <a:ext cx="10668000" cy="3524250"/>
        </p:xfrm>
        <a:graphic>
          <a:graphicData uri="http://schemas.openxmlformats.org/drawingml/2006/table">
            <a:tbl>
              <a:tblPr firstRow="1"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평가 항목</a:t>
                      </a:r>
                    </a:p>
                  </a:txBody>
                  <a:tcPr marL="114300" marR="114300" marT="85725" marB="8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방법 및 판단 기준</a:t>
                      </a:r>
                    </a:p>
                  </a:txBody>
                  <a:tcPr marL="114300" marR="114300" marT="85725" marB="85725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교집합의 정확성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구현의 정답과 비교 · 정의한 테스트 전부 통과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최소 회의 시간·이동 여유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경계값을 포함한 연속 구간과 제외 구간 확인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두 방식의 실행 시간 비교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입력·환경에서 슬롯 순회와 비트 연산 비교 · N과 S를 나누어 변화</a:t>
                      </a:r>
                    </a:p>
                  </a:txBody>
                  <a:tcPr marL="114300" marR="114300" marT="85725" marB="85725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응답 성능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 초 이내를 목표로 검증 · N·환경·임계값 확정 필요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CR 인식률은 알고리즘 정확성과 분리하여 측정 · 평가 이미지와">
            <a:extLst>
              <a:ext uri="{FF2B5EF4-FFF2-40B4-BE49-F238E27FC236}">
                <a16:creationId xmlns:a16="http://schemas.microsoft.com/office/drawing/2014/main" id="{1954F42E-0241-47CA-A50C-868FA796F94E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S 고정·N 변화 + N 고정·S 변화 / OCR 인식률 별도 평가 / 환경·목표값 확정 필요</a:t>
            </a:r>
          </a:p>
        </p:txBody>
      </p:sp>
      <p:sp>
        <p:nvSpPr>
          <p:cNvPr id="8" name="52 / 60">
            <a:extLst>
              <a:ext uri="{FF2B5EF4-FFF2-40B4-BE49-F238E27FC236}">
                <a16:creationId xmlns:a16="http://schemas.microsoft.com/office/drawing/2014/main" id="{FA75F1C7-AF59-45EF-8ED2-D98A633C8301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22 / 25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EVALUATION PLAN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설계 평가 · 데이터와 사용자 흐름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예외 상황, 입력 변환, 시각화 및 통합 동작을 함께 확인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C72E41B-8163-46AB-A60C-3B7DB9E4FCD0}"/>
              </a:ext>
            </a:extLst>
          </p:cNvPr>
          <p:cNvGraphicFramePr/>
          <p:nvPr/>
        </p:nvGraphicFramePr>
        <p:xfrm>
          <a:off x="609600" y="1771650"/>
          <a:ext cx="10972800" cy="4000500"/>
        </p:xfrm>
        <a:graphic>
          <a:graphicData uri="http://schemas.openxmlformats.org/drawingml/2006/table">
            <a:tbl>
              <a:tblPr firstRow="1"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평가 항목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확인할 동작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예외·입력 누락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공통 시간 없음 → 최다 참석 차선책 / 미등록자·비정상 입력 처리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OCR·수기 입력 변환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일정 ↔ 슬롯·비트 표현 일치 / 직렬화·저장·복원 후 정보 보존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공강 컬러맵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겹치는 인원 누적 수에 비례한 색상과 실제 참석 인원 일치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사용자 편의성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입력·결과 화면 사용성 / 일정 조율의 실제 소요 시간 단축 여부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 사용자 흐름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로그인 → 모임 생성 → 시간표 입력 → 매칭 → 투표 → 최종 확정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EFEE835-D005-4DF1-880C-F531BFE2969A}"/>
              </a:ext>
            </a:extLst>
          </p:cNvPr>
          <p:cNvSpPr>
            <a:spLocks noGrp="1"/>
          </p:cNvSpPr>
          <p:nvPr/>
        </p:nvSpPr>
        <p:spPr>
          <a:xfrm>
            <a:off x="762000" y="59817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계산용 120비트 규격 확정 / 일정 행과 비트열의 DB 저장 역할은 별도 결정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E97603-811D-4B8F-9857-E1FE2F2F71D2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23 / 25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D8D969-F604-4D90-9E1C-BD1BB7C9546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5372100" cy="5048250"/>
          </a:xfrm>
          <a:custGeom>
            <a:avLst/>
            <a:gdLst/>
            <a:ahLst/>
            <a:cxnLst/>
            <a:rect l="l" t="t" r="r" b="b"/>
            <a:pathLst>
              <a:path w="5372100" h="5048250">
                <a:moveTo>
                  <a:pt x="5257807" y="5048249"/>
                </a:moveTo>
                <a:lnTo>
                  <a:pt x="114292" y="5048249"/>
                </a:lnTo>
                <a:lnTo>
                  <a:pt x="69804" y="5039268"/>
                </a:lnTo>
                <a:lnTo>
                  <a:pt x="33475" y="5014774"/>
                </a:lnTo>
                <a:lnTo>
                  <a:pt x="8981" y="4978445"/>
                </a:lnTo>
                <a:lnTo>
                  <a:pt x="0" y="4933957"/>
                </a:lnTo>
                <a:lnTo>
                  <a:pt x="0" y="114292"/>
                </a:lnTo>
                <a:lnTo>
                  <a:pt x="8981" y="69804"/>
                </a:lnTo>
                <a:lnTo>
                  <a:pt x="33475" y="33475"/>
                </a:lnTo>
                <a:lnTo>
                  <a:pt x="69804" y="8981"/>
                </a:lnTo>
                <a:lnTo>
                  <a:pt x="114292" y="0"/>
                </a:lnTo>
                <a:lnTo>
                  <a:pt x="5257807" y="0"/>
                </a:lnTo>
                <a:lnTo>
                  <a:pt x="5301545" y="8699"/>
                </a:lnTo>
                <a:lnTo>
                  <a:pt x="5338624" y="33475"/>
                </a:lnTo>
                <a:lnTo>
                  <a:pt x="5363399" y="70554"/>
                </a:lnTo>
                <a:lnTo>
                  <a:pt x="5372099" y="114292"/>
                </a:lnTo>
                <a:lnTo>
                  <a:pt x="5372099" y="4933957"/>
                </a:lnTo>
                <a:lnTo>
                  <a:pt x="5363118" y="4978445"/>
                </a:lnTo>
                <a:lnTo>
                  <a:pt x="5338624" y="5014774"/>
                </a:lnTo>
                <a:lnTo>
                  <a:pt x="5302295" y="5039268"/>
                </a:lnTo>
                <a:lnTo>
                  <a:pt x="5257807" y="5048249"/>
                </a:lnTo>
                <a:close/>
              </a:path>
            </a:pathLst>
          </a:custGeom>
          <a:solidFill>
            <a:srgbClr val="F7FAFC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3245CE3-48A3-40DC-84B7-35500BEE6938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5372100" cy="5048250"/>
          </a:xfrm>
          <a:custGeom>
            <a:avLst/>
            <a:gdLst/>
            <a:ahLst/>
            <a:cxnLst/>
            <a:rect l="l" t="t" r="r" b="b"/>
            <a:pathLst>
              <a:path w="5372100" h="5048250">
                <a:moveTo>
                  <a:pt x="5257807" y="5048249"/>
                </a:moveTo>
                <a:lnTo>
                  <a:pt x="114292" y="5048249"/>
                </a:lnTo>
                <a:lnTo>
                  <a:pt x="69804" y="5039268"/>
                </a:lnTo>
                <a:lnTo>
                  <a:pt x="33475" y="5014774"/>
                </a:lnTo>
                <a:lnTo>
                  <a:pt x="8981" y="4978445"/>
                </a:lnTo>
                <a:lnTo>
                  <a:pt x="0" y="4933957"/>
                </a:lnTo>
                <a:lnTo>
                  <a:pt x="0" y="114292"/>
                </a:lnTo>
                <a:lnTo>
                  <a:pt x="8981" y="69804"/>
                </a:lnTo>
                <a:lnTo>
                  <a:pt x="33475" y="33475"/>
                </a:lnTo>
                <a:lnTo>
                  <a:pt x="69804" y="8981"/>
                </a:lnTo>
                <a:lnTo>
                  <a:pt x="114292" y="0"/>
                </a:lnTo>
                <a:lnTo>
                  <a:pt x="5257807" y="0"/>
                </a:lnTo>
                <a:lnTo>
                  <a:pt x="5301545" y="8699"/>
                </a:lnTo>
                <a:lnTo>
                  <a:pt x="5338624" y="33475"/>
                </a:lnTo>
                <a:lnTo>
                  <a:pt x="5363399" y="70554"/>
                </a:lnTo>
                <a:lnTo>
                  <a:pt x="5372099" y="114292"/>
                </a:lnTo>
                <a:lnTo>
                  <a:pt x="5372099" y="4933957"/>
                </a:lnTo>
                <a:lnTo>
                  <a:pt x="5363118" y="4978445"/>
                </a:lnTo>
                <a:lnTo>
                  <a:pt x="5338624" y="5014774"/>
                </a:lnTo>
                <a:lnTo>
                  <a:pt x="5302295" y="5039268"/>
                </a:lnTo>
                <a:lnTo>
                  <a:pt x="5257807" y="5048249"/>
                </a:lnTo>
                <a:close/>
              </a:path>
            </a:pathLst>
          </a:custGeom>
          <a:solidFill>
            <a:srgbClr val="FFF6ED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9A4A1D5-E34F-472B-B995-F675B1504DF9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85725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spc="-1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SUMMARY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CAB0750-14B3-4224-8192-4DA6D65B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45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상세설계 진행 현황</a:t>
            </a:r>
          </a:p>
        </p:txBody>
      </p:sp>
      <p:sp>
        <p:nvSpPr>
          <p:cNvPr id="8" name="현재 구체화한 설계">
            <a:extLst>
              <a:ext uri="{FF2B5EF4-FFF2-40B4-BE49-F238E27FC236}">
                <a16:creationId xmlns:a16="http://schemas.microsoft.com/office/drawing/2014/main" id="{D954E7DD-6A0F-407F-A72F-19DF102E61C9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현재 구체화한 설계</a:t>
            </a:r>
          </a:p>
        </p:txBody>
      </p:sp>
      <p:sp>
        <p:nvSpPr>
          <p:cNvPr id="9" name="OCR·수기 입력을 결합한 시간표 입력&#10;&#10;ERD와 클래스별 속성·">
            <a:extLst>
              <a:ext uri="{FF2B5EF4-FFF2-40B4-BE49-F238E27FC236}">
                <a16:creationId xmlns:a16="http://schemas.microsoft.com/office/drawing/2014/main" id="{F01D5C03-2AA2-4776-A070-A730FFCB8A0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481965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OCR·수기 입력을 결합한 시간표 입력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ERD와 클래스별 속성·기능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비트마스크 교집합과 시간복잡도 분석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애자일 개발 및 기능·성능 평가 계획</a:t>
            </a:r>
          </a:p>
        </p:txBody>
      </p:sp>
      <p:sp>
        <p:nvSpPr>
          <p:cNvPr id="10" name="다음 구현 단계">
            <a:extLst>
              <a:ext uri="{FF2B5EF4-FFF2-40B4-BE49-F238E27FC236}">
                <a16:creationId xmlns:a16="http://schemas.microsoft.com/office/drawing/2014/main" id="{0CB95E24-281A-4AC2-BDD1-6C31219F044B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다음 구현 단계</a:t>
            </a:r>
          </a:p>
        </p:txBody>
      </p:sp>
      <p:sp>
        <p:nvSpPr>
          <p:cNvPr id="11" name="슬롯 단위·범위와 후보 점수 기준 확정&#10;&#10;입력 처리·매칭·컬러맵 ">
            <a:extLst>
              <a:ext uri="{FF2B5EF4-FFF2-40B4-BE49-F238E27FC236}">
                <a16:creationId xmlns:a16="http://schemas.microsoft.com/office/drawing/2014/main" id="{C3B7195F-2048-43D7-837B-D1ED9BE373EB}"/>
              </a:ext>
            </a:extLst>
          </p:cNvPr>
          <p:cNvSpPr>
            <a:spLocks noGrp="1"/>
          </p:cNvSpPr>
          <p:nvPr/>
        </p:nvSpPr>
        <p:spPr>
          <a:xfrm>
            <a:off x="6477000" y="2495550"/>
            <a:ext cx="4819650" cy="3333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120슬롯 적용·저장 방식·후보 점수 기준 정리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입력 처리·매칭·컬러맵 MVP 구현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평가 조건 정의 후 실제 측정</a:t>
            </a:r>
          </a:p>
          <a:p>
            <a:endParaRPr sz="1800" b="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8~11주차 개발 계획에 따라 구현·검증</a:t>
            </a:r>
          </a:p>
        </p:txBody>
      </p:sp>
      <p:sp>
        <p:nvSpPr>
          <p:cNvPr id="12" name="59 / 60">
            <a:extLst>
              <a:ext uri="{FF2B5EF4-FFF2-40B4-BE49-F238E27FC236}">
                <a16:creationId xmlns:a16="http://schemas.microsoft.com/office/drawing/2014/main" id="{60F7CC83-81C1-44B8-B494-384F84ADE442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24 / 25</a:t>
            </a:r>
          </a:p>
        </p:txBody>
      </p:sp>
    </p:spTree>
    <p:extLst>
      <p:ext uri="{BB962C8B-B14F-4D97-AF65-F5344CB8AC3E}">
        <p14:creationId xmlns:p14="http://schemas.microsoft.com/office/powerpoint/2010/main" val="391668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">
            <a:extLst>
              <a:ext uri="{FF2B5EF4-FFF2-40B4-BE49-F238E27FC236}">
                <a16:creationId xmlns:a16="http://schemas.microsoft.com/office/drawing/2014/main" id="{8A6DE353-3C7C-407D-A931-025066E60699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105156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31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52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상세설계 발표 이후 4주 개발 일정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E67CC76-3210-4B63-99AA-58F9CAE973BA}"/>
              </a:ext>
            </a:extLst>
          </p:cNvPr>
          <p:cNvSpPr>
            <a:spLocks noGrp="1"/>
          </p:cNvSpPr>
          <p:nvPr/>
        </p:nvSpPr>
        <p:spPr>
          <a:xfrm>
            <a:off x="472440" y="754380"/>
            <a:ext cx="5334000" cy="24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Teum · 8–11주차</a:t>
            </a:r>
          </a:p>
        </p:txBody>
      </p:sp>
      <p:sp>
        <p:nvSpPr>
          <p:cNvPr id="3" name="head-group">
            <a:extLst>
              <a:ext uri="{FF2B5EF4-FFF2-40B4-BE49-F238E27FC236}">
                <a16:creationId xmlns:a16="http://schemas.microsoft.com/office/drawing/2014/main" id="{8FEA5CA9-E91D-46DD-B8E1-E3BA3E92F981}"/>
              </a:ext>
            </a:extLst>
          </p:cNvPr>
          <p:cNvSpPr>
            <a:spLocks noGrp="1"/>
          </p:cNvSpPr>
          <p:nvPr/>
        </p:nvSpPr>
        <p:spPr>
          <a:xfrm>
            <a:off x="457200" y="1135380"/>
            <a:ext cx="1371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4" name="head-task">
            <a:extLst>
              <a:ext uri="{FF2B5EF4-FFF2-40B4-BE49-F238E27FC236}">
                <a16:creationId xmlns:a16="http://schemas.microsoft.com/office/drawing/2014/main" id="{6827AAE6-61C6-4097-B10E-7CFDB9438B47}"/>
              </a:ext>
            </a:extLst>
          </p:cNvPr>
          <p:cNvSpPr>
            <a:spLocks noGrp="1"/>
          </p:cNvSpPr>
          <p:nvPr/>
        </p:nvSpPr>
        <p:spPr>
          <a:xfrm>
            <a:off x="1905000" y="1135380"/>
            <a:ext cx="47244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작업 항목</a:t>
            </a:r>
          </a:p>
        </p:txBody>
      </p:sp>
      <p:sp>
        <p:nvSpPr>
          <p:cNvPr id="5" name="week-0">
            <a:extLst>
              <a:ext uri="{FF2B5EF4-FFF2-40B4-BE49-F238E27FC236}">
                <a16:creationId xmlns:a16="http://schemas.microsoft.com/office/drawing/2014/main" id="{07D52D43-9AFD-4735-8E0E-2E5FA11FCB60}"/>
              </a:ext>
            </a:extLst>
          </p:cNvPr>
          <p:cNvSpPr>
            <a:spLocks noGrp="1"/>
          </p:cNvSpPr>
          <p:nvPr/>
        </p:nvSpPr>
        <p:spPr>
          <a:xfrm>
            <a:off x="7010400" y="1082040"/>
            <a:ext cx="1181100" cy="25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60" b="1" dirty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8주차</a:t>
            </a:r>
          </a:p>
        </p:txBody>
      </p:sp>
      <p:sp>
        <p:nvSpPr>
          <p:cNvPr id="6" name="date-0">
            <a:extLst>
              <a:ext uri="{FF2B5EF4-FFF2-40B4-BE49-F238E27FC236}">
                <a16:creationId xmlns:a16="http://schemas.microsoft.com/office/drawing/2014/main" id="{BF3DB42E-E65D-46E8-BADF-160B9320A147}"/>
              </a:ext>
            </a:extLst>
          </p:cNvPr>
          <p:cNvSpPr>
            <a:spLocks noGrp="1"/>
          </p:cNvSpPr>
          <p:nvPr/>
        </p:nvSpPr>
        <p:spPr>
          <a:xfrm>
            <a:off x="7010400" y="1356360"/>
            <a:ext cx="11811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5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6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10/20</a:t>
            </a:r>
          </a:p>
        </p:txBody>
      </p:sp>
      <p:sp>
        <p:nvSpPr>
          <p:cNvPr id="7" name="week-1">
            <a:extLst>
              <a:ext uri="{FF2B5EF4-FFF2-40B4-BE49-F238E27FC236}">
                <a16:creationId xmlns:a16="http://schemas.microsoft.com/office/drawing/2014/main" id="{292D5F8F-5854-4A69-BA0B-F1183E3287C2}"/>
              </a:ext>
            </a:extLst>
          </p:cNvPr>
          <p:cNvSpPr>
            <a:spLocks noGrp="1"/>
          </p:cNvSpPr>
          <p:nvPr/>
        </p:nvSpPr>
        <p:spPr>
          <a:xfrm>
            <a:off x="8191500" y="1082040"/>
            <a:ext cx="1181100" cy="25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60" b="1" dirty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9주차</a:t>
            </a:r>
          </a:p>
        </p:txBody>
      </p:sp>
      <p:sp>
        <p:nvSpPr>
          <p:cNvPr id="8" name="date-1">
            <a:extLst>
              <a:ext uri="{FF2B5EF4-FFF2-40B4-BE49-F238E27FC236}">
                <a16:creationId xmlns:a16="http://schemas.microsoft.com/office/drawing/2014/main" id="{70839438-AD7E-4067-A53D-24227BBD1439}"/>
              </a:ext>
            </a:extLst>
          </p:cNvPr>
          <p:cNvSpPr>
            <a:spLocks noGrp="1"/>
          </p:cNvSpPr>
          <p:nvPr/>
        </p:nvSpPr>
        <p:spPr>
          <a:xfrm>
            <a:off x="8191500" y="1356360"/>
            <a:ext cx="11811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5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6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10/27</a:t>
            </a:r>
          </a:p>
        </p:txBody>
      </p:sp>
      <p:sp>
        <p:nvSpPr>
          <p:cNvPr id="9" name="week-2">
            <a:extLst>
              <a:ext uri="{FF2B5EF4-FFF2-40B4-BE49-F238E27FC236}">
                <a16:creationId xmlns:a16="http://schemas.microsoft.com/office/drawing/2014/main" id="{663295CE-B392-41DE-8F12-FEA98049FD96}"/>
              </a:ext>
            </a:extLst>
          </p:cNvPr>
          <p:cNvSpPr>
            <a:spLocks noGrp="1"/>
          </p:cNvSpPr>
          <p:nvPr/>
        </p:nvSpPr>
        <p:spPr>
          <a:xfrm>
            <a:off x="9372600" y="1082040"/>
            <a:ext cx="1181100" cy="25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60" b="1" dirty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10주차</a:t>
            </a:r>
          </a:p>
        </p:txBody>
      </p:sp>
      <p:sp>
        <p:nvSpPr>
          <p:cNvPr id="10" name="date-2">
            <a:extLst>
              <a:ext uri="{FF2B5EF4-FFF2-40B4-BE49-F238E27FC236}">
                <a16:creationId xmlns:a16="http://schemas.microsoft.com/office/drawing/2014/main" id="{F9FD3177-CB3F-4614-B20F-6B698D6B829A}"/>
              </a:ext>
            </a:extLst>
          </p:cNvPr>
          <p:cNvSpPr>
            <a:spLocks noGrp="1"/>
          </p:cNvSpPr>
          <p:nvPr/>
        </p:nvSpPr>
        <p:spPr>
          <a:xfrm>
            <a:off x="9372600" y="1356360"/>
            <a:ext cx="11811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5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6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11/3</a:t>
            </a:r>
          </a:p>
        </p:txBody>
      </p:sp>
      <p:sp>
        <p:nvSpPr>
          <p:cNvPr id="11" name="week-3">
            <a:extLst>
              <a:ext uri="{FF2B5EF4-FFF2-40B4-BE49-F238E27FC236}">
                <a16:creationId xmlns:a16="http://schemas.microsoft.com/office/drawing/2014/main" id="{DE0D2331-24A2-4F99-88F7-4807C60BFE90}"/>
              </a:ext>
            </a:extLst>
          </p:cNvPr>
          <p:cNvSpPr>
            <a:spLocks noGrp="1"/>
          </p:cNvSpPr>
          <p:nvPr/>
        </p:nvSpPr>
        <p:spPr>
          <a:xfrm>
            <a:off x="10553700" y="1082040"/>
            <a:ext cx="1181100" cy="25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60" b="1" dirty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11주차</a:t>
            </a:r>
          </a:p>
        </p:txBody>
      </p:sp>
      <p:sp>
        <p:nvSpPr>
          <p:cNvPr id="12" name="date-3">
            <a:extLst>
              <a:ext uri="{FF2B5EF4-FFF2-40B4-BE49-F238E27FC236}">
                <a16:creationId xmlns:a16="http://schemas.microsoft.com/office/drawing/2014/main" id="{CC2FF15E-A0E9-4B45-AD11-44C286A315B4}"/>
              </a:ext>
            </a:extLst>
          </p:cNvPr>
          <p:cNvSpPr>
            <a:spLocks noGrp="1"/>
          </p:cNvSpPr>
          <p:nvPr/>
        </p:nvSpPr>
        <p:spPr>
          <a:xfrm>
            <a:off x="10553700" y="1356360"/>
            <a:ext cx="11811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ctr">
              <a:defRPr sz="15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6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11/10</a:t>
            </a:r>
          </a:p>
        </p:txBody>
      </p:sp>
      <p:sp>
        <p:nvSpPr>
          <p:cNvPr id="13" name="header-rule">
            <a:extLst>
              <a:ext uri="{FF2B5EF4-FFF2-40B4-BE49-F238E27FC236}">
                <a16:creationId xmlns:a16="http://schemas.microsoft.com/office/drawing/2014/main" id="{A5EAE790-CF74-456F-A6A0-61CC0585D86C}"/>
              </a:ext>
            </a:extLst>
          </p:cNvPr>
          <p:cNvSpPr>
            <a:spLocks noGrp="1"/>
          </p:cNvSpPr>
          <p:nvPr/>
        </p:nvSpPr>
        <p:spPr>
          <a:xfrm>
            <a:off x="457200" y="1569720"/>
            <a:ext cx="11277600" cy="1524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ime-grid-0">
            <a:extLst>
              <a:ext uri="{FF2B5EF4-FFF2-40B4-BE49-F238E27FC236}">
                <a16:creationId xmlns:a16="http://schemas.microsoft.com/office/drawing/2014/main" id="{675AD1B2-0354-44CF-811E-CA066FA21064}"/>
              </a:ext>
            </a:extLst>
          </p:cNvPr>
          <p:cNvSpPr>
            <a:spLocks noGrp="1"/>
          </p:cNvSpPr>
          <p:nvPr/>
        </p:nvSpPr>
        <p:spPr>
          <a:xfrm>
            <a:off x="7010400" y="1584960"/>
            <a:ext cx="7620" cy="4572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ime-grid-1">
            <a:extLst>
              <a:ext uri="{FF2B5EF4-FFF2-40B4-BE49-F238E27FC236}">
                <a16:creationId xmlns:a16="http://schemas.microsoft.com/office/drawing/2014/main" id="{EFE20081-B70F-4F7E-B9A9-2062436959FD}"/>
              </a:ext>
            </a:extLst>
          </p:cNvPr>
          <p:cNvSpPr>
            <a:spLocks noGrp="1"/>
          </p:cNvSpPr>
          <p:nvPr/>
        </p:nvSpPr>
        <p:spPr>
          <a:xfrm>
            <a:off x="8191500" y="1584960"/>
            <a:ext cx="7620" cy="4572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ime-grid-2">
            <a:extLst>
              <a:ext uri="{FF2B5EF4-FFF2-40B4-BE49-F238E27FC236}">
                <a16:creationId xmlns:a16="http://schemas.microsoft.com/office/drawing/2014/main" id="{13821F01-E1C6-48E1-8B93-517AEC94FA38}"/>
              </a:ext>
            </a:extLst>
          </p:cNvPr>
          <p:cNvSpPr>
            <a:spLocks noGrp="1"/>
          </p:cNvSpPr>
          <p:nvPr/>
        </p:nvSpPr>
        <p:spPr>
          <a:xfrm>
            <a:off x="9372600" y="1584960"/>
            <a:ext cx="7620" cy="4572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ime-grid-3">
            <a:extLst>
              <a:ext uri="{FF2B5EF4-FFF2-40B4-BE49-F238E27FC236}">
                <a16:creationId xmlns:a16="http://schemas.microsoft.com/office/drawing/2014/main" id="{70DF0633-1F41-4C16-8DAB-F7158B03FD54}"/>
              </a:ext>
            </a:extLst>
          </p:cNvPr>
          <p:cNvSpPr>
            <a:spLocks noGrp="1"/>
          </p:cNvSpPr>
          <p:nvPr/>
        </p:nvSpPr>
        <p:spPr>
          <a:xfrm>
            <a:off x="10553700" y="1584960"/>
            <a:ext cx="7620" cy="4572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ime-grid-4">
            <a:extLst>
              <a:ext uri="{FF2B5EF4-FFF2-40B4-BE49-F238E27FC236}">
                <a16:creationId xmlns:a16="http://schemas.microsoft.com/office/drawing/2014/main" id="{17A78BC3-AFB0-46A6-86E0-40B5B2AECAF6}"/>
              </a:ext>
            </a:extLst>
          </p:cNvPr>
          <p:cNvSpPr>
            <a:spLocks noGrp="1"/>
          </p:cNvSpPr>
          <p:nvPr/>
        </p:nvSpPr>
        <p:spPr>
          <a:xfrm>
            <a:off x="11734800" y="1584960"/>
            <a:ext cx="7620" cy="4572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phase-bg-0">
            <a:extLst>
              <a:ext uri="{FF2B5EF4-FFF2-40B4-BE49-F238E27FC236}">
                <a16:creationId xmlns:a16="http://schemas.microsoft.com/office/drawing/2014/main" id="{04915424-BF32-41A0-9936-6A27D20137F0}"/>
              </a:ext>
            </a:extLst>
          </p:cNvPr>
          <p:cNvSpPr>
            <a:spLocks noGrp="1"/>
          </p:cNvSpPr>
          <p:nvPr/>
        </p:nvSpPr>
        <p:spPr>
          <a:xfrm>
            <a:off x="457200" y="1584960"/>
            <a:ext cx="1295400" cy="1143000"/>
          </a:xfrm>
          <a:prstGeom prst="rect">
            <a:avLst/>
          </a:prstGeom>
          <a:solidFill>
            <a:srgbClr val="F2F5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phase-0">
            <a:extLst>
              <a:ext uri="{FF2B5EF4-FFF2-40B4-BE49-F238E27FC236}">
                <a16:creationId xmlns:a16="http://schemas.microsoft.com/office/drawing/2014/main" id="{ADEE0562-C251-4171-9A76-E5F699A146DF}"/>
              </a:ext>
            </a:extLst>
          </p:cNvPr>
          <p:cNvSpPr>
            <a:spLocks noGrp="1"/>
          </p:cNvSpPr>
          <p:nvPr/>
        </p:nvSpPr>
        <p:spPr>
          <a:xfrm>
            <a:off x="563880" y="1775460"/>
            <a:ext cx="112776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4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설계 보완</a:t>
            </a:r>
          </a:p>
          <a:p>
            <a: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4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기반 기능</a:t>
            </a:r>
          </a:p>
        </p:txBody>
      </p:sp>
      <p:sp>
        <p:nvSpPr>
          <p:cNvPr id="21" name="task-0-0">
            <a:extLst>
              <a:ext uri="{FF2B5EF4-FFF2-40B4-BE49-F238E27FC236}">
                <a16:creationId xmlns:a16="http://schemas.microsoft.com/office/drawing/2014/main" id="{160D67CC-E6B8-42C1-B496-3E2327F474CB}"/>
              </a:ext>
            </a:extLst>
          </p:cNvPr>
          <p:cNvSpPr>
            <a:spLocks noGrp="1"/>
          </p:cNvSpPr>
          <p:nvPr/>
        </p:nvSpPr>
        <p:spPr>
          <a:xfrm>
            <a:off x="1905000" y="1600200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ERD·클래스 보완 및 API 명세 확정</a:t>
            </a:r>
          </a:p>
        </p:txBody>
      </p:sp>
      <p:sp>
        <p:nvSpPr>
          <p:cNvPr id="22" name="gantt-bar-0-0">
            <a:extLst>
              <a:ext uri="{FF2B5EF4-FFF2-40B4-BE49-F238E27FC236}">
                <a16:creationId xmlns:a16="http://schemas.microsoft.com/office/drawing/2014/main" id="{7E91F682-EBA1-403C-A03C-994D0FC4882B}"/>
              </a:ext>
            </a:extLst>
          </p:cNvPr>
          <p:cNvSpPr>
            <a:spLocks noGrp="1"/>
          </p:cNvSpPr>
          <p:nvPr/>
        </p:nvSpPr>
        <p:spPr>
          <a:xfrm>
            <a:off x="7109460" y="166116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ask-0-1">
            <a:extLst>
              <a:ext uri="{FF2B5EF4-FFF2-40B4-BE49-F238E27FC236}">
                <a16:creationId xmlns:a16="http://schemas.microsoft.com/office/drawing/2014/main" id="{F4BC7049-18CE-4C43-B5A0-C3588E2CFBA3}"/>
              </a:ext>
            </a:extLst>
          </p:cNvPr>
          <p:cNvSpPr>
            <a:spLocks noGrp="1"/>
          </p:cNvSpPr>
          <p:nvPr/>
        </p:nvSpPr>
        <p:spPr>
          <a:xfrm>
            <a:off x="1905000" y="1885951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개발 환경·데이터베이스 구축</a:t>
            </a:r>
          </a:p>
        </p:txBody>
      </p:sp>
      <p:sp>
        <p:nvSpPr>
          <p:cNvPr id="24" name="gantt-bar-0-1">
            <a:extLst>
              <a:ext uri="{FF2B5EF4-FFF2-40B4-BE49-F238E27FC236}">
                <a16:creationId xmlns:a16="http://schemas.microsoft.com/office/drawing/2014/main" id="{79F41871-B943-4222-9FE6-30D98E77081A}"/>
              </a:ext>
            </a:extLst>
          </p:cNvPr>
          <p:cNvSpPr>
            <a:spLocks noGrp="1"/>
          </p:cNvSpPr>
          <p:nvPr/>
        </p:nvSpPr>
        <p:spPr>
          <a:xfrm>
            <a:off x="7109460" y="194691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ask-0-2">
            <a:extLst>
              <a:ext uri="{FF2B5EF4-FFF2-40B4-BE49-F238E27FC236}">
                <a16:creationId xmlns:a16="http://schemas.microsoft.com/office/drawing/2014/main" id="{9DF64A24-CFF2-4CC7-820D-E3EA6B9B2D7F}"/>
              </a:ext>
            </a:extLst>
          </p:cNvPr>
          <p:cNvSpPr>
            <a:spLocks noGrp="1"/>
          </p:cNvSpPr>
          <p:nvPr/>
        </p:nvSpPr>
        <p:spPr>
          <a:xfrm>
            <a:off x="1905000" y="2171700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소셜 로그인·모임 생성</a:t>
            </a:r>
          </a:p>
        </p:txBody>
      </p:sp>
      <p:sp>
        <p:nvSpPr>
          <p:cNvPr id="26" name="gantt-bar-0-2">
            <a:extLst>
              <a:ext uri="{FF2B5EF4-FFF2-40B4-BE49-F238E27FC236}">
                <a16:creationId xmlns:a16="http://schemas.microsoft.com/office/drawing/2014/main" id="{2F8F83DB-6979-444E-92D8-8322096106A2}"/>
              </a:ext>
            </a:extLst>
          </p:cNvPr>
          <p:cNvSpPr>
            <a:spLocks noGrp="1"/>
          </p:cNvSpPr>
          <p:nvPr/>
        </p:nvSpPr>
        <p:spPr>
          <a:xfrm>
            <a:off x="7109460" y="223266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ask-0-3">
            <a:extLst>
              <a:ext uri="{FF2B5EF4-FFF2-40B4-BE49-F238E27FC236}">
                <a16:creationId xmlns:a16="http://schemas.microsoft.com/office/drawing/2014/main" id="{84F7ED6C-B332-4EA0-8FFF-CB579510D95A}"/>
              </a:ext>
            </a:extLst>
          </p:cNvPr>
          <p:cNvSpPr>
            <a:spLocks noGrp="1"/>
          </p:cNvSpPr>
          <p:nvPr/>
        </p:nvSpPr>
        <p:spPr>
          <a:xfrm>
            <a:off x="1905000" y="2457451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팀원 초대·수락 및 시간표 수기 입력</a:t>
            </a:r>
          </a:p>
        </p:txBody>
      </p:sp>
      <p:sp>
        <p:nvSpPr>
          <p:cNvPr id="28" name="gantt-bar-0-3">
            <a:extLst>
              <a:ext uri="{FF2B5EF4-FFF2-40B4-BE49-F238E27FC236}">
                <a16:creationId xmlns:a16="http://schemas.microsoft.com/office/drawing/2014/main" id="{E8E9B896-EB55-4336-95CA-60429E6F69B5}"/>
              </a:ext>
            </a:extLst>
          </p:cNvPr>
          <p:cNvSpPr>
            <a:spLocks noGrp="1"/>
          </p:cNvSpPr>
          <p:nvPr/>
        </p:nvSpPr>
        <p:spPr>
          <a:xfrm>
            <a:off x="7109460" y="251841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phase-rule-0">
            <a:extLst>
              <a:ext uri="{FF2B5EF4-FFF2-40B4-BE49-F238E27FC236}">
                <a16:creationId xmlns:a16="http://schemas.microsoft.com/office/drawing/2014/main" id="{F6C7B455-82E7-426F-8657-33F9C37F14D3}"/>
              </a:ext>
            </a:extLst>
          </p:cNvPr>
          <p:cNvSpPr>
            <a:spLocks noGrp="1"/>
          </p:cNvSpPr>
          <p:nvPr/>
        </p:nvSpPr>
        <p:spPr>
          <a:xfrm>
            <a:off x="457200" y="2727960"/>
            <a:ext cx="11277600" cy="762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phase-bg-1">
            <a:extLst>
              <a:ext uri="{FF2B5EF4-FFF2-40B4-BE49-F238E27FC236}">
                <a16:creationId xmlns:a16="http://schemas.microsoft.com/office/drawing/2014/main" id="{C2C3F677-B5D1-4150-936A-98FB4DF56738}"/>
              </a:ext>
            </a:extLst>
          </p:cNvPr>
          <p:cNvSpPr>
            <a:spLocks noGrp="1"/>
          </p:cNvSpPr>
          <p:nvPr/>
        </p:nvSpPr>
        <p:spPr>
          <a:xfrm>
            <a:off x="457200" y="2727960"/>
            <a:ext cx="1295400" cy="1143000"/>
          </a:xfrm>
          <a:prstGeom prst="rect">
            <a:avLst/>
          </a:prstGeom>
          <a:solidFill>
            <a:srgbClr val="F2F5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phase-1">
            <a:extLst>
              <a:ext uri="{FF2B5EF4-FFF2-40B4-BE49-F238E27FC236}">
                <a16:creationId xmlns:a16="http://schemas.microsoft.com/office/drawing/2014/main" id="{95EA419C-C3C8-40F2-B683-50ACA4FDBE67}"/>
              </a:ext>
            </a:extLst>
          </p:cNvPr>
          <p:cNvSpPr>
            <a:spLocks noGrp="1"/>
          </p:cNvSpPr>
          <p:nvPr/>
        </p:nvSpPr>
        <p:spPr>
          <a:xfrm>
            <a:off x="563880" y="2918460"/>
            <a:ext cx="112776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4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시간표 처리</a:t>
            </a:r>
          </a:p>
          <a:p>
            <a: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4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공강 추천</a:t>
            </a:r>
          </a:p>
        </p:txBody>
      </p:sp>
      <p:sp>
        <p:nvSpPr>
          <p:cNvPr id="32" name="task-1-0">
            <a:extLst>
              <a:ext uri="{FF2B5EF4-FFF2-40B4-BE49-F238E27FC236}">
                <a16:creationId xmlns:a16="http://schemas.microsoft.com/office/drawing/2014/main" id="{FBADE650-D9EA-467F-A597-DE425525A54D}"/>
              </a:ext>
            </a:extLst>
          </p:cNvPr>
          <p:cNvSpPr>
            <a:spLocks noGrp="1"/>
          </p:cNvSpPr>
          <p:nvPr/>
        </p:nvSpPr>
        <p:spPr>
          <a:xfrm>
            <a:off x="1905000" y="2743200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시간표 이미지 인식·인식 결과 수정</a:t>
            </a:r>
          </a:p>
        </p:txBody>
      </p:sp>
      <p:sp>
        <p:nvSpPr>
          <p:cNvPr id="33" name="gantt-bar-1-0">
            <a:extLst>
              <a:ext uri="{FF2B5EF4-FFF2-40B4-BE49-F238E27FC236}">
                <a16:creationId xmlns:a16="http://schemas.microsoft.com/office/drawing/2014/main" id="{F8B62230-5AC2-4365-BB22-5A126F17AA55}"/>
              </a:ext>
            </a:extLst>
          </p:cNvPr>
          <p:cNvSpPr>
            <a:spLocks noGrp="1"/>
          </p:cNvSpPr>
          <p:nvPr/>
        </p:nvSpPr>
        <p:spPr>
          <a:xfrm>
            <a:off x="8290560" y="280416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ask-1-1">
            <a:extLst>
              <a:ext uri="{FF2B5EF4-FFF2-40B4-BE49-F238E27FC236}">
                <a16:creationId xmlns:a16="http://schemas.microsoft.com/office/drawing/2014/main" id="{EB1848B6-5E57-4459-A6B6-1413C53096B3}"/>
              </a:ext>
            </a:extLst>
          </p:cNvPr>
          <p:cNvSpPr>
            <a:spLocks noGrp="1"/>
          </p:cNvSpPr>
          <p:nvPr/>
        </p:nvSpPr>
        <p:spPr>
          <a:xfrm>
            <a:off x="1905000" y="3028951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비트 벡터 변환</a:t>
            </a:r>
          </a:p>
        </p:txBody>
      </p:sp>
      <p:sp>
        <p:nvSpPr>
          <p:cNvPr id="35" name="gantt-bar-1-1">
            <a:extLst>
              <a:ext uri="{FF2B5EF4-FFF2-40B4-BE49-F238E27FC236}">
                <a16:creationId xmlns:a16="http://schemas.microsoft.com/office/drawing/2014/main" id="{A50A099F-4F06-4CC2-AA54-A5A89534CCD4}"/>
              </a:ext>
            </a:extLst>
          </p:cNvPr>
          <p:cNvSpPr>
            <a:spLocks noGrp="1"/>
          </p:cNvSpPr>
          <p:nvPr/>
        </p:nvSpPr>
        <p:spPr>
          <a:xfrm>
            <a:off x="8290560" y="308991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ask-1-2">
            <a:extLst>
              <a:ext uri="{FF2B5EF4-FFF2-40B4-BE49-F238E27FC236}">
                <a16:creationId xmlns:a16="http://schemas.microsoft.com/office/drawing/2014/main" id="{430B2F77-F35F-4B4D-B83E-44FAA6A32BB5}"/>
              </a:ext>
            </a:extLst>
          </p:cNvPr>
          <p:cNvSpPr>
            <a:spLocks noGrp="1"/>
          </p:cNvSpPr>
          <p:nvPr/>
        </p:nvSpPr>
        <p:spPr>
          <a:xfrm>
            <a:off x="1905000" y="3314700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이동 여유·최소 회의 시간을 반영한 공강 계산</a:t>
            </a:r>
          </a:p>
        </p:txBody>
      </p:sp>
      <p:sp>
        <p:nvSpPr>
          <p:cNvPr id="37" name="gantt-bar-1-2">
            <a:extLst>
              <a:ext uri="{FF2B5EF4-FFF2-40B4-BE49-F238E27FC236}">
                <a16:creationId xmlns:a16="http://schemas.microsoft.com/office/drawing/2014/main" id="{B0B3676F-B60B-4C3C-B701-4475FA9FB60D}"/>
              </a:ext>
            </a:extLst>
          </p:cNvPr>
          <p:cNvSpPr>
            <a:spLocks noGrp="1"/>
          </p:cNvSpPr>
          <p:nvPr/>
        </p:nvSpPr>
        <p:spPr>
          <a:xfrm>
            <a:off x="8290560" y="337566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ask-1-3">
            <a:extLst>
              <a:ext uri="{FF2B5EF4-FFF2-40B4-BE49-F238E27FC236}">
                <a16:creationId xmlns:a16="http://schemas.microsoft.com/office/drawing/2014/main" id="{711AB992-5BA8-46EC-99A4-11291D872147}"/>
              </a:ext>
            </a:extLst>
          </p:cNvPr>
          <p:cNvSpPr>
            <a:spLocks noGrp="1"/>
          </p:cNvSpPr>
          <p:nvPr/>
        </p:nvSpPr>
        <p:spPr>
          <a:xfrm>
            <a:off x="1905000" y="3600451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상위 후보·차선안 추천</a:t>
            </a:r>
          </a:p>
        </p:txBody>
      </p:sp>
      <p:sp>
        <p:nvSpPr>
          <p:cNvPr id="39" name="gantt-bar-1-3">
            <a:extLst>
              <a:ext uri="{FF2B5EF4-FFF2-40B4-BE49-F238E27FC236}">
                <a16:creationId xmlns:a16="http://schemas.microsoft.com/office/drawing/2014/main" id="{54400AEE-6257-46AC-A490-13426BA2F389}"/>
              </a:ext>
            </a:extLst>
          </p:cNvPr>
          <p:cNvSpPr>
            <a:spLocks noGrp="1"/>
          </p:cNvSpPr>
          <p:nvPr/>
        </p:nvSpPr>
        <p:spPr>
          <a:xfrm>
            <a:off x="8290560" y="366141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phase-rule-1">
            <a:extLst>
              <a:ext uri="{FF2B5EF4-FFF2-40B4-BE49-F238E27FC236}">
                <a16:creationId xmlns:a16="http://schemas.microsoft.com/office/drawing/2014/main" id="{9F0A33F7-CDB1-4E76-ACDB-6D38EFDDB2FF}"/>
              </a:ext>
            </a:extLst>
          </p:cNvPr>
          <p:cNvSpPr>
            <a:spLocks noGrp="1"/>
          </p:cNvSpPr>
          <p:nvPr/>
        </p:nvSpPr>
        <p:spPr>
          <a:xfrm>
            <a:off x="457200" y="3870960"/>
            <a:ext cx="11277600" cy="762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phase-bg-2">
            <a:extLst>
              <a:ext uri="{FF2B5EF4-FFF2-40B4-BE49-F238E27FC236}">
                <a16:creationId xmlns:a16="http://schemas.microsoft.com/office/drawing/2014/main" id="{593C9F9D-5791-49EB-9007-71A4F5C09DB6}"/>
              </a:ext>
            </a:extLst>
          </p:cNvPr>
          <p:cNvSpPr>
            <a:spLocks noGrp="1"/>
          </p:cNvSpPr>
          <p:nvPr/>
        </p:nvSpPr>
        <p:spPr>
          <a:xfrm>
            <a:off x="457200" y="3870960"/>
            <a:ext cx="1295400" cy="1143000"/>
          </a:xfrm>
          <a:prstGeom prst="rect">
            <a:avLst/>
          </a:prstGeom>
          <a:solidFill>
            <a:srgbClr val="F2F5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phase-2">
            <a:extLst>
              <a:ext uri="{FF2B5EF4-FFF2-40B4-BE49-F238E27FC236}">
                <a16:creationId xmlns:a16="http://schemas.microsoft.com/office/drawing/2014/main" id="{EF038276-4225-4C7A-9E0E-B7426745A8FD}"/>
              </a:ext>
            </a:extLst>
          </p:cNvPr>
          <p:cNvSpPr>
            <a:spLocks noGrp="1"/>
          </p:cNvSpPr>
          <p:nvPr/>
        </p:nvSpPr>
        <p:spPr>
          <a:xfrm>
            <a:off x="563880" y="4061460"/>
            <a:ext cx="112776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4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투표·연동</a:t>
            </a:r>
          </a:p>
          <a:p>
            <a: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4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통합 테스트</a:t>
            </a:r>
          </a:p>
        </p:txBody>
      </p:sp>
      <p:sp>
        <p:nvSpPr>
          <p:cNvPr id="43" name="task-2-0">
            <a:extLst>
              <a:ext uri="{FF2B5EF4-FFF2-40B4-BE49-F238E27FC236}">
                <a16:creationId xmlns:a16="http://schemas.microsoft.com/office/drawing/2014/main" id="{2F1F00FA-3608-4295-938A-45D332C3956E}"/>
              </a:ext>
            </a:extLst>
          </p:cNvPr>
          <p:cNvSpPr>
            <a:spLocks noGrp="1"/>
          </p:cNvSpPr>
          <p:nvPr/>
        </p:nvSpPr>
        <p:spPr>
          <a:xfrm>
            <a:off x="1905000" y="3886200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투표·집계</a:t>
            </a:r>
          </a:p>
        </p:txBody>
      </p:sp>
      <p:sp>
        <p:nvSpPr>
          <p:cNvPr id="44" name="gantt-bar-2-0">
            <a:extLst>
              <a:ext uri="{FF2B5EF4-FFF2-40B4-BE49-F238E27FC236}">
                <a16:creationId xmlns:a16="http://schemas.microsoft.com/office/drawing/2014/main" id="{A8183AA3-F1EF-473A-AF38-644402D41E98}"/>
              </a:ext>
            </a:extLst>
          </p:cNvPr>
          <p:cNvSpPr>
            <a:spLocks noGrp="1"/>
          </p:cNvSpPr>
          <p:nvPr/>
        </p:nvSpPr>
        <p:spPr>
          <a:xfrm>
            <a:off x="9471660" y="394716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ask-2-1">
            <a:extLst>
              <a:ext uri="{FF2B5EF4-FFF2-40B4-BE49-F238E27FC236}">
                <a16:creationId xmlns:a16="http://schemas.microsoft.com/office/drawing/2014/main" id="{26880C1A-5330-47D1-A6E4-4B4FEB250A08}"/>
              </a:ext>
            </a:extLst>
          </p:cNvPr>
          <p:cNvSpPr>
            <a:spLocks noGrp="1"/>
          </p:cNvSpPr>
          <p:nvPr/>
        </p:nvSpPr>
        <p:spPr>
          <a:xfrm>
            <a:off x="1905000" y="4171951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일정 확정 전 재검사·재계산</a:t>
            </a:r>
          </a:p>
        </p:txBody>
      </p:sp>
      <p:sp>
        <p:nvSpPr>
          <p:cNvPr id="46" name="gantt-bar-2-1">
            <a:extLst>
              <a:ext uri="{FF2B5EF4-FFF2-40B4-BE49-F238E27FC236}">
                <a16:creationId xmlns:a16="http://schemas.microsoft.com/office/drawing/2014/main" id="{7041B39D-EEF7-4125-AEB8-3D2A2ED036EF}"/>
              </a:ext>
            </a:extLst>
          </p:cNvPr>
          <p:cNvSpPr>
            <a:spLocks noGrp="1"/>
          </p:cNvSpPr>
          <p:nvPr/>
        </p:nvSpPr>
        <p:spPr>
          <a:xfrm>
            <a:off x="9471660" y="423291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ask-2-2">
            <a:extLst>
              <a:ext uri="{FF2B5EF4-FFF2-40B4-BE49-F238E27FC236}">
                <a16:creationId xmlns:a16="http://schemas.microsoft.com/office/drawing/2014/main" id="{DEA33249-EB21-4023-886C-D6AE3D21EA9B}"/>
              </a:ext>
            </a:extLst>
          </p:cNvPr>
          <p:cNvSpPr>
            <a:spLocks noGrp="1"/>
          </p:cNvSpPr>
          <p:nvPr/>
        </p:nvSpPr>
        <p:spPr>
          <a:xfrm>
            <a:off x="1905000" y="4457700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컬러맵 시각화·전체 화면과 서버 연동</a:t>
            </a:r>
          </a:p>
        </p:txBody>
      </p:sp>
      <p:sp>
        <p:nvSpPr>
          <p:cNvPr id="48" name="gantt-bar-2-2">
            <a:extLst>
              <a:ext uri="{FF2B5EF4-FFF2-40B4-BE49-F238E27FC236}">
                <a16:creationId xmlns:a16="http://schemas.microsoft.com/office/drawing/2014/main" id="{BEAE469B-D26C-4856-835E-3AC0A32E498B}"/>
              </a:ext>
            </a:extLst>
          </p:cNvPr>
          <p:cNvSpPr>
            <a:spLocks noGrp="1"/>
          </p:cNvSpPr>
          <p:nvPr/>
        </p:nvSpPr>
        <p:spPr>
          <a:xfrm>
            <a:off x="9471660" y="451866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ask-2-3">
            <a:extLst>
              <a:ext uri="{FF2B5EF4-FFF2-40B4-BE49-F238E27FC236}">
                <a16:creationId xmlns:a16="http://schemas.microsoft.com/office/drawing/2014/main" id="{158C01CB-C988-455E-B4D7-DCD9A4A691A0}"/>
              </a:ext>
            </a:extLst>
          </p:cNvPr>
          <p:cNvSpPr>
            <a:spLocks noGrp="1"/>
          </p:cNvSpPr>
          <p:nvPr/>
        </p:nvSpPr>
        <p:spPr>
          <a:xfrm>
            <a:off x="1905000" y="4743451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주요 이용 흐름 통합 테스트</a:t>
            </a:r>
          </a:p>
        </p:txBody>
      </p:sp>
      <p:sp>
        <p:nvSpPr>
          <p:cNvPr id="50" name="gantt-bar-2-3">
            <a:extLst>
              <a:ext uri="{FF2B5EF4-FFF2-40B4-BE49-F238E27FC236}">
                <a16:creationId xmlns:a16="http://schemas.microsoft.com/office/drawing/2014/main" id="{1D824DA8-44C2-4E81-A9DD-EA980AFD94E8}"/>
              </a:ext>
            </a:extLst>
          </p:cNvPr>
          <p:cNvSpPr>
            <a:spLocks noGrp="1"/>
          </p:cNvSpPr>
          <p:nvPr/>
        </p:nvSpPr>
        <p:spPr>
          <a:xfrm>
            <a:off x="9471660" y="480441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phase-rule-2">
            <a:extLst>
              <a:ext uri="{FF2B5EF4-FFF2-40B4-BE49-F238E27FC236}">
                <a16:creationId xmlns:a16="http://schemas.microsoft.com/office/drawing/2014/main" id="{AC10AD63-F026-4CCB-80A5-B2C2A397F524}"/>
              </a:ext>
            </a:extLst>
          </p:cNvPr>
          <p:cNvSpPr>
            <a:spLocks noGrp="1"/>
          </p:cNvSpPr>
          <p:nvPr/>
        </p:nvSpPr>
        <p:spPr>
          <a:xfrm>
            <a:off x="457200" y="5013960"/>
            <a:ext cx="11277600" cy="762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phase-bg-3">
            <a:extLst>
              <a:ext uri="{FF2B5EF4-FFF2-40B4-BE49-F238E27FC236}">
                <a16:creationId xmlns:a16="http://schemas.microsoft.com/office/drawing/2014/main" id="{EEC07A73-8D29-4849-972F-54ACE0831FAD}"/>
              </a:ext>
            </a:extLst>
          </p:cNvPr>
          <p:cNvSpPr>
            <a:spLocks noGrp="1"/>
          </p:cNvSpPr>
          <p:nvPr/>
        </p:nvSpPr>
        <p:spPr>
          <a:xfrm>
            <a:off x="457200" y="5013960"/>
            <a:ext cx="1295400" cy="1143000"/>
          </a:xfrm>
          <a:prstGeom prst="rect">
            <a:avLst/>
          </a:prstGeom>
          <a:solidFill>
            <a:srgbClr val="F2F5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phase-3">
            <a:extLst>
              <a:ext uri="{FF2B5EF4-FFF2-40B4-BE49-F238E27FC236}">
                <a16:creationId xmlns:a16="http://schemas.microsoft.com/office/drawing/2014/main" id="{978EF623-7A18-4B22-8831-796071303DFF}"/>
              </a:ext>
            </a:extLst>
          </p:cNvPr>
          <p:cNvSpPr>
            <a:spLocks noGrp="1"/>
          </p:cNvSpPr>
          <p:nvPr/>
        </p:nvSpPr>
        <p:spPr>
          <a:xfrm>
            <a:off x="563880" y="5204460"/>
            <a:ext cx="112776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4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검증·개선</a:t>
            </a:r>
          </a:p>
          <a:p>
            <a: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4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최종 제출</a:t>
            </a:r>
          </a:p>
        </p:txBody>
      </p:sp>
      <p:sp>
        <p:nvSpPr>
          <p:cNvPr id="54" name="task-3-0">
            <a:extLst>
              <a:ext uri="{FF2B5EF4-FFF2-40B4-BE49-F238E27FC236}">
                <a16:creationId xmlns:a16="http://schemas.microsoft.com/office/drawing/2014/main" id="{117650CC-DA52-45DF-8578-A1B47D8F2790}"/>
              </a:ext>
            </a:extLst>
          </p:cNvPr>
          <p:cNvSpPr>
            <a:spLocks noGrp="1"/>
          </p:cNvSpPr>
          <p:nvPr/>
        </p:nvSpPr>
        <p:spPr>
          <a:xfrm>
            <a:off x="1905000" y="5029200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알고리즘 정확도·성능·예외 처리 검증</a:t>
            </a:r>
          </a:p>
        </p:txBody>
      </p:sp>
      <p:sp>
        <p:nvSpPr>
          <p:cNvPr id="55" name="gantt-bar-3-0">
            <a:extLst>
              <a:ext uri="{FF2B5EF4-FFF2-40B4-BE49-F238E27FC236}">
                <a16:creationId xmlns:a16="http://schemas.microsoft.com/office/drawing/2014/main" id="{9968CA8B-AB19-43B4-8990-760191BB32F6}"/>
              </a:ext>
            </a:extLst>
          </p:cNvPr>
          <p:cNvSpPr>
            <a:spLocks noGrp="1"/>
          </p:cNvSpPr>
          <p:nvPr/>
        </p:nvSpPr>
        <p:spPr>
          <a:xfrm>
            <a:off x="10652760" y="509016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ask-3-1">
            <a:extLst>
              <a:ext uri="{FF2B5EF4-FFF2-40B4-BE49-F238E27FC236}">
                <a16:creationId xmlns:a16="http://schemas.microsoft.com/office/drawing/2014/main" id="{93B32A1C-14BA-486B-A30B-540B5FDA55FD}"/>
              </a:ext>
            </a:extLst>
          </p:cNvPr>
          <p:cNvSpPr>
            <a:spLocks noGrp="1"/>
          </p:cNvSpPr>
          <p:nvPr/>
        </p:nvSpPr>
        <p:spPr>
          <a:xfrm>
            <a:off x="1905000" y="5314951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오류 수정·사용자 피드백 반영</a:t>
            </a:r>
          </a:p>
        </p:txBody>
      </p:sp>
      <p:sp>
        <p:nvSpPr>
          <p:cNvPr id="57" name="gantt-bar-3-1">
            <a:extLst>
              <a:ext uri="{FF2B5EF4-FFF2-40B4-BE49-F238E27FC236}">
                <a16:creationId xmlns:a16="http://schemas.microsoft.com/office/drawing/2014/main" id="{67EC46FF-B08F-4FB5-B3EF-ECAA71F54417}"/>
              </a:ext>
            </a:extLst>
          </p:cNvPr>
          <p:cNvSpPr>
            <a:spLocks noGrp="1"/>
          </p:cNvSpPr>
          <p:nvPr/>
        </p:nvSpPr>
        <p:spPr>
          <a:xfrm>
            <a:off x="10652760" y="537591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ask-3-2">
            <a:extLst>
              <a:ext uri="{FF2B5EF4-FFF2-40B4-BE49-F238E27FC236}">
                <a16:creationId xmlns:a16="http://schemas.microsoft.com/office/drawing/2014/main" id="{54533DE6-1125-49E3-8EDB-C5EA251E502C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최종 동작 점검·배포</a:t>
            </a:r>
          </a:p>
        </p:txBody>
      </p:sp>
      <p:sp>
        <p:nvSpPr>
          <p:cNvPr id="59" name="gantt-bar-3-2">
            <a:extLst>
              <a:ext uri="{FF2B5EF4-FFF2-40B4-BE49-F238E27FC236}">
                <a16:creationId xmlns:a16="http://schemas.microsoft.com/office/drawing/2014/main" id="{410CC9CD-B27D-4C00-A86E-1AC0B7821B0D}"/>
              </a:ext>
            </a:extLst>
          </p:cNvPr>
          <p:cNvSpPr>
            <a:spLocks noGrp="1"/>
          </p:cNvSpPr>
          <p:nvPr/>
        </p:nvSpPr>
        <p:spPr>
          <a:xfrm>
            <a:off x="10652760" y="566166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ask-3-3">
            <a:extLst>
              <a:ext uri="{FF2B5EF4-FFF2-40B4-BE49-F238E27FC236}">
                <a16:creationId xmlns:a16="http://schemas.microsoft.com/office/drawing/2014/main" id="{5FA7C062-E21B-4125-959C-6F85672C6D0F}"/>
              </a:ext>
            </a:extLst>
          </p:cNvPr>
          <p:cNvSpPr>
            <a:spLocks noGrp="1"/>
          </p:cNvSpPr>
          <p:nvPr/>
        </p:nvSpPr>
        <p:spPr>
          <a:xfrm>
            <a:off x="1905000" y="5886451"/>
            <a:ext cx="4953000" cy="2552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7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8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최종 보고서 작성·시연 준비</a:t>
            </a:r>
          </a:p>
        </p:txBody>
      </p:sp>
      <p:sp>
        <p:nvSpPr>
          <p:cNvPr id="61" name="gantt-bar-3-3">
            <a:extLst>
              <a:ext uri="{FF2B5EF4-FFF2-40B4-BE49-F238E27FC236}">
                <a16:creationId xmlns:a16="http://schemas.microsoft.com/office/drawing/2014/main" id="{23589EF3-17EA-48A7-8F76-96EEB1312A9F}"/>
              </a:ext>
            </a:extLst>
          </p:cNvPr>
          <p:cNvSpPr>
            <a:spLocks noGrp="1"/>
          </p:cNvSpPr>
          <p:nvPr/>
        </p:nvSpPr>
        <p:spPr>
          <a:xfrm>
            <a:off x="10652760" y="5947410"/>
            <a:ext cx="982980" cy="137160"/>
          </a:xfrm>
          <a:prstGeom prst="rect">
            <a:avLst/>
          </a:prstGeom>
          <a:solidFill>
            <a:srgbClr val="4C63B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phase-rule-3">
            <a:extLst>
              <a:ext uri="{FF2B5EF4-FFF2-40B4-BE49-F238E27FC236}">
                <a16:creationId xmlns:a16="http://schemas.microsoft.com/office/drawing/2014/main" id="{172854B8-A316-4203-B7AE-A2AACF5A09F4}"/>
              </a:ext>
            </a:extLst>
          </p:cNvPr>
          <p:cNvSpPr>
            <a:spLocks noGrp="1"/>
          </p:cNvSpPr>
          <p:nvPr/>
        </p:nvSpPr>
        <p:spPr>
          <a:xfrm>
            <a:off x="457200" y="6156960"/>
            <a:ext cx="11277600" cy="762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footnote">
            <a:extLst>
              <a:ext uri="{FF2B5EF4-FFF2-40B4-BE49-F238E27FC236}">
                <a16:creationId xmlns:a16="http://schemas.microsoft.com/office/drawing/2014/main" id="{99CC951F-51E1-4F3D-9B5F-D2E315BD73FB}"/>
              </a:ext>
            </a:extLst>
          </p:cNvPr>
          <p:cNvSpPr>
            <a:spLocks noGrp="1"/>
          </p:cNvSpPr>
          <p:nvPr/>
        </p:nvSpPr>
        <p:spPr>
          <a:xfrm>
            <a:off x="472440" y="6377940"/>
            <a:ext cx="9144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 algn="l"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8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막대는 작업 예정 주차를 나타냅니다.</a:t>
            </a:r>
          </a:p>
        </p:txBody>
      </p:sp>
    </p:spTree>
    <p:extLst>
      <p:ext uri="{BB962C8B-B14F-4D97-AF65-F5344CB8AC3E}">
        <p14:creationId xmlns:p14="http://schemas.microsoft.com/office/powerpoint/2010/main" val="1281393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2EC392B-508A-4428-9EC9-07702CEF71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F172A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38B5AC-35D5-4675-9B32-A30F3F5A462B}"/>
              </a:ext>
            </a:extLst>
          </p:cNvPr>
          <p:cNvSpPr>
            <a:spLocks noGrp="1"/>
          </p:cNvSpPr>
          <p:nvPr/>
        </p:nvSpPr>
        <p:spPr>
          <a:xfrm>
            <a:off x="4491037" y="4043362"/>
            <a:ext cx="3209925" cy="533400"/>
          </a:xfrm>
          <a:custGeom>
            <a:avLst/>
            <a:gdLst/>
            <a:ahLst/>
            <a:cxnLst/>
            <a:rect l="l" t="t" r="r" b="b"/>
            <a:pathLst>
              <a:path w="3209925" h="533400">
                <a:moveTo>
                  <a:pt x="2943224" y="533399"/>
                </a:moveTo>
                <a:lnTo>
                  <a:pt x="266699" y="533399"/>
                </a:lnTo>
                <a:lnTo>
                  <a:pt x="218760" y="529103"/>
                </a:lnTo>
                <a:lnTo>
                  <a:pt x="173639" y="516714"/>
                </a:lnTo>
                <a:lnTo>
                  <a:pt x="132091" y="496987"/>
                </a:lnTo>
                <a:lnTo>
                  <a:pt x="94868" y="470675"/>
                </a:lnTo>
                <a:lnTo>
                  <a:pt x="62724" y="438531"/>
                </a:lnTo>
                <a:lnTo>
                  <a:pt x="36412" y="401308"/>
                </a:lnTo>
                <a:lnTo>
                  <a:pt x="16685" y="359760"/>
                </a:lnTo>
                <a:lnTo>
                  <a:pt x="4296" y="314639"/>
                </a:lnTo>
                <a:lnTo>
                  <a:pt x="0" y="266699"/>
                </a:lnTo>
                <a:lnTo>
                  <a:pt x="4296" y="218760"/>
                </a:lnTo>
                <a:lnTo>
                  <a:pt x="16685" y="173639"/>
                </a:lnTo>
                <a:lnTo>
                  <a:pt x="36412" y="132091"/>
                </a:lnTo>
                <a:lnTo>
                  <a:pt x="62724" y="94868"/>
                </a:lnTo>
                <a:lnTo>
                  <a:pt x="94868" y="62724"/>
                </a:lnTo>
                <a:lnTo>
                  <a:pt x="132091" y="36412"/>
                </a:lnTo>
                <a:lnTo>
                  <a:pt x="173639" y="16685"/>
                </a:lnTo>
                <a:lnTo>
                  <a:pt x="218760" y="4296"/>
                </a:lnTo>
                <a:lnTo>
                  <a:pt x="266699" y="0"/>
                </a:lnTo>
                <a:lnTo>
                  <a:pt x="2943224" y="0"/>
                </a:lnTo>
                <a:lnTo>
                  <a:pt x="2995498" y="5171"/>
                </a:lnTo>
                <a:lnTo>
                  <a:pt x="3045286" y="20301"/>
                </a:lnTo>
                <a:lnTo>
                  <a:pt x="3091190" y="44808"/>
                </a:lnTo>
                <a:lnTo>
                  <a:pt x="3131810" y="78114"/>
                </a:lnTo>
                <a:lnTo>
                  <a:pt x="3165116" y="118734"/>
                </a:lnTo>
                <a:lnTo>
                  <a:pt x="3189623" y="164638"/>
                </a:lnTo>
                <a:lnTo>
                  <a:pt x="3204752" y="214426"/>
                </a:lnTo>
                <a:lnTo>
                  <a:pt x="3209924" y="266699"/>
                </a:lnTo>
                <a:lnTo>
                  <a:pt x="3205627" y="314639"/>
                </a:lnTo>
                <a:lnTo>
                  <a:pt x="3193239" y="359760"/>
                </a:lnTo>
                <a:lnTo>
                  <a:pt x="3173512" y="401308"/>
                </a:lnTo>
                <a:lnTo>
                  <a:pt x="3147200" y="438531"/>
                </a:lnTo>
                <a:lnTo>
                  <a:pt x="3115056" y="470675"/>
                </a:lnTo>
                <a:lnTo>
                  <a:pt x="3077833" y="496987"/>
                </a:lnTo>
                <a:lnTo>
                  <a:pt x="3036285" y="516714"/>
                </a:lnTo>
                <a:lnTo>
                  <a:pt x="2991164" y="529103"/>
                </a:lnTo>
                <a:lnTo>
                  <a:pt x="2943224" y="533399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F4FBB95-9C2C-457F-A31B-2B74F12ADA64}"/>
              </a:ext>
            </a:extLst>
          </p:cNvPr>
          <p:cNvSpPr>
            <a:spLocks noGrp="1"/>
          </p:cNvSpPr>
          <p:nvPr/>
        </p:nvSpPr>
        <p:spPr>
          <a:xfrm>
            <a:off x="5705043" y="2262440"/>
            <a:ext cx="782320" cy="20827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200" b="1" spc="-10">
                <a:solidFill>
                  <a:srgbClr val="EA580C"/>
                </a:solidFill>
                <a:latin typeface="함초롬돋움"/>
                <a:ea typeface="함초롬돋움"/>
                <a:cs typeface="함초롬돋움"/>
              </a:rPr>
              <a:t>SUMMARY</a:t>
            </a:r>
            <a:endParaRPr sz="120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E8D0B2-49F7-47D2-A623-2F481B52E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125" y="2790825"/>
            <a:ext cx="7905750" cy="51562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sz="3300" spc="70">
                <a:solidFill>
                  <a:srgbClr val="F7FAFC"/>
                </a:solidFill>
              </a:rPr>
              <a:t>'Teum</a:t>
            </a:r>
            <a:r>
              <a:rPr sz="3300" spc="-225">
                <a:solidFill>
                  <a:srgbClr val="F7FAFC"/>
                </a:solidFill>
              </a:rPr>
              <a:t> </a:t>
            </a:r>
            <a:r>
              <a:rPr sz="3300" spc="105">
                <a:solidFill>
                  <a:srgbClr val="F7FAFC"/>
                </a:solidFill>
              </a:rPr>
              <a:t>(틈)'</a:t>
            </a:r>
            <a:r>
              <a:rPr sz="3300" spc="-225">
                <a:solidFill>
                  <a:srgbClr val="F7FAFC"/>
                </a:solidFill>
              </a:rPr>
              <a:t> </a:t>
            </a:r>
            <a:r>
              <a:rPr sz="3300" spc="-200">
                <a:solidFill>
                  <a:srgbClr val="F7FAFC"/>
                </a:solidFill>
              </a:rPr>
              <a:t>서비스</a:t>
            </a:r>
            <a:r>
              <a:rPr sz="3300" spc="-225">
                <a:solidFill>
                  <a:srgbClr val="F7FAFC"/>
                </a:solidFill>
              </a:rPr>
              <a:t> </a:t>
            </a:r>
            <a:r>
              <a:rPr sz="3300" spc="-200">
                <a:solidFill>
                  <a:srgbClr val="F7FAFC"/>
                </a:solidFill>
              </a:rPr>
              <a:t>상세설계</a:t>
            </a:r>
            <a:r>
              <a:rPr sz="3300" spc="-220">
                <a:solidFill>
                  <a:srgbClr val="F7FAFC"/>
                </a:solidFill>
              </a:rPr>
              <a:t> </a:t>
            </a:r>
            <a:r>
              <a:rPr sz="3300" spc="-25">
                <a:solidFill>
                  <a:srgbClr val="F7FAFC"/>
                </a:solidFill>
              </a:rPr>
              <a:t>발표</a:t>
            </a:r>
            <a:endParaRPr sz="330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A9DCE76-3E69-4AE2-A79F-1638424DF4B9}"/>
              </a:ext>
            </a:extLst>
          </p:cNvPr>
          <p:cNvSpPr>
            <a:spLocks noGrp="1"/>
          </p:cNvSpPr>
          <p:nvPr/>
        </p:nvSpPr>
        <p:spPr>
          <a:xfrm>
            <a:off x="4908188" y="4176204"/>
            <a:ext cx="2376170" cy="23114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1350" b="1" spc="-85">
                <a:solidFill>
                  <a:srgbClr val="EA580C"/>
                </a:solidFill>
                <a:latin typeface="함초롬돋움"/>
                <a:ea typeface="함초롬돋움"/>
                <a:cs typeface="함초롬돋움"/>
              </a:rPr>
              <a:t>경청해</a:t>
            </a:r>
            <a:r>
              <a:rPr sz="1350" b="1" spc="-80">
                <a:solidFill>
                  <a:srgbClr val="EA580C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350" b="1" spc="-85">
                <a:solidFill>
                  <a:srgbClr val="EA580C"/>
                </a:solidFill>
                <a:latin typeface="함초롬돋움"/>
                <a:ea typeface="함초롬돋움"/>
                <a:cs typeface="함초롬돋움"/>
              </a:rPr>
              <a:t>주셔서</a:t>
            </a:r>
            <a:r>
              <a:rPr sz="1350" b="1" spc="-75">
                <a:solidFill>
                  <a:srgbClr val="EA580C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350" b="1" spc="-85">
                <a:solidFill>
                  <a:srgbClr val="EA580C"/>
                </a:solidFill>
                <a:latin typeface="함초롬돋움"/>
                <a:ea typeface="함초롬돋움"/>
                <a:cs typeface="함초롬돋움"/>
              </a:rPr>
              <a:t>감사합니다</a:t>
            </a:r>
            <a:r>
              <a:rPr sz="1350" b="1" spc="-80">
                <a:solidFill>
                  <a:srgbClr val="EA580C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sz="1350" b="1" spc="-10">
                <a:solidFill>
                  <a:srgbClr val="EA580C"/>
                </a:solidFill>
                <a:latin typeface="함초롬돋움"/>
                <a:ea typeface="함초롬돋움"/>
                <a:cs typeface="함초롬돋움"/>
              </a:rPr>
              <a:t>(Q&amp;A)</a:t>
            </a:r>
            <a:endParaRPr sz="13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DDB706-92EF-4A84-9735-069B43FA0D99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25 / 25</a:t>
            </a:r>
          </a:p>
        </p:txBody>
      </p:sp>
    </p:spTree>
    <p:extLst>
      <p:ext uri="{BB962C8B-B14F-4D97-AF65-F5344CB8AC3E}">
        <p14:creationId xmlns:p14="http://schemas.microsoft.com/office/powerpoint/2010/main" val="2101798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APPENDIX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부록 · 상세 명세와 참고자료</a:t>
            </a:r>
            <a:endParaRPr sz="21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B477C4-B101-4014-B0FB-77C219A2FCFA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0477500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보고서</a:t>
            </a:r>
            <a:r>
              <a:rPr sz="24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ERD 표 1~10·설계 </a:t>
            </a:r>
            <a:r>
              <a:rPr sz="24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규칙</a:t>
            </a:r>
            <a:endParaRPr sz="2400" b="1" dirty="0">
              <a:solidFill>
                <a:srgbClr val="0F172A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팀 </a:t>
            </a:r>
            <a:r>
              <a:rPr sz="24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구성·설계</a:t>
            </a:r>
            <a:r>
              <a:rPr sz="24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참고·검증</a:t>
            </a:r>
            <a:r>
              <a:rPr sz="24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기준</a:t>
            </a:r>
            <a:endParaRPr sz="2400" b="1" dirty="0">
              <a:solidFill>
                <a:srgbClr val="0F172A"/>
              </a:solidFill>
              <a:latin typeface="Noto Sans KR"/>
              <a:ea typeface="Noto Sans KR"/>
              <a:cs typeface="Noto Sans KR"/>
            </a:endParaRPr>
          </a:p>
          <a:p>
            <a:pPr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개발</a:t>
            </a:r>
            <a:r>
              <a:rPr sz="24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계획</a:t>
            </a:r>
            <a:r>
              <a:rPr sz="24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작성</a:t>
            </a:r>
            <a:r>
              <a:rPr sz="2400" b="1" dirty="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00" b="1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틀·참고문헌</a:t>
            </a:r>
            <a:endParaRPr sz="2400" b="1" dirty="0">
              <a:solidFill>
                <a:srgbClr val="0F172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56E300-B23D-41C8-820E-B966E901AF34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1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상세 설계 · USER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p.4 · 표 1 · 핵심 필드·설계 포인트·관련 유스케이스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25347AB-A291-44E1-AAD2-DD4731230CE5}"/>
              </a:ext>
            </a:extLst>
          </p:cNvPr>
          <p:cNvGraphicFramePr/>
          <p:nvPr/>
        </p:nvGraphicFramePr>
        <p:xfrm>
          <a:off x="609600" y="1790700"/>
          <a:ext cx="10972800" cy="4286250"/>
        </p:xfrm>
        <a:graphic>
          <a:graphicData uri="http://schemas.openxmlformats.org/drawingml/2006/table">
            <a:tbl>
              <a:tblPr firstRow="1"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필드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포인트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유스케이스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provider·provider_user_id(소셜 계정 식별, 복합 유니크), name·major(프로필 필수 정보), profile_completed(모임 참여 가능 여부 판단), timetable_registered_at(NULL이면 시간표 미등록), timetable_version(시간표 수정 시 +1), deleted_at(탈퇴 처리)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소셜 계정은 (provider, provider_user_id) 조합으로 식별하므로, 서로 다른 플랫폼에서 같은 ID가 나와도 충돌하지 않는다.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소셜 로그인, 로그아웃, 프로필 조회·수정, 시간표 가져오기·입력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06B66BD-F4FF-434A-B352-8B349E2749D0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30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상세 설계 · TIMETABLE_SLOT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p.5 · 표 2 · 핵심 필드·설계 포인트·관련 유스케이스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DB3F13A-CC60-4449-94B9-8278B82AC82C}"/>
              </a:ext>
            </a:extLst>
          </p:cNvPr>
          <p:cNvGraphicFramePr/>
          <p:nvPr/>
        </p:nvGraphicFramePr>
        <p:xfrm>
          <a:off x="609600" y="1790700"/>
          <a:ext cx="10972800" cy="4286250"/>
        </p:xfrm>
        <a:graphic>
          <a:graphicData uri="http://schemas.openxmlformats.org/drawingml/2006/table">
            <a:tbl>
              <a:tblPr firstRow="1"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필드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포인트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유스케이스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day_of_week(요일, 0~6), start_time·end_time(수업 시간), title(과목명)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 시간표는 등록했지만 일정이 0건인 사용자는 "공강이 많은 사람"으로 처리되어, 미등록 사용자와 구분한다.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 시작 시각이 종료 시각보다 늦은 데이터는 CHECK 제약으로 막는다.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시간표 가져오기, 직접 입력, 수정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7AE269D-551A-4A5E-97C4-BE8AFE645C05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31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상세 설계 · MEETING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p.5 · 표 3 · 핵심 필드·설계 포인트·관련 유스케이스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0D29CAD-14D7-455E-9EA9-2922F745F892}"/>
              </a:ext>
            </a:extLst>
          </p:cNvPr>
          <p:cNvGraphicFramePr/>
          <p:nvPr/>
        </p:nvGraphicFramePr>
        <p:xfrm>
          <a:off x="609600" y="1790700"/>
          <a:ext cx="10972800" cy="4286250"/>
        </p:xfrm>
        <a:graphic>
          <a:graphicData uri="http://schemas.openxmlformats.org/drawingml/2006/table">
            <a:tbl>
              <a:tblPr firstRow="1"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필드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포인트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유스케이스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name·description(모임 정보), period_start~end(조회 기간), search_start~end_time(탐색 시간 범위), travel_buffer_min(이동 여유 시간), min_duration_min(최소 회의 시간), needs_recalc(재계산 필요 상태), invite_code·invite_expires_at(초대 정보), share_token(결과 공유 링크), deleted_at(모임 삭제)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 구성원이 시간표를 수정하면 같은 트랜잭션 안에서 needs_recalc만 true로 바뀌고, 실제 재계산은 관리자가 실행한다.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일정 확정 여부는 별도 상태 컬럼 없이 CONFIRMED_SCHEDULE 존재 여부로 판단한다.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모임 생성·수정·삭제, 초대 링크/코드 생성, 결과 링크 공유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2B3AC7D-0054-4245-9EAD-08B541BDFFAF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32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상세 설계 · MEETING_MEMBER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p.5 · 표 4 · 핵심 필드·설계 포인트·관련 유스케이스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981FFBE-7F06-4457-B53E-9AE5EB344DDA}"/>
              </a:ext>
            </a:extLst>
          </p:cNvPr>
          <p:cNvGraphicFramePr/>
          <p:nvPr/>
        </p:nvGraphicFramePr>
        <p:xfrm>
          <a:off x="609600" y="1790700"/>
          <a:ext cx="10972800" cy="4286250"/>
        </p:xfrm>
        <a:graphic>
          <a:graphicData uri="http://schemas.openxmlformats.org/drawingml/2006/table">
            <a:tbl>
              <a:tblPr firstRow="1"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필드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포인트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유스케이스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role(ADMIN/MEMBER), status(ACTIVE/LEFT)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(meeting_id, user_id) 복합 유니크로 중복 가입을 막는다.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관리자도 구성원 테이블의 한 행이라서 구성원 공통 기능을 그대로 사용할 수 있다.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관리자 위임은 기존 관리자와 새 관리자의 role 변경을 한 트랜잭션으로 처리한다.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관리자가 1명뿐이면 위임하거나 모임을 삭제하기 전에는 탈퇴할 수 없다.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모임 참여, 모임 탈퇴, 관리자 위임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45991E5-C059-49E6-A763-E46D67CEDCE3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33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상세 설계 · MATCHING_RUN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p.6 · 표 5 · 핵심 필드·설계 포인트·관련 유스케이스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409753B-5A8A-40D6-90DD-EB0B3DBD795A}"/>
              </a:ext>
            </a:extLst>
          </p:cNvPr>
          <p:cNvGraphicFramePr/>
          <p:nvPr/>
        </p:nvGraphicFramePr>
        <p:xfrm>
          <a:off x="609600" y="1790700"/>
          <a:ext cx="10972800" cy="4286250"/>
        </p:xfrm>
        <a:graphic>
          <a:graphicData uri="http://schemas.openxmlformats.org/drawingml/2006/table">
            <a:tbl>
              <a:tblPr firstRow="1"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필드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포인트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유스케이스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trigger_type(참여/관리자 재계산/확정 전 재검사), cond_snapshot(계산 당시 탐색 조건, JSON), total_member_count·timetable_input_count(시각화 안내용 인원), input_hash(계산 당시 시간표 상태), calculated_at(마지막 계산 시각)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 계산 결과를 덮어쓰지 않고 이력으로 남기기 때문에, 조건이나 구성원이 바뀌어도 이전 결과와 섞이지 않는다.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최신 결과는 (meeting_id, calculated_at) 인덱스로 빠르게 조회한다.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시간표 자동 매칭, 공강 시간 다시 계산, 최신 시간표 기준 재검사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FB26217B-97B0-4FFB-8B55-C437A05A19F5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34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상세 설계 · CANDIDATE_SET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p.6 · 표 6 · 핵심 필드·설계 포인트·관련 유스케이스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C9E0A85-6AD5-49D4-B5EE-109898857406}"/>
              </a:ext>
            </a:extLst>
          </p:cNvPr>
          <p:cNvGraphicFramePr/>
          <p:nvPr/>
        </p:nvGraphicFramePr>
        <p:xfrm>
          <a:off x="609600" y="1790700"/>
          <a:ext cx="10972800" cy="4286250"/>
        </p:xfrm>
        <a:graphic>
          <a:graphicData uri="http://schemas.openxmlformats.org/drawingml/2006/table">
            <a:tbl>
              <a:tblPr firstRow="1"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필드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포인트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유스케이스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set_type(일반 추천/차선책), reason(차선책 진입 사유), result_status(후보 있음/없음), vote_status(투표 중/마감/폐기)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계산하면 기존 묶음은 "폐기"로 바뀌고 새 묶음이 생긴다.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이전 투표는 기존 묶음에 보관한다.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추천 시간대 제시, 차선책 제안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EF6A113-2154-44A4-88B6-16332BCC6EA1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35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상세 설계 · CANDIDATE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p.6 · 표 7 · 핵심 필드·설계 포인트·관련 유스케이스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1D87505-8DA3-4C26-A860-83E439ACE1C6}"/>
              </a:ext>
            </a:extLst>
          </p:cNvPr>
          <p:cNvGraphicFramePr/>
          <p:nvPr/>
        </p:nvGraphicFramePr>
        <p:xfrm>
          <a:off x="609600" y="1790700"/>
          <a:ext cx="10972800" cy="4286250"/>
        </p:xfrm>
        <a:graphic>
          <a:graphicData uri="http://schemas.openxmlformats.org/drawingml/2006/table">
            <a:tbl>
              <a:tblPr firstRow="1"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필드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포인트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유스케이스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rank_no(순위), start_at·end_at(시간대), available_count(참석 가능 인원)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(set_id, rank_no) 복합 유니크로 같은 묶음 안에서 순위가 겹치지 않는다.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불참 인원은 MATCHING_RUN의 전체 인원에서 참석 가능 인원을 빼서 계산한다.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추천 시간대 제시, 차선책 제안, 매칭 결과 조회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7F8493A-A1BF-4A62-9C45-A469AC8C57EE}"/>
              </a:ext>
            </a:extLst>
          </p:cNvPr>
          <p:cNvSpPr>
            <a:spLocks noGrp="1"/>
          </p:cNvSpPr>
          <p:nvPr/>
        </p:nvSpPr>
        <p:spPr>
          <a:xfrm>
            <a:off x="762000" y="6191250"/>
            <a:ext cx="10668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2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2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개별 후보 CANDIDATE의 설명 · 보고서 표7의 행 이름 “Candidate Set”은 문맥에 맞게 정리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2759A0-67F3-4A3B-A298-50DB69EB51D1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36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상세 설계 · VOTE_BALLOT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p.6 · 표 8 · 핵심 필드·설계 포인트·관련 유스케이스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B76A7D7-DD88-4148-B672-B53F833DAB4A}"/>
              </a:ext>
            </a:extLst>
          </p:cNvPr>
          <p:cNvGraphicFramePr/>
          <p:nvPr/>
        </p:nvGraphicFramePr>
        <p:xfrm>
          <a:off x="609600" y="1790700"/>
          <a:ext cx="10972800" cy="4286250"/>
        </p:xfrm>
        <a:graphic>
          <a:graphicData uri="http://schemas.openxmlformats.org/drawingml/2006/table">
            <a:tbl>
              <a:tblPr firstRow="1"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필드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포인트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유스케이스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set_id(어느 묶음에 대한 투표인지), member_id(투표자), no_available(선택 가능한 후보 없음)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(set_id, member_id) 복합 유니크로 한 묶음에 구성원 한 명당 투표지는 하나로 제한한다.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추천 시간대 선호 투표, 투표 결과 조회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656685A-AC33-48AF-A308-39E91A882B8F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37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상세 설계 · VOTE_SELECTION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p.7 · 표 9 · 핵심 필드·설계 포인트·관련 유스케이스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5F22935-24CF-47B8-BAEC-2DC3F6104D67}"/>
              </a:ext>
            </a:extLst>
          </p:cNvPr>
          <p:cNvGraphicFramePr/>
          <p:nvPr/>
        </p:nvGraphicFramePr>
        <p:xfrm>
          <a:off x="609600" y="1790700"/>
          <a:ext cx="10972800" cy="4286250"/>
        </p:xfrm>
        <a:graphic>
          <a:graphicData uri="http://schemas.openxmlformats.org/drawingml/2006/table">
            <a:tbl>
              <a:tblPr firstRow="1"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필드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포인트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유스케이스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ballot_id + candidate_id(복합 PK), set_id(정합성 검증용)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 투표지와 후보를 각각 set_id와 함께 복합 FK로 참조하므로, 다른 묶음의 후보를 선택하는 데이터는 DB 단계에서 차단된다.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"후보 없음"을 선택한 투표지에는 선택 항목이 없다.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추천 시간대 선호 투표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858834B-8B7B-4ECB-A111-0FEF5F18B5A0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38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ERD 상세 설계 · CONFIRMED_SCHEDULE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p.7 · 표 10 · 핵심 필드·설계 포인트·관련 유스케이스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9D21DC1-4509-4B54-B685-D97975F1EDD2}"/>
              </a:ext>
            </a:extLst>
          </p:cNvPr>
          <p:cNvGraphicFramePr/>
          <p:nvPr/>
        </p:nvGraphicFramePr>
        <p:xfrm>
          <a:off x="609600" y="1790700"/>
          <a:ext cx="10972800" cy="4286250"/>
        </p:xfrm>
        <a:graphic>
          <a:graphicData uri="http://schemas.openxmlformats.org/drawingml/2006/table">
            <a:tbl>
              <a:tblPr firstRow="1"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필드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포인트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관련 유스케이스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8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candidate_id(확정된 후보), recheck_run_id(확정 직전 재검사 기록), confirmed_at(확정 시각)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 확정 직전에 최신 시간표로 재검사한 결과를 함께 남겨, 확정 시점의 신뢰성을 보장한다.</a:t>
                      </a:r>
                    </a:p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•  meeting_id는 조회 편의와 "모임당 1개" 제약을 위해 의도적으로 함께 저장한다.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일정 확정, 확정 일정 조회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063E205-6AD7-4091-8A3E-65B3A38F9D06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39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DESIGN DETAILS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설계 참고 · 자료형과 다이어그램 표기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pp.8, 13 · 클래스 다이어그램 작성 도구: draw.io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49313FF-0D92-46E0-904B-BEDC657EC27C}"/>
              </a:ext>
            </a:extLst>
          </p:cNvPr>
          <p:cNvGraphicFramePr/>
          <p:nvPr/>
        </p:nvGraphicFramePr>
        <p:xfrm>
          <a:off x="609600" y="1790700"/>
          <a:ext cx="10972800" cy="4238625"/>
        </p:xfrm>
        <a:graphic>
          <a:graphicData uri="http://schemas.openxmlformats.org/drawingml/2006/table">
            <a:tbl>
              <a:tblPr firstRow="1"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표기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설계에서의 의미</a:t>
                      </a:r>
                    </a:p>
                  </a:txBody>
                  <a:tcPr marL="114300" marR="114300" marT="76200" marB="7620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LocalDate / LocalTime / LocalDateTime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날짜 / 시각 / 날짜와 시각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Map&lt;String, Object&gt;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검색 조건을 이름과 값의 쌍으로 관리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void / []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반환값 없음 / 배열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메서드 매개변수 생략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도식 간결화를 위한 생략 / 실제 입력 정보가 불필요하다는 의미는 아님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검은 마름모 / 방향 없는 연관선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전체 객체 쪽에 마름모 표시 / 선 자체로 참조 방향 제한 없음</a:t>
                      </a:r>
                    </a:p>
                    <a:p>
                      <a:r>
                        <a:rPr sz="1725" b="0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객체 관계를 나타내며 실행 순서를 뜻하지 않음</a:t>
                      </a:r>
                    </a:p>
                  </a:txBody>
                  <a:tcPr marL="114300" marR="114300" marT="76200" marB="76200" anchor="ctr"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9C03318-178C-457C-B340-6AB81F1BB74E}"/>
              </a:ext>
            </a:extLst>
          </p:cNvPr>
          <p:cNvSpPr>
            <a:spLocks noGrp="1"/>
          </p:cNvSpPr>
          <p:nvPr/>
        </p:nvSpPr>
        <p:spPr>
          <a:xfrm>
            <a:off x="10810875" y="657225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40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31A2C7F-160C-49B0-9961-38C6396025F4}"/>
              </a:ext>
            </a:extLst>
          </p:cNvPr>
          <p:cNvSpPr>
            <a:spLocks noGrp="1"/>
          </p:cNvSpPr>
          <p:nvPr/>
        </p:nvSpPr>
        <p:spPr>
          <a:xfrm>
            <a:off x="628650" y="438150"/>
            <a:ext cx="4762500" cy="2190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EA580C"/>
                </a:solidFill>
              </a:defRPr>
            </a:defPPr>
          </a:lstStyle>
          <a:p>
            <a:pPr>
              <a:defRPr sz="1050" b="0">
                <a:solidFill>
                  <a:srgbClr val="EA580C"/>
                </a:solidFill>
              </a:defRPr>
            </a:pPr>
            <a:r>
              <a:rPr sz="1050" b="0">
                <a:solidFill>
                  <a:srgbClr val="EA580C"/>
                </a:solidFill>
              </a:rPr>
              <a:t>DESIGN DETAILS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D28325-54E9-4372-8927-56BCC6461FB6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0F172A"/>
                </a:solidFill>
              </a:defRPr>
            </a:defPPr>
          </a:lstStyle>
          <a:p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클래스 다이어그램 · 관계 선의 종류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EF9B1C-85A1-419C-984C-C9A27601D531}"/>
              </a:ext>
            </a:extLst>
          </p:cNvPr>
          <p:cNvSpPr>
            <a:spLocks noGrp="1"/>
          </p:cNvSpPr>
          <p:nvPr/>
        </p:nvSpPr>
        <p:spPr>
          <a:xfrm>
            <a:off x="657225" y="1304925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0">
                <a:solidFill>
                  <a:srgbClr val="475569"/>
                </a:solidFill>
              </a:defRPr>
            </a:defPPr>
          </a:lstStyle>
          <a:p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선의 형태와 끝 기호로 관계의 의미를 구분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871CE1-85F0-4634-9506-82DF9A428E56}"/>
              </a:ext>
            </a:extLst>
          </p:cNvPr>
          <p:cNvGraphicFramePr/>
          <p:nvPr/>
        </p:nvGraphicFramePr>
        <p:xfrm>
          <a:off x="609600" y="1790700"/>
          <a:ext cx="10972800" cy="3600450"/>
        </p:xfrm>
        <a:graphic>
          <a:graphicData uri="http://schemas.openxmlformats.org/drawingml/2006/table">
            <a:tbl>
              <a:tblPr/>
              <a:tblGrid>
                <a:gridCol w="302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관계</a:t>
                      </a:r>
                    </a:p>
                  </a:txBody>
                  <a:tcPr>
                    <a:lnL w="6668">
                      <a:solidFill>
                        <a:srgbClr val="0F172A"/>
                      </a:solidFill>
                      <a:prstDash val="soli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>
                      <a:solidFill>
                        <a:srgbClr val="0F172A"/>
                      </a:solidFill>
                      <a:prstDash val="soli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선과 기호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>
                      <a:solidFill>
                        <a:srgbClr val="0F172A"/>
                      </a:solidFill>
                      <a:prstDash val="soli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의미와 기호 방향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>
                      <a:solidFill>
                        <a:srgbClr val="0F172A"/>
                      </a:solidFill>
                      <a:prstDash val="soli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연관 (Association)</a:t>
                      </a:r>
                    </a:p>
                  </a:txBody>
                  <a:tcPr>
                    <a:lnL w="6668">
                      <a:solidFill>
                        <a:srgbClr val="0F172A"/>
                      </a:solidFill>
                      <a:prstDash val="soli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실선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클래스 간 연결. 열린 화살표를 붙이면 탐색 가능한 방향을 표시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집합 (Aggregation)</a:t>
                      </a:r>
                    </a:p>
                  </a:txBody>
                  <a:tcPr>
                    <a:lnL w="6668">
                      <a:solidFill>
                        <a:srgbClr val="0F172A"/>
                      </a:solidFill>
                      <a:prstDash val="soli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실선 + 빈 마름모 ◇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전체와 부분의 관계. 부분은 독립적으로 존재 가능. 마름모는 전체 쪽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합성·복합 (Composition)</a:t>
                      </a:r>
                    </a:p>
                  </a:txBody>
                  <a:tcPr>
                    <a:lnL w="6668">
                      <a:solidFill>
                        <a:srgbClr val="0F172A"/>
                      </a:solidFill>
                      <a:prstDash val="soli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실선 + 채운 마름모 ◆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부분은 한 전체에 속하고 생명주기가 종속됨. 마름모는 전체 쪽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일반화·상속 (Generalization)</a:t>
                      </a:r>
                    </a:p>
                  </a:txBody>
                  <a:tcPr>
                    <a:lnL w="6668">
                      <a:solidFill>
                        <a:srgbClr val="0F172A"/>
                      </a:solidFill>
                      <a:prstDash val="soli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실선 + 빈 삼각형 ▷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하위 클래스가 상위 클래스의 특성을 상속. 삼각형은 상위 클래스 쪽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실체화·구현 (Realization)</a:t>
                      </a:r>
                    </a:p>
                  </a:txBody>
                  <a:tcPr>
                    <a:lnL w="6668">
                      <a:solidFill>
                        <a:srgbClr val="0F172A"/>
                      </a:solidFill>
                      <a:prstDash val="soli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점선 + 빈 삼각형 ▷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클래스가 인터페이스의 규약을 구현. 삼각형은 인터페이스 쪽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의존 (Dependency)</a:t>
                      </a:r>
                    </a:p>
                  </a:txBody>
                  <a:tcPr>
                    <a:lnL w="6668">
                      <a:solidFill>
                        <a:srgbClr val="0F172A"/>
                      </a:solidFill>
                      <a:prstDash val="soli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점선 + 열린 화살표 &gt;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F172A"/>
                          </a:solidFill>
                        </a:rPr>
                        <a:t>매개변수·메서드 호출 등으로 사용. 화살표는 사용하는 대상 쪽</a:t>
                      </a:r>
                    </a:p>
                  </a:txBody>
                  <a:tcPr>
                    <a:lnL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0F172A"/>
                      </a:solidFill>
                      <a:prstDash val="solid"/>
                    </a:lnR>
                    <a:lnT w="6668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0F172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8F6701D7-9DEE-46D5-812C-C3C34AEA3611}"/>
              </a:ext>
            </a:extLst>
          </p:cNvPr>
          <p:cNvSpPr>
            <a:spLocks noGrp="1"/>
          </p:cNvSpPr>
          <p:nvPr/>
        </p:nvSpPr>
        <p:spPr>
          <a:xfrm>
            <a:off x="723900" y="5581650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475569"/>
                </a:solidFill>
              </a:defRPr>
            </a:defPPr>
          </a:lstStyle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다중성: 1 = 정확히 1개   0..1 = 최대 1개   0..* = 0개 이상   1..* = 1개 이상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7737FE-1037-4E21-8D69-6919159D1830}"/>
              </a:ext>
            </a:extLst>
          </p:cNvPr>
          <p:cNvSpPr>
            <a:spLocks noGrp="1"/>
          </p:cNvSpPr>
          <p:nvPr/>
        </p:nvSpPr>
        <p:spPr>
          <a:xfrm>
            <a:off x="723900" y="5953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475569"/>
                </a:solidFill>
              </a:defRPr>
            </a:defPPr>
          </a:lstStyle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다중성은 관계 끝에 표시하는 객체 수이며, 합성 관계 자체가 DB의 연쇄 삭제를 뜻하지는 않음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F1432F-D198-4FCF-A954-720E11415C05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00" b="0">
                <a:solidFill>
                  <a:srgbClr val="64748B"/>
                </a:solidFill>
              </a:defRPr>
            </a:defPPr>
          </a:lstStyle>
          <a:p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부록 48</a:t>
            </a:r>
          </a:p>
        </p:txBody>
      </p:sp>
    </p:spTree>
    <p:extLst>
      <p:ext uri="{BB962C8B-B14F-4D97-AF65-F5344CB8AC3E}">
        <p14:creationId xmlns:p14="http://schemas.microsoft.com/office/powerpoint/2010/main" val="1591618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REFERENCES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참고문헌 · 비트 벡터와 워드 단위 연산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시간표의 집합 표현과 교집합 계산에 적용한 원리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1" name="57 / 60">
            <a:extLst>
              <a:ext uri="{FF2B5EF4-FFF2-40B4-BE49-F238E27FC236}">
                <a16:creationId xmlns:a16="http://schemas.microsoft.com/office/drawing/2014/main" id="{B1DDD678-0C21-4DF4-ADBC-B2E889459F30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46</a:t>
            </a:r>
          </a:p>
        </p:txBody>
      </p:sp>
      <p:sp>
        <p:nvSpPr>
          <p:cNvPr id="12" name="[1] Filtering Algorithms Based on th">
            <a:extLst>
              <a:ext uri="{FF2B5EF4-FFF2-40B4-BE49-F238E27FC236}">
                <a16:creationId xmlns:a16="http://schemas.microsoft.com/office/drawing/2014/main" id="{FF5F483F-93F7-4C62-8789-9F7699136692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[1] Filtering Algorithms Based on the Word-RAM Model</a:t>
            </a:r>
          </a:p>
        </p:txBody>
      </p:sp>
      <p:sp>
        <p:nvSpPr>
          <p:cNvPr id="13" name="Philippe Van Kessel · Claude-Guy Qui">
            <a:extLst>
              <a:ext uri="{FF2B5EF4-FFF2-40B4-BE49-F238E27FC236}">
                <a16:creationId xmlns:a16="http://schemas.microsoft.com/office/drawing/2014/main" id="{E031623B-959A-497C-9EC2-F1EB5449D9EF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106680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Philippe Van Kessel · Claude-Guy Quimper</a:t>
            </a:r>
          </a:p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AAAI, 2012, pp.577–583 · DOI: 10.1609/aaai.v26i1.8145</a:t>
            </a:r>
          </a:p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적용: 한 워드의 여러 비트를 동시에 처리하는 연산 모델</a:t>
            </a:r>
          </a:p>
        </p:txBody>
      </p:sp>
      <p:sp>
        <p:nvSpPr>
          <p:cNvPr id="14" name="[2] Bit Vectors for Representing Set">
            <a:extLst>
              <a:ext uri="{FF2B5EF4-FFF2-40B4-BE49-F238E27FC236}">
                <a16:creationId xmlns:a16="http://schemas.microsoft.com/office/drawing/2014/main" id="{4BB814C0-1DC9-4024-B920-C815191B5869}"/>
              </a:ext>
            </a:extLst>
          </p:cNvPr>
          <p:cNvSpPr>
            <a:spLocks noGrp="1"/>
          </p:cNvSpPr>
          <p:nvPr/>
        </p:nvSpPr>
        <p:spPr>
          <a:xfrm>
            <a:off x="762000" y="40767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[2] Bit Vectors for Representing Sets</a:t>
            </a:r>
          </a:p>
        </p:txBody>
      </p:sp>
      <p:sp>
        <p:nvSpPr>
          <p:cNvPr id="15" name="OpenDSA Project Contributors · Secti">
            <a:extLst>
              <a:ext uri="{FF2B5EF4-FFF2-40B4-BE49-F238E27FC236}">
                <a16:creationId xmlns:a16="http://schemas.microsoft.com/office/drawing/2014/main" id="{1F1137F9-B44E-4D1D-9EA4-D03D81C3FA16}"/>
              </a:ext>
            </a:extLst>
          </p:cNvPr>
          <p:cNvSpPr>
            <a:spLocks noGrp="1"/>
          </p:cNvSpPr>
          <p:nvPr/>
        </p:nvSpPr>
        <p:spPr>
          <a:xfrm>
            <a:off x="762000" y="4819650"/>
            <a:ext cx="10668000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OpenDSA Project Contributors · Section 22.5</a:t>
            </a:r>
          </a:p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적용: 비트 벡터로 집합을 표현하고 AND로 교집합 계산</a:t>
            </a:r>
          </a:p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https://opendsax.cs.vt.edu/ODSA/Books/Everything/html/SetSearch.html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E78C38F-44A5-4B14-927C-A205006F4D82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9525000" cy="1600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1050">
                <a:solidFill>
                  <a:srgbClr val="EA580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EA580C"/>
                </a:solidFill>
                <a:latin typeface="Noto Sans KR"/>
                <a:ea typeface="Noto Sans KR"/>
                <a:cs typeface="Noto Sans KR"/>
              </a:rPr>
              <a:t>REFERENCES</a:t>
            </a:r>
            <a:endParaRPr sz="1050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ADC2B8-E6C5-472D-8071-BC6FB0C34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6750"/>
            <a:ext cx="10953750" cy="3657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40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  <a:buNone/>
              <a:defRPr sz="2400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spc="-130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참고문헌 · 애자일 개발 방법론</a:t>
            </a:r>
            <a:endParaRPr sz="2100"/>
          </a:p>
        </p:txBody>
      </p:sp>
      <p:sp>
        <p:nvSpPr>
          <p:cNvPr id="5" name="가로 글상자 4">
            <a:extLst>
              <a:ext uri="{FF2B5EF4-FFF2-40B4-BE49-F238E27FC236}">
                <a16:creationId xmlns:a16="http://schemas.microsoft.com/office/drawing/2014/main" id="{17ADC411-B6B4-4702-BCAD-963B88147A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53750" cy="2823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 marL="50800" marR="50800"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 u="none" strike="noStrike" baseline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보고서의 개발 방법론 참고문헌과 보충 자료</a:t>
            </a:r>
            <a:endParaRPr sz="1300" b="0" i="0" u="none" strike="noStrike" baseline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58 / 60">
            <a:extLst>
              <a:ext uri="{FF2B5EF4-FFF2-40B4-BE49-F238E27FC236}">
                <a16:creationId xmlns:a16="http://schemas.microsoft.com/office/drawing/2014/main" id="{A7F4901A-B797-4372-8A96-1312FB6EB37B}"/>
              </a:ext>
            </a:extLst>
          </p:cNvPr>
          <p:cNvSpPr>
            <a:spLocks noGrp="1"/>
          </p:cNvSpPr>
          <p:nvPr/>
        </p:nvSpPr>
        <p:spPr>
          <a:xfrm>
            <a:off x="10953750" y="6572250"/>
            <a:ext cx="857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4748B"/>
                </a:solidFill>
                <a:latin typeface="Noto Sans KR"/>
                <a:ea typeface="Noto Sans KR"/>
                <a:cs typeface="Noto Sans KR"/>
              </a:rPr>
              <a:t>부록 47</a:t>
            </a:r>
          </a:p>
        </p:txBody>
      </p:sp>
      <p:sp>
        <p:nvSpPr>
          <p:cNvPr id="11" name="[3] 애자일 방법론을 적용한 정보시스템의&#10;     감리 품질 향">
            <a:extLst>
              <a:ext uri="{FF2B5EF4-FFF2-40B4-BE49-F238E27FC236}">
                <a16:creationId xmlns:a16="http://schemas.microsoft.com/office/drawing/2014/main" id="{0E866FB7-F96F-4AFF-9BCA-4C87F50C99F0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20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20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[3] 애자일 방법론을 적용한 정보시스템의</a:t>
            </a:r>
          </a:p>
          <a:p>
            <a:pPr>
              <a:buNone/>
              <a:defRPr sz="20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     감리 품질 향상에 관한 연구</a:t>
            </a:r>
          </a:p>
        </p:txBody>
      </p:sp>
      <p:sp>
        <p:nvSpPr>
          <p:cNvPr id="12" name="박동아 · 박만곤&#10;보고서에 제시된 애자일 방법론 참고문헌">
            <a:extLst>
              <a:ext uri="{FF2B5EF4-FFF2-40B4-BE49-F238E27FC236}">
                <a16:creationId xmlns:a16="http://schemas.microsoft.com/office/drawing/2014/main" id="{FEC4F9B4-1F04-49F3-AD29-C92F33AD0169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10668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박동아 · 박만곤</a:t>
            </a:r>
          </a:p>
          <a:p>
            <a:pPr>
              <a:buNone/>
              <a:def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보고서에 제시된 애자일 방법론 참고문헌</a:t>
            </a:r>
          </a:p>
        </p:txBody>
      </p:sp>
      <p:sp>
        <p:nvSpPr>
          <p:cNvPr id="13" name="[보충] Manifesto for Agile Software De">
            <a:extLst>
              <a:ext uri="{FF2B5EF4-FFF2-40B4-BE49-F238E27FC236}">
                <a16:creationId xmlns:a16="http://schemas.microsoft.com/office/drawing/2014/main" id="{E50FE5FB-A3D5-495A-8547-0D2A6771DBB9}"/>
              </a:ext>
            </a:extLst>
          </p:cNvPr>
          <p:cNvSpPr>
            <a:spLocks noGrp="1"/>
          </p:cNvSpPr>
          <p:nvPr/>
        </p:nvSpPr>
        <p:spPr>
          <a:xfrm>
            <a:off x="762000" y="420052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0F172A"/>
                </a:solidFill>
                <a:latin typeface="Noto Sans KR"/>
                <a:ea typeface="Noto Sans KR"/>
                <a:cs typeface="Noto Sans KR"/>
              </a:rPr>
              <a:t>[보충] Manifesto for Agile Software Development (2001)</a:t>
            </a:r>
          </a:p>
        </p:txBody>
      </p:sp>
      <p:sp>
        <p:nvSpPr>
          <p:cNvPr id="14" name="팀 협업, 작동하는 소프트웨어, 사용자 피드백과 변화 대응&#10;MVP">
            <a:extLst>
              <a:ext uri="{FF2B5EF4-FFF2-40B4-BE49-F238E27FC236}">
                <a16:creationId xmlns:a16="http://schemas.microsoft.com/office/drawing/2014/main" id="{F5113691-7826-4695-B13A-FBF7651493D1}"/>
              </a:ext>
            </a:extLst>
          </p:cNvPr>
          <p:cNvSpPr>
            <a:spLocks noGrp="1"/>
          </p:cNvSpPr>
          <p:nvPr/>
        </p:nvSpPr>
        <p:spPr>
          <a:xfrm>
            <a:off x="762000" y="5019675"/>
            <a:ext cx="10668000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>
            <a:defPPr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팀 협업, 작동하는 소프트웨어, 사용자 피드백과 변화 대응</a:t>
            </a:r>
          </a:p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MVP 우선 구현과 반복 개선의 방향을 설명하는 보충 자료</a:t>
            </a:r>
          </a:p>
          <a:p>
            <a:pPr>
              <a:buNone/>
              <a:def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https://agilemanifesto.org/iso/ko/manifesto.html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079915-BF58-43EF-9043-04F32F3180D0}"/>
              </a:ext>
            </a:extLst>
          </p:cNvPr>
          <p:cNvSpPr>
            <a:spLocks noGrp="1"/>
          </p:cNvSpPr>
          <p:nvPr/>
        </p:nvSpPr>
        <p:spPr>
          <a:xfrm>
            <a:off x="762000" y="61912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/>
          <a:lstStyle>
            <a:defPPr>
              <a:defRPr sz="127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27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활용 위치: 해당 연구 3page, 2-3 「애자일 방법론의 특징 및 종류」</a:t>
            </a:r>
          </a:p>
        </p:txBody>
      </p:sp>
    </p:spTree>
    <p:extLst>
      <p:ext uri="{BB962C8B-B14F-4D97-AF65-F5344CB8AC3E}">
        <p14:creationId xmlns:p14="http://schemas.microsoft.com/office/powerpoint/2010/main" val="2032383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6695</Words>
  <Application>Microsoft Office PowerPoint</Application>
  <DocSecurity>0</DocSecurity>
  <PresentationFormat>와이드스크린</PresentationFormat>
  <Paragraphs>1269</Paragraphs>
  <Slides>49</Slides>
  <Notes>45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4" baseType="lpstr">
      <vt:lpstr>Noto Sans KR</vt:lpstr>
      <vt:lpstr>Malgun Gothic</vt:lpstr>
      <vt:lpstr>함초롬돋움</vt:lpstr>
      <vt:lpstr>Calibri</vt:lpstr>
      <vt:lpstr>Office Theme</vt:lpstr>
      <vt:lpstr>공강 시간 교집합 찾기 서비스  'Teum (틈)' 상세설계 진행보고</vt:lpstr>
      <vt:lpstr>목차</vt:lpstr>
      <vt:lpstr>프로젝트 목적과 기대효과</vt:lpstr>
      <vt:lpstr>현실적 제한조건 · 관리적 제한</vt:lpstr>
      <vt:lpstr>현실적 제한조건 · 시스템적 제한</vt:lpstr>
      <vt:lpstr>Use Case Diagram</vt:lpstr>
      <vt:lpstr>유스케이스 · 회의 일정 확정 예시</vt:lpstr>
      <vt:lpstr>Entity Relationship Diagram</vt:lpstr>
      <vt:lpstr>ERD · 관계선 끝의 기호 읽기</vt:lpstr>
      <vt:lpstr>Class Diagram</vt:lpstr>
      <vt:lpstr>클래스 사이의 관계</vt:lpstr>
      <vt:lpstr>클래스 간 관계 및 다중성</vt:lpstr>
      <vt:lpstr>클래스 간 관계 및 다중성</vt:lpstr>
      <vt:lpstr>클래스 간 관계 및 다중성</vt:lpstr>
      <vt:lpstr>클래스 설계 · USER</vt:lpstr>
      <vt:lpstr>클래스 설계 · TIMETABLE_SLOT</vt:lpstr>
      <vt:lpstr>클래스 설계 · MEETING · 속성</vt:lpstr>
      <vt:lpstr>클래스 설계 · MEETING · 메서드</vt:lpstr>
      <vt:lpstr>클래스 설계 · MEETING_MEMBER</vt:lpstr>
      <vt:lpstr>클래스 설계 · MEETING_MEMO</vt:lpstr>
      <vt:lpstr>클래스 설계 · MATCHING_RUN</vt:lpstr>
      <vt:lpstr>클래스 설계 · CANDIDATE_SET</vt:lpstr>
      <vt:lpstr>클래스 설계 · CANDIDATE</vt:lpstr>
      <vt:lpstr>클래스 설계 · VOTE_BALLOT</vt:lpstr>
      <vt:lpstr>클래스 설계 · VOTE_SELECTION</vt:lpstr>
      <vt:lpstr>클래스 설계 · CONFIRMED_SCHEDULE</vt:lpstr>
      <vt:lpstr>문제해결 이론 · 비트 벡터와 워드 단위 연산</vt:lpstr>
      <vt:lpstr>문제해결 이론 · 시간복잡도</vt:lpstr>
      <vt:lpstr>애자일 개발이란?</vt:lpstr>
      <vt:lpstr>설계 평가 · 알고리즘과 성능</vt:lpstr>
      <vt:lpstr>설계 평가 · 데이터와 사용자 흐름</vt:lpstr>
      <vt:lpstr>상세설계 진행 현황</vt:lpstr>
      <vt:lpstr>PowerPoint 프레젠테이션</vt:lpstr>
      <vt:lpstr>'Teum (틈)' 서비스 상세설계 발표</vt:lpstr>
      <vt:lpstr>부록 · 상세 명세와 참고자료</vt:lpstr>
      <vt:lpstr>ERD 상세 설계 · USER</vt:lpstr>
      <vt:lpstr>ERD 상세 설계 · TIMETABLE_SLOT</vt:lpstr>
      <vt:lpstr>ERD 상세 설계 · MEETING</vt:lpstr>
      <vt:lpstr>ERD 상세 설계 · MEETING_MEMBER</vt:lpstr>
      <vt:lpstr>ERD 상세 설계 · MATCHING_RUN</vt:lpstr>
      <vt:lpstr>ERD 상세 설계 · CANDIDATE_SET</vt:lpstr>
      <vt:lpstr>ERD 상세 설계 · CANDIDATE</vt:lpstr>
      <vt:lpstr>ERD 상세 설계 · VOTE_BALLOT</vt:lpstr>
      <vt:lpstr>ERD 상세 설계 · VOTE_SELECTION</vt:lpstr>
      <vt:lpstr>ERD 상세 설계 · CONFIRMED_SCHEDULE</vt:lpstr>
      <vt:lpstr>설계 참고 · 자료형과 다이어그램 표기</vt:lpstr>
      <vt:lpstr>PowerPoint 프레젠테이션</vt:lpstr>
      <vt:lpstr>참고문헌 · 비트 벡터와 워드 단위 연산</vt:lpstr>
      <vt:lpstr>참고문헌 · 애자일 개발 방법론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GiHeon Jeon</cp:lastModifiedBy>
  <cp:revision>44</cp:revision>
  <dcterms:created xsi:type="dcterms:W3CDTF">2026-10-10T06:08:54Z</dcterms:created>
  <dcterms:modified xsi:type="dcterms:W3CDTF">2026-10-12T11:06:48Z</dcterms:modified>
</cp:coreProperties>
</file>